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12191695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" d="1"/>
          <a:sy n="1" d="1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GrpSp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GrpSp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GrpSp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Cover Panel"/>
          <p:cNvSpPr/>
          <p:nvPr/>
        </p:nvSpPr>
        <p:spPr>
          <a:xfrm>
            <a:off x="0" y="0"/>
            <a:ext cx="5074920" cy="685800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4" name="Seam Accent"/>
          <p:cNvCxnSpPr/>
          <p:nvPr/>
        </p:nvCxnSpPr>
        <p:spPr>
          <a:xfrm flipH="1">
            <a:off x="4572000" y="0"/>
            <a:ext cx="521208" cy="6858000"/>
          </a:xfrm>
          <a:prstGeom prst="line">
            <a:avLst/>
          </a:prstGeom>
          <a:ln w="30480" cap="rnd">
            <a:solidFill>
              <a:srgbClr val="FF6A00"/>
            </a:solidFill>
            <a:headEnd type="none"/>
            <a:tailEnd type="none"/>
          </a:ln>
        </p:spPr>
      </p:cxnSp>
      <p:sp>
        <p:nvSpPr>
          <p:cNvPr id="5" name="TextBox"/>
          <p:cNvSpPr txBox="1"/>
          <p:nvPr/>
        </p:nvSpPr>
        <p:spPr>
          <a:xfrm>
            <a:off x="566928" y="50292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1200" b="1" spc="6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STRATEGY PROPOSAL 2026</a:t>
            </a:r>
          </a:p>
        </p:txBody>
      </p:sp>
      <p:sp>
        <p:nvSpPr>
          <p:cNvPr id="6" name="Rule"/>
          <p:cNvSpPr/>
          <p:nvPr/>
        </p:nvSpPr>
        <p:spPr>
          <a:xfrm>
            <a:off x="585216" y="896112"/>
            <a:ext cx="45720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"/>
          <p:cNvSpPr txBox="1"/>
          <p:nvPr/>
        </p:nvSpPr>
        <p:spPr>
          <a:xfrm>
            <a:off x="566928" y="1965960"/>
            <a:ext cx="4160520" cy="237744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18000"/>
              </a:lnSpc>
            </a:pPr>
            <a:r>
              <a:rPr lang="ja-JP" sz="4200" b="1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18歳の選択肢を、</a:t>
            </a:r>
          </a:p>
          <a:p>
            <a:pPr algn="l">
              <a:lnSpc>
                <a:spcPct val="118000"/>
              </a:lnSpc>
            </a:pPr>
            <a:r>
              <a:rPr lang="ja-JP" sz="4200" b="1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もっと広く。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585216" y="4526280"/>
            <a:ext cx="41148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50000"/>
              </a:lnSpc>
            </a:pPr>
            <a:r>
              <a:rPr lang="ja-JP" sz="1450" b="1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株式会社ジンジブ</a:t>
            </a:r>
          </a:p>
          <a:p>
            <a:pPr algn="l">
              <a:lnSpc>
                <a:spcPct val="150000"/>
              </a:lnSpc>
            </a:pPr>
            <a:r>
              <a:rPr lang="ja-JP" sz="125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高卒採用・進路選択マーケティング戦略提案</a:t>
            </a:r>
          </a:p>
        </p:txBody>
      </p:sp>
      <p:sp>
        <p:nvSpPr>
          <p:cNvPr id="9" name="Photo Frame 1"/>
          <p:cNvSpPr/>
          <p:nvPr/>
        </p:nvSpPr>
        <p:spPr>
          <a:xfrm>
            <a:off x="5577840" y="777240"/>
            <a:ext cx="6046927" cy="5120640"/>
          </a:xfrm>
          <a:prstGeom prst="rect">
            <a:avLst/>
          </a:prstGeom>
          <a:solidFill>
            <a:srgbClr val="FFFFFF"/>
          </a:solidFill>
          <a:ln w="15875" cap="flat">
            <a:solidFill>
              <a:srgbClr val="1A1A1A"/>
            </a:solidFill>
            <a:round/>
          </a:ln>
        </p:spPr>
        <p:txBody>
          <a:bodyPr/>
          <a:lstStyle/>
          <a:p/>
        </p:txBody>
      </p:sp>
      <p:cxnSp>
        <p:nvCxnSpPr>
          <p:cNvPr id="10" name="Line"/>
          <p:cNvCxnSpPr/>
          <p:nvPr/>
        </p:nvCxnSpPr>
        <p:spPr>
          <a:xfrm>
            <a:off x="5705856" y="5495544"/>
            <a:ext cx="5790895" cy="914"/>
          </a:xfrm>
          <a:prstGeom prst="line">
            <a:avLst/>
          </a:prstGeom>
          <a:ln w="9525" cap="rnd">
            <a:solidFill>
              <a:srgbClr val="1A1A1A"/>
            </a:solidFill>
            <a:headEnd type="none"/>
            <a:tailEnd type="none"/>
          </a:ln>
        </p:spPr>
      </p:cxnSp>
      <p:sp>
        <p:nvSpPr>
          <p:cNvPr id="11" name="TextBox"/>
          <p:cNvSpPr txBox="1"/>
          <p:nvPr/>
        </p:nvSpPr>
        <p:spPr>
          <a:xfrm>
            <a:off x="5705856" y="2313432"/>
            <a:ext cx="5790895" cy="1843430"/>
          </a:xfrm>
          <a:prstGeom prst="rect">
            <a:avLst/>
          </a:prstGeom>
          <a:noFill/>
          <a:ln>
            <a:noFill/>
          </a:ln>
        </p:spPr>
        <p:txBody>
          <a:bodyPr wrap="square" anchor="b" lIns="45720" rIns="45720" tIns="27432" bIns="27432"/>
          <a:lstStyle/>
          <a:p>
            <a:pPr algn="ctr"/>
            <a:r>
              <a:rPr lang="ja-JP" sz="2000" b="1" spc="40" dirty="0">
                <a:solidFill>
                  <a:srgbClr val="1A1A1A"/>
                </a:solidFill>
                <a:latin typeface="Montserrat"/>
                <a:ea typeface="Montserrat"/>
                <a:cs typeface="Montserrat"/>
              </a:rPr>
              <a:t>PHOTO 01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5705856" y="5532120"/>
            <a:ext cx="5790895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通学路・友達と並んで歩く高校生</a:t>
            </a:r>
          </a:p>
        </p:txBody>
      </p:sp>
      <p:sp>
        <p:nvSpPr>
          <p:cNvPr id="13" name="Chip"/>
          <p:cNvSpPr/>
          <p:nvPr/>
        </p:nvSpPr>
        <p:spPr>
          <a:xfrm>
            <a:off x="5760720" y="96012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Box"/>
          <p:cNvSpPr txBox="1"/>
          <p:nvPr/>
        </p:nvSpPr>
        <p:spPr>
          <a:xfrm>
            <a:off x="5760720" y="96012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1050" b="1" spc="3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18 YEARS OLD</a:t>
            </a:r>
          </a:p>
        </p:txBody>
      </p:sp>
      <p:cxnSp>
        <p:nvCxnSpPr>
          <p:cNvPr id="15" name="Line"/>
          <p:cNvCxnSpPr/>
          <p:nvPr/>
        </p:nvCxnSpPr>
        <p:spPr>
          <a:xfrm>
            <a:off x="566928" y="6455664"/>
            <a:ext cx="11057839" cy="914"/>
          </a:xfrm>
          <a:prstGeom prst="line">
            <a:avLst/>
          </a:prstGeom>
          <a:ln w="12700" cap="rnd">
            <a:solidFill>
              <a:srgbClr val="1A1A1A"/>
            </a:solidFill>
            <a:headEnd type="none"/>
            <a:tailEnd type="none"/>
          </a:ln>
        </p:spPr>
      </p:cxnSp>
      <p:sp>
        <p:nvSpPr>
          <p:cNvPr id="16" name="TextBox"/>
          <p:cNvSpPr txBox="1"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850" spc="1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JINJIB ― 高卒採用・進路選択マーケティング戦略提案</a:t>
            </a:r>
          </a:p>
        </p:txBody>
      </p:sp>
      <p:sp>
        <p:nvSpPr>
          <p:cNvPr id="17" name="TextBox"/>
          <p:cNvSpPr txBox="1"/>
          <p:nvPr/>
        </p:nvSpPr>
        <p:spPr>
          <a:xfrm>
            <a:off x="10344607" y="6473952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r"/>
            <a:r>
              <a:rPr lang="ja-JP" sz="1300" b="1" spc="20" dirty="0">
                <a:solidFill>
                  <a:srgbClr val="FF6A00"/>
                </a:solidFill>
                <a:latin typeface="Montserrat"/>
                <a:ea typeface="Montserrat"/>
                <a:cs typeface="Montserrat"/>
              </a:rPr>
              <a:t>01</a:t>
            </a:r>
            <a:r>
              <a:rPr lang="ja-JP" sz="1000" dirty="0">
                <a:solidFill>
                  <a:srgbClr val="1A1A1A"/>
                </a:solidFill>
                <a:latin typeface="Montserrat"/>
                <a:ea typeface="Montserrat"/>
                <a:cs typeface="Montserrat"/>
              </a:rPr>
              <a:t> / 22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GrpSp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Kicker Tick"/>
          <p:cNvSpPr/>
          <p:nvPr/>
        </p:nvSpPr>
        <p:spPr>
          <a:xfrm>
            <a:off x="585216" y="457200"/>
            <a:ext cx="292608" cy="64008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"/>
          <p:cNvSpPr txBox="1"/>
          <p:nvPr/>
        </p:nvSpPr>
        <p:spPr>
          <a:xfrm>
            <a:off x="969264" y="365760"/>
            <a:ext cx="7315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1250" b="1" spc="60" dirty="0">
                <a:solidFill>
                  <a:srgbClr val="FF6A00"/>
                </a:solidFill>
                <a:latin typeface="Montserrat"/>
                <a:ea typeface="Montserrat"/>
                <a:cs typeface="Montserrat"/>
              </a:rPr>
              <a:t>INDEX  </a:t>
            </a:r>
            <a:r>
              <a:rPr lang="ja-JP" sz="1100" b="1" spc="2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目次 ／ 提案の全体像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585216" y="841248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</a:pPr>
            <a:r>
              <a:rPr lang="ja-JP" sz="300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認知から、選択へ。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585216" y="1481328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50000"/>
              </a:lnSpc>
            </a:pPr>
            <a:r>
              <a:rPr lang="ja-JP" sz="120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TikTok → Instagram → YouTube → Web / Real の導線で、18歳の心理状態を段階的に動かす設計。</a:t>
            </a:r>
          </a:p>
        </p:txBody>
      </p:sp>
      <p:sp>
        <p:nvSpPr>
          <p:cNvPr id="7" name="Nav0"/>
          <p:cNvSpPr/>
          <p:nvPr/>
        </p:nvSpPr>
        <p:spPr>
          <a:xfrm>
            <a:off x="585216" y="2331720"/>
            <a:ext cx="1496089" cy="868680"/>
          </a:xfrm>
          <a:prstGeom prst="chevron">
            <a:avLst>
              <a:gd name="adj1" fmla="val 50000"/>
              <a:gd name="adj2" fmla="val 35000"/>
            </a:avLst>
          </a:prstGeom>
          <a:solidFill>
            <a:srgbClr val="FF6A00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extBox"/>
          <p:cNvSpPr txBox="1"/>
          <p:nvPr/>
        </p:nvSpPr>
        <p:spPr>
          <a:xfrm>
            <a:off x="896112" y="2423160"/>
            <a:ext cx="1093753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/>
            <a:r>
              <a:rPr lang="ja-JP" sz="17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896112" y="2715768"/>
            <a:ext cx="1093753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/>
            <a:r>
              <a:rPr lang="ja-JP" sz="1250" b="1" spc="1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TikTok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585216" y="3310128"/>
            <a:ext cx="1496089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ctr"/>
            <a:r>
              <a:rPr lang="ja-JP" sz="10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認知・感情</a:t>
            </a:r>
          </a:p>
        </p:txBody>
      </p:sp>
      <p:sp>
        <p:nvSpPr>
          <p:cNvPr id="11" name="Nav1"/>
          <p:cNvSpPr/>
          <p:nvPr/>
        </p:nvSpPr>
        <p:spPr>
          <a:xfrm>
            <a:off x="2172745" y="2331720"/>
            <a:ext cx="1496089" cy="868680"/>
          </a:xfrm>
          <a:prstGeom prst="chevron">
            <a:avLst>
              <a:gd name="adj1" fmla="val 50000"/>
              <a:gd name="adj2" fmla="val 35000"/>
            </a:avLst>
          </a:prstGeom>
          <a:solidFill>
            <a:srgbClr val="FF3D8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Box"/>
          <p:cNvSpPr txBox="1"/>
          <p:nvPr/>
        </p:nvSpPr>
        <p:spPr>
          <a:xfrm>
            <a:off x="2483641" y="2423160"/>
            <a:ext cx="1093753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/>
            <a:r>
              <a:rPr lang="ja-JP" sz="17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2483641" y="2715768"/>
            <a:ext cx="1093753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/>
            <a:r>
              <a:rPr lang="ja-JP" sz="1250" b="1" spc="1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Instagram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2172745" y="3310128"/>
            <a:ext cx="1496089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ctr"/>
            <a:r>
              <a:rPr lang="ja-JP" sz="10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共感・自分事化</a:t>
            </a:r>
          </a:p>
        </p:txBody>
      </p:sp>
      <p:sp>
        <p:nvSpPr>
          <p:cNvPr id="15" name="Nav2"/>
          <p:cNvSpPr/>
          <p:nvPr/>
        </p:nvSpPr>
        <p:spPr>
          <a:xfrm>
            <a:off x="3760274" y="2331720"/>
            <a:ext cx="1496089" cy="868680"/>
          </a:xfrm>
          <a:prstGeom prst="chevron">
            <a:avLst>
              <a:gd name="adj1" fmla="val 50000"/>
              <a:gd name="adj2" fmla="val 35000"/>
            </a:avLst>
          </a:prstGeom>
          <a:solidFill>
            <a:srgbClr val="2A5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Box"/>
          <p:cNvSpPr txBox="1"/>
          <p:nvPr/>
        </p:nvSpPr>
        <p:spPr>
          <a:xfrm>
            <a:off x="4071170" y="2423160"/>
            <a:ext cx="1093753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/>
            <a:r>
              <a:rPr lang="ja-JP" sz="17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7" name="TextBox"/>
          <p:cNvSpPr txBox="1"/>
          <p:nvPr/>
        </p:nvSpPr>
        <p:spPr>
          <a:xfrm>
            <a:off x="4071170" y="2715768"/>
            <a:ext cx="1093753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/>
            <a:r>
              <a:rPr lang="ja-JP" sz="1250" b="1" spc="1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YouTube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3760274" y="3310128"/>
            <a:ext cx="1496089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ctr"/>
            <a:r>
              <a:rPr lang="ja-JP" sz="10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理解・深掘り</a:t>
            </a:r>
          </a:p>
        </p:txBody>
      </p:sp>
      <p:sp>
        <p:nvSpPr>
          <p:cNvPr id="19" name="Nav3"/>
          <p:cNvSpPr/>
          <p:nvPr/>
        </p:nvSpPr>
        <p:spPr>
          <a:xfrm>
            <a:off x="5347803" y="2331720"/>
            <a:ext cx="1496089" cy="868680"/>
          </a:xfrm>
          <a:prstGeom prst="chevron">
            <a:avLst>
              <a:gd name="adj1" fmla="val 50000"/>
              <a:gd name="adj2" fmla="val 35000"/>
            </a:avLst>
          </a:prstGeom>
          <a:solidFill>
            <a:srgbClr val="00C2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Box"/>
          <p:cNvSpPr txBox="1"/>
          <p:nvPr/>
        </p:nvSpPr>
        <p:spPr>
          <a:xfrm>
            <a:off x="5658699" y="2423160"/>
            <a:ext cx="1093753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/>
            <a:r>
              <a:rPr lang="ja-JP" sz="17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sp>
        <p:nvSpPr>
          <p:cNvPr id="21" name="TextBox"/>
          <p:cNvSpPr txBox="1"/>
          <p:nvPr/>
        </p:nvSpPr>
        <p:spPr>
          <a:xfrm>
            <a:off x="5658699" y="2715768"/>
            <a:ext cx="1093753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/>
            <a:r>
              <a:rPr lang="ja-JP" sz="1250" b="1" spc="1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Web / Real</a:t>
            </a:r>
          </a:p>
        </p:txBody>
      </p:sp>
      <p:sp>
        <p:nvSpPr>
          <p:cNvPr id="22" name="TextBox"/>
          <p:cNvSpPr txBox="1"/>
          <p:nvPr/>
        </p:nvSpPr>
        <p:spPr>
          <a:xfrm>
            <a:off x="5347803" y="3310128"/>
            <a:ext cx="1496089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ctr"/>
            <a:r>
              <a:rPr lang="ja-JP" sz="10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探索・体験</a:t>
            </a:r>
          </a:p>
        </p:txBody>
      </p:sp>
      <p:sp>
        <p:nvSpPr>
          <p:cNvPr id="23" name="Nav4"/>
          <p:cNvSpPr/>
          <p:nvPr/>
        </p:nvSpPr>
        <p:spPr>
          <a:xfrm>
            <a:off x="6935332" y="2331720"/>
            <a:ext cx="1496089" cy="868680"/>
          </a:xfrm>
          <a:prstGeom prst="chevron">
            <a:avLst>
              <a:gd name="adj1" fmla="val 50000"/>
              <a:gd name="adj2" fmla="val 35000"/>
            </a:avLst>
          </a:prstGeom>
          <a:solidFill>
            <a:srgbClr val="FFC7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TextBox"/>
          <p:cNvSpPr txBox="1"/>
          <p:nvPr/>
        </p:nvSpPr>
        <p:spPr>
          <a:xfrm>
            <a:off x="7246228" y="2423160"/>
            <a:ext cx="1093753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/>
            <a:r>
              <a:rPr lang="ja-JP" sz="17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05</a:t>
            </a:r>
          </a:p>
        </p:txBody>
      </p:sp>
      <p:sp>
        <p:nvSpPr>
          <p:cNvPr id="25" name="TextBox"/>
          <p:cNvSpPr txBox="1"/>
          <p:nvPr/>
        </p:nvSpPr>
        <p:spPr>
          <a:xfrm>
            <a:off x="7246228" y="2715768"/>
            <a:ext cx="1093753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/>
            <a:r>
              <a:rPr lang="ja-JP" sz="1250" b="1" spc="1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Roadmap</a:t>
            </a:r>
          </a:p>
        </p:txBody>
      </p:sp>
      <p:sp>
        <p:nvSpPr>
          <p:cNvPr id="26" name="TextBox"/>
          <p:cNvSpPr txBox="1"/>
          <p:nvPr/>
        </p:nvSpPr>
        <p:spPr>
          <a:xfrm>
            <a:off x="6935332" y="3310128"/>
            <a:ext cx="1496089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ctr"/>
            <a:r>
              <a:rPr lang="ja-JP" sz="10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全体設計</a:t>
            </a:r>
          </a:p>
        </p:txBody>
      </p:sp>
      <p:sp>
        <p:nvSpPr>
          <p:cNvPr id="27" name="Nav5"/>
          <p:cNvSpPr/>
          <p:nvPr/>
        </p:nvSpPr>
        <p:spPr>
          <a:xfrm>
            <a:off x="8522861" y="2331720"/>
            <a:ext cx="1496089" cy="868680"/>
          </a:xfrm>
          <a:prstGeom prst="chevron">
            <a:avLst>
              <a:gd name="adj1" fmla="val 50000"/>
              <a:gd name="adj2" fmla="val 35000"/>
            </a:avLst>
          </a:prstGeom>
          <a:solidFill>
            <a:srgbClr val="9AD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TextBox"/>
          <p:cNvSpPr txBox="1"/>
          <p:nvPr/>
        </p:nvSpPr>
        <p:spPr>
          <a:xfrm>
            <a:off x="8833757" y="2423160"/>
            <a:ext cx="1093753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/>
            <a:r>
              <a:rPr lang="ja-JP" sz="17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06</a:t>
            </a:r>
          </a:p>
        </p:txBody>
      </p:sp>
      <p:sp>
        <p:nvSpPr>
          <p:cNvPr id="29" name="TextBox"/>
          <p:cNvSpPr txBox="1"/>
          <p:nvPr/>
        </p:nvSpPr>
        <p:spPr>
          <a:xfrm>
            <a:off x="8833757" y="2715768"/>
            <a:ext cx="1093753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/>
            <a:r>
              <a:rPr lang="ja-JP" sz="1250" b="1" spc="1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KPI</a:t>
            </a:r>
          </a:p>
        </p:txBody>
      </p:sp>
      <p:sp>
        <p:nvSpPr>
          <p:cNvPr id="30" name="TextBox"/>
          <p:cNvSpPr txBox="1"/>
          <p:nvPr/>
        </p:nvSpPr>
        <p:spPr>
          <a:xfrm>
            <a:off x="8522861" y="3310128"/>
            <a:ext cx="1496089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ctr"/>
            <a:r>
              <a:rPr lang="ja-JP" sz="10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計測指標</a:t>
            </a:r>
          </a:p>
        </p:txBody>
      </p:sp>
      <p:sp>
        <p:nvSpPr>
          <p:cNvPr id="31" name="Nav6"/>
          <p:cNvSpPr/>
          <p:nvPr/>
        </p:nvSpPr>
        <p:spPr>
          <a:xfrm>
            <a:off x="10110390" y="2331720"/>
            <a:ext cx="1496089" cy="86868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Box"/>
          <p:cNvSpPr txBox="1"/>
          <p:nvPr/>
        </p:nvSpPr>
        <p:spPr>
          <a:xfrm>
            <a:off x="10421286" y="2423160"/>
            <a:ext cx="1093753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/>
            <a:r>
              <a:rPr lang="ja-JP" sz="17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07</a:t>
            </a:r>
          </a:p>
        </p:txBody>
      </p:sp>
      <p:sp>
        <p:nvSpPr>
          <p:cNvPr id="33" name="TextBox"/>
          <p:cNvSpPr txBox="1"/>
          <p:nvPr/>
        </p:nvSpPr>
        <p:spPr>
          <a:xfrm>
            <a:off x="10421286" y="2715768"/>
            <a:ext cx="1093753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/>
            <a:r>
              <a:rPr lang="ja-JP" sz="1250" b="1" spc="1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Future</a:t>
            </a:r>
          </a:p>
        </p:txBody>
      </p:sp>
      <p:sp>
        <p:nvSpPr>
          <p:cNvPr id="34" name="TextBox"/>
          <p:cNvSpPr txBox="1"/>
          <p:nvPr/>
        </p:nvSpPr>
        <p:spPr>
          <a:xfrm>
            <a:off x="10110390" y="3310128"/>
            <a:ext cx="1496089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ctr"/>
            <a:r>
              <a:rPr lang="ja-JP" sz="10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未来像</a:t>
            </a:r>
          </a:p>
        </p:txBody>
      </p:sp>
      <p:cxnSp>
        <p:nvCxnSpPr>
          <p:cNvPr id="35" name="Line"/>
          <p:cNvCxnSpPr/>
          <p:nvPr/>
        </p:nvCxnSpPr>
        <p:spPr>
          <a:xfrm>
            <a:off x="585216" y="3977640"/>
            <a:ext cx="11021263" cy="914"/>
          </a:xfrm>
          <a:prstGeom prst="line">
            <a:avLst/>
          </a:prstGeom>
          <a:ln w="12700" cap="rnd">
            <a:solidFill>
              <a:srgbClr val="EADFD2"/>
            </a:solidFill>
            <a:headEnd type="none"/>
            <a:tailEnd type="none"/>
          </a:ln>
        </p:spPr>
      </p:cxnSp>
      <p:sp>
        <p:nvSpPr>
          <p:cNvPr id="36" name="TextBox"/>
          <p:cNvSpPr txBox="1"/>
          <p:nvPr/>
        </p:nvSpPr>
        <p:spPr>
          <a:xfrm>
            <a:off x="585216" y="4160520"/>
            <a:ext cx="11021263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55000"/>
              </a:lnSpc>
            </a:pPr>
            <a:r>
              <a:rPr lang="ja-JP" sz="11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PHASE1〜3（TikTok / Instagram / YouTube）で認知と理解を積み上げ、PHASE4（Web / Real）で行動へつなぐ。全体設計は Roadmap（P.19）、指標は KPI（P.21）に整理。</a:t>
            </a:r>
          </a:p>
        </p:txBody>
      </p:sp>
      <p:cxnSp>
        <p:nvCxnSpPr>
          <p:cNvPr id="37" name="Line"/>
          <p:cNvCxnSpPr/>
          <p:nvPr/>
        </p:nvCxnSpPr>
        <p:spPr>
          <a:xfrm>
            <a:off x="585216" y="6455664"/>
            <a:ext cx="11021263" cy="914"/>
          </a:xfrm>
          <a:prstGeom prst="line">
            <a:avLst/>
          </a:prstGeom>
          <a:ln w="12700" cap="rnd">
            <a:solidFill>
              <a:srgbClr val="FF6A00"/>
            </a:solidFill>
            <a:headEnd type="none"/>
            <a:tailEnd type="none"/>
          </a:ln>
        </p:spPr>
      </p:cxnSp>
      <p:sp>
        <p:nvSpPr>
          <p:cNvPr id="38" name="TextBox"/>
          <p:cNvSpPr txBox="1"/>
          <p:nvPr/>
        </p:nvSpPr>
        <p:spPr>
          <a:xfrm>
            <a:off x="585216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850" spc="1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JINJIB ― 高卒採用・進路選択マーケティング戦略提案</a:t>
            </a:r>
          </a:p>
        </p:txBody>
      </p:sp>
      <p:sp>
        <p:nvSpPr>
          <p:cNvPr id="39" name="TextBox"/>
          <p:cNvSpPr txBox="1"/>
          <p:nvPr/>
        </p:nvSpPr>
        <p:spPr>
          <a:xfrm>
            <a:off x="10326319" y="6473952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r"/>
            <a:r>
              <a:rPr lang="ja-JP" sz="1300" b="1" spc="20" dirty="0">
                <a:solidFill>
                  <a:srgbClr val="FF6A00"/>
                </a:solidFill>
                <a:latin typeface="Montserrat"/>
                <a:ea typeface="Montserrat"/>
                <a:cs typeface="Montserrat"/>
              </a:rPr>
              <a:t>02</a:t>
            </a:r>
            <a:r>
              <a:rPr lang="ja-JP" sz="1000" dirty="0">
                <a:solidFill>
                  <a:srgbClr val="1A1A1A"/>
                </a:solidFill>
                <a:latin typeface="Montserrat"/>
                <a:ea typeface="Montserrat"/>
                <a:cs typeface="Montserrat"/>
              </a:rPr>
              <a:t> / 22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GrpSp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Kicker Tick"/>
          <p:cNvSpPr/>
          <p:nvPr/>
        </p:nvSpPr>
        <p:spPr>
          <a:xfrm>
            <a:off x="585216" y="457200"/>
            <a:ext cx="292608" cy="64008"/>
          </a:xfrm>
          <a:prstGeom prst="rect">
            <a:avLst/>
          </a:prstGeom>
          <a:solidFill>
            <a:srgbClr val="FF3D8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"/>
          <p:cNvSpPr txBox="1"/>
          <p:nvPr/>
        </p:nvSpPr>
        <p:spPr>
          <a:xfrm>
            <a:off x="969264" y="365760"/>
            <a:ext cx="7315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1250" b="1" spc="60" dirty="0">
                <a:solidFill>
                  <a:srgbClr val="FF3D8A"/>
                </a:solidFill>
                <a:latin typeface="Montserrat"/>
                <a:ea typeface="Montserrat"/>
                <a:cs typeface="Montserrat"/>
              </a:rPr>
              <a:t>TIKTOK CASE 01  </a:t>
            </a:r>
            <a:r>
              <a:rPr lang="ja-JP" sz="1100" b="1" spc="2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逆張り・逆転型 ／ アカウント設計・全体コンセプト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585216" y="822960"/>
            <a:ext cx="594360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20000"/>
              </a:lnSpc>
            </a:pPr>
            <a:r>
              <a:rPr lang="ja-JP" sz="280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学校では評価されなかった</a:t>
            </a:r>
          </a:p>
          <a:p>
            <a:pPr algn="l">
              <a:lnSpc>
                <a:spcPct val="120000"/>
              </a:lnSpc>
            </a:pPr>
            <a:r>
              <a:rPr lang="ja-JP" sz="280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僕ら。</a:t>
            </a:r>
          </a:p>
        </p:txBody>
      </p:sp>
      <p:sp>
        <p:nvSpPr>
          <p:cNvPr id="6" name="Subhead Mark"/>
          <p:cNvSpPr/>
          <p:nvPr/>
        </p:nvSpPr>
        <p:spPr>
          <a:xfrm>
            <a:off x="585216" y="2148840"/>
            <a:ext cx="146304" cy="146304"/>
          </a:xfrm>
          <a:prstGeom prst="rect">
            <a:avLst/>
          </a:prstGeom>
          <a:solidFill>
            <a:srgbClr val="FF3D8A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"/>
          <p:cNvSpPr txBox="1"/>
          <p:nvPr/>
        </p:nvSpPr>
        <p:spPr>
          <a:xfrm>
            <a:off x="804672" y="2103120"/>
            <a:ext cx="558698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1100" b="1" spc="30" dirty="0">
                <a:solidFill>
                  <a:srgbClr val="FF3D8A"/>
                </a:solidFill>
                <a:latin typeface="Montserrat"/>
                <a:ea typeface="Montserrat"/>
                <a:cs typeface="Montserrat"/>
              </a:rPr>
              <a:t>ACCOUNT DESIGN  </a:t>
            </a:r>
            <a:r>
              <a:rPr lang="ja-JP" sz="130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アカウント設計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585216" y="2450592"/>
            <a:ext cx="580644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45000"/>
              </a:lnSpc>
            </a:pPr>
            <a:r>
              <a:rPr lang="ja-JP" sz="110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主役は優等生だけじゃない。成績が悪い、じっとしていられない、</a:t>
            </a:r>
          </a:p>
          <a:p>
            <a:pPr algn="l">
              <a:lnSpc>
                <a:spcPct val="145000"/>
              </a:lnSpc>
            </a:pPr>
            <a:r>
              <a:rPr lang="ja-JP" sz="110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先生から期待されていない ― そんな学生たち。</a:t>
            </a:r>
          </a:p>
          <a:p>
            <a:pPr algn="l">
              <a:lnSpc>
                <a:spcPct val="145000"/>
              </a:lnSpc>
            </a:pPr>
            <a:r>
              <a:rPr lang="ja-JP" sz="110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学校で弱点に見えた部分は、環境が変われば強みになる。</a:t>
            </a:r>
          </a:p>
        </p:txBody>
      </p:sp>
      <p:sp>
        <p:nvSpPr>
          <p:cNvPr id="9" name="Chip"/>
          <p:cNvSpPr/>
          <p:nvPr/>
        </p:nvSpPr>
        <p:spPr>
          <a:xfrm>
            <a:off x="585216" y="3520440"/>
            <a:ext cx="129341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 cap="flat">
            <a:solidFill>
              <a:srgbClr val="1A1A1A"/>
            </a:solidFill>
            <a:round/>
          </a:ln>
        </p:spPr>
        <p:txBody>
          <a:bodyPr/>
          <a:lstStyle/>
          <a:p/>
        </p:txBody>
      </p:sp>
      <p:sp>
        <p:nvSpPr>
          <p:cNvPr id="10" name="TextBox"/>
          <p:cNvSpPr txBox="1"/>
          <p:nvPr/>
        </p:nvSpPr>
        <p:spPr>
          <a:xfrm>
            <a:off x="585216" y="3520440"/>
            <a:ext cx="1293419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00" b="1" spc="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落ち着きがない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1878635" y="3520440"/>
            <a:ext cx="22494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1200" b="1" dirty="0">
                <a:solidFill>
                  <a:srgbClr val="FF3D8A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12" name="Chip"/>
          <p:cNvSpPr/>
          <p:nvPr/>
        </p:nvSpPr>
        <p:spPr>
          <a:xfrm>
            <a:off x="2103577" y="3520440"/>
            <a:ext cx="1293419" cy="365760"/>
          </a:xfrm>
          <a:prstGeom prst="roundRect">
            <a:avLst>
              <a:gd name="adj" fmla="val 50000"/>
            </a:avLst>
          </a:prstGeom>
          <a:solidFill>
            <a:srgbClr val="FF3D8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Box"/>
          <p:cNvSpPr txBox="1"/>
          <p:nvPr/>
        </p:nvSpPr>
        <p:spPr>
          <a:xfrm>
            <a:off x="2103577" y="3520440"/>
            <a:ext cx="1293419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00" b="1" spc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行動が早い</a:t>
            </a:r>
          </a:p>
        </p:txBody>
      </p:sp>
      <p:sp>
        <p:nvSpPr>
          <p:cNvPr id="14" name="Chip"/>
          <p:cNvSpPr/>
          <p:nvPr/>
        </p:nvSpPr>
        <p:spPr>
          <a:xfrm>
            <a:off x="3579876" y="3520440"/>
            <a:ext cx="129341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 cap="flat">
            <a:solidFill>
              <a:srgbClr val="1A1A1A"/>
            </a:solidFill>
            <a:round/>
          </a:ln>
        </p:spPr>
        <p:txBody>
          <a:bodyPr/>
          <a:lstStyle/>
          <a:p/>
        </p:txBody>
      </p:sp>
      <p:sp>
        <p:nvSpPr>
          <p:cNvPr id="15" name="TextBox"/>
          <p:cNvSpPr txBox="1"/>
          <p:nvPr/>
        </p:nvSpPr>
        <p:spPr>
          <a:xfrm>
            <a:off x="3579876" y="3520440"/>
            <a:ext cx="1293419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00" b="1" spc="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よくしゃべる</a:t>
            </a:r>
          </a:p>
        </p:txBody>
      </p:sp>
      <p:sp>
        <p:nvSpPr>
          <p:cNvPr id="16" name="TextBox"/>
          <p:cNvSpPr txBox="1"/>
          <p:nvPr/>
        </p:nvSpPr>
        <p:spPr>
          <a:xfrm>
            <a:off x="4873295" y="3520440"/>
            <a:ext cx="22494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1200" b="1" dirty="0">
                <a:solidFill>
                  <a:srgbClr val="FF3D8A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17" name="Chip"/>
          <p:cNvSpPr/>
          <p:nvPr/>
        </p:nvSpPr>
        <p:spPr>
          <a:xfrm>
            <a:off x="5098237" y="3520440"/>
            <a:ext cx="1293419" cy="365760"/>
          </a:xfrm>
          <a:prstGeom prst="roundRect">
            <a:avLst>
              <a:gd name="adj" fmla="val 50000"/>
            </a:avLst>
          </a:prstGeom>
          <a:solidFill>
            <a:srgbClr val="FF3D8A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TextBox"/>
          <p:cNvSpPr txBox="1"/>
          <p:nvPr/>
        </p:nvSpPr>
        <p:spPr>
          <a:xfrm>
            <a:off x="5098237" y="3520440"/>
            <a:ext cx="1293419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00" b="1" spc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距離を縮めるのが上手い</a:t>
            </a:r>
          </a:p>
        </p:txBody>
      </p:sp>
      <p:sp>
        <p:nvSpPr>
          <p:cNvPr id="19" name="Chip"/>
          <p:cNvSpPr/>
          <p:nvPr/>
        </p:nvSpPr>
        <p:spPr>
          <a:xfrm>
            <a:off x="585216" y="4087368"/>
            <a:ext cx="129341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 cap="flat">
            <a:solidFill>
              <a:srgbClr val="1A1A1A"/>
            </a:solidFill>
            <a:round/>
          </a:ln>
        </p:spPr>
        <p:txBody>
          <a:bodyPr/>
          <a:lstStyle/>
          <a:p/>
        </p:txBody>
      </p:sp>
      <p:sp>
        <p:nvSpPr>
          <p:cNvPr id="20" name="TextBox"/>
          <p:cNvSpPr txBox="1"/>
          <p:nvPr/>
        </p:nvSpPr>
        <p:spPr>
          <a:xfrm>
            <a:off x="585216" y="4087368"/>
            <a:ext cx="1293419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00" b="1" spc="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勉強が苦手</a:t>
            </a:r>
          </a:p>
        </p:txBody>
      </p:sp>
      <p:sp>
        <p:nvSpPr>
          <p:cNvPr id="21" name="TextBox"/>
          <p:cNvSpPr txBox="1"/>
          <p:nvPr/>
        </p:nvSpPr>
        <p:spPr>
          <a:xfrm>
            <a:off x="1878635" y="4087368"/>
            <a:ext cx="22494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1200" b="1" dirty="0">
                <a:solidFill>
                  <a:srgbClr val="FF3D8A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22" name="Chip"/>
          <p:cNvSpPr/>
          <p:nvPr/>
        </p:nvSpPr>
        <p:spPr>
          <a:xfrm>
            <a:off x="2103577" y="4087368"/>
            <a:ext cx="1293419" cy="365760"/>
          </a:xfrm>
          <a:prstGeom prst="roundRect">
            <a:avLst>
              <a:gd name="adj" fmla="val 50000"/>
            </a:avLst>
          </a:prstGeom>
          <a:solidFill>
            <a:srgbClr val="FF3D8A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Box"/>
          <p:cNvSpPr txBox="1"/>
          <p:nvPr/>
        </p:nvSpPr>
        <p:spPr>
          <a:xfrm>
            <a:off x="2103577" y="4087368"/>
            <a:ext cx="1293419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00" b="1" spc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やりながら覚えるのが得意</a:t>
            </a:r>
          </a:p>
        </p:txBody>
      </p:sp>
      <p:sp>
        <p:nvSpPr>
          <p:cNvPr id="24" name="Chip"/>
          <p:cNvSpPr/>
          <p:nvPr/>
        </p:nvSpPr>
        <p:spPr>
          <a:xfrm>
            <a:off x="3579876" y="4087368"/>
            <a:ext cx="129341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 cap="flat">
            <a:solidFill>
              <a:srgbClr val="1A1A1A"/>
            </a:solidFill>
            <a:round/>
          </a:ln>
        </p:spPr>
        <p:txBody>
          <a:bodyPr/>
          <a:lstStyle/>
          <a:p/>
        </p:txBody>
      </p:sp>
      <p:sp>
        <p:nvSpPr>
          <p:cNvPr id="25" name="TextBox"/>
          <p:cNvSpPr txBox="1"/>
          <p:nvPr/>
        </p:nvSpPr>
        <p:spPr>
          <a:xfrm>
            <a:off x="3579876" y="4087368"/>
            <a:ext cx="1293419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00" b="1" spc="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反抗的</a:t>
            </a:r>
          </a:p>
        </p:txBody>
      </p:sp>
      <p:sp>
        <p:nvSpPr>
          <p:cNvPr id="26" name="TextBox"/>
          <p:cNvSpPr txBox="1"/>
          <p:nvPr/>
        </p:nvSpPr>
        <p:spPr>
          <a:xfrm>
            <a:off x="4873295" y="4087368"/>
            <a:ext cx="22494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1200" b="1" dirty="0">
                <a:solidFill>
                  <a:srgbClr val="FF3D8A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27" name="Chip"/>
          <p:cNvSpPr/>
          <p:nvPr/>
        </p:nvSpPr>
        <p:spPr>
          <a:xfrm>
            <a:off x="5098237" y="4087368"/>
            <a:ext cx="1293419" cy="365760"/>
          </a:xfrm>
          <a:prstGeom prst="roundRect">
            <a:avLst>
              <a:gd name="adj" fmla="val 50000"/>
            </a:avLst>
          </a:prstGeom>
          <a:solidFill>
            <a:srgbClr val="FF3D8A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TextBox"/>
          <p:cNvSpPr txBox="1"/>
          <p:nvPr/>
        </p:nvSpPr>
        <p:spPr>
          <a:xfrm>
            <a:off x="5098237" y="4087368"/>
            <a:ext cx="1293419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00" b="1" spc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自分の意見を持っている</a:t>
            </a:r>
          </a:p>
        </p:txBody>
      </p:sp>
      <p:sp>
        <p:nvSpPr>
          <p:cNvPr id="29" name="Subhead Mark"/>
          <p:cNvSpPr/>
          <p:nvPr/>
        </p:nvSpPr>
        <p:spPr>
          <a:xfrm>
            <a:off x="585216" y="5029200"/>
            <a:ext cx="146304" cy="146304"/>
          </a:xfrm>
          <a:prstGeom prst="rect">
            <a:avLst/>
          </a:prstGeom>
          <a:solidFill>
            <a:srgbClr val="FF3D8A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TextBox"/>
          <p:cNvSpPr txBox="1"/>
          <p:nvPr/>
        </p:nvSpPr>
        <p:spPr>
          <a:xfrm>
            <a:off x="804672" y="4983480"/>
            <a:ext cx="558698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1100" b="1" spc="30" dirty="0">
                <a:solidFill>
                  <a:srgbClr val="FF3D8A"/>
                </a:solidFill>
                <a:latin typeface="Montserrat"/>
                <a:ea typeface="Montserrat"/>
                <a:cs typeface="Montserrat"/>
              </a:rPr>
              <a:t>CONCEPT  </a:t>
            </a:r>
            <a:r>
              <a:rPr lang="ja-JP" sz="130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全体コンセプト</a:t>
            </a:r>
          </a:p>
        </p:txBody>
      </p:sp>
      <p:sp>
        <p:nvSpPr>
          <p:cNvPr id="31" name="TextBox"/>
          <p:cNvSpPr txBox="1"/>
          <p:nvPr/>
        </p:nvSpPr>
        <p:spPr>
          <a:xfrm>
            <a:off x="585216" y="5321808"/>
            <a:ext cx="580644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45000"/>
              </a:lnSpc>
            </a:pPr>
            <a:r>
              <a:rPr lang="ja-JP" sz="110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学校の評価と、人生の評価は同じではない。高卒就職の成功も、大学進学の否定も目的ではない。「自分には何もない」と感じている学生に、まだ違う場所を知らないだけかもしれない、という視点を届ける。</a:t>
            </a:r>
          </a:p>
        </p:txBody>
      </p:sp>
      <p:sp>
        <p:nvSpPr>
          <p:cNvPr id="32" name="Phone 11"/>
          <p:cNvSpPr/>
          <p:nvPr/>
        </p:nvSpPr>
        <p:spPr>
          <a:xfrm>
            <a:off x="7095606" y="868680"/>
            <a:ext cx="1930893" cy="3977640"/>
          </a:xfrm>
          <a:prstGeom prst="roundRect">
            <a:avLst>
              <a:gd name="adj" fmla="val 11000"/>
            </a:avLst>
          </a:prstGeom>
          <a:solidFill>
            <a:srgbClr val="1A1A1A"/>
          </a:solidFill>
          <a:ln w="15875" cap="flat">
            <a:solidFill>
              <a:srgbClr val="FF3D8A"/>
            </a:solidFill>
            <a:round/>
          </a:ln>
        </p:spPr>
        <p:txBody>
          <a:bodyPr/>
          <a:lstStyle/>
          <a:p/>
        </p:txBody>
      </p:sp>
      <p:sp>
        <p:nvSpPr>
          <p:cNvPr id="33" name="Screen"/>
          <p:cNvSpPr/>
          <p:nvPr/>
        </p:nvSpPr>
        <p:spPr>
          <a:xfrm>
            <a:off x="7164186" y="985266"/>
            <a:ext cx="1793733" cy="377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Notch"/>
          <p:cNvSpPr/>
          <p:nvPr/>
        </p:nvSpPr>
        <p:spPr>
          <a:xfrm>
            <a:off x="7905605" y="906399"/>
            <a:ext cx="310896" cy="41148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Home Indicator"/>
          <p:cNvSpPr/>
          <p:nvPr/>
        </p:nvSpPr>
        <p:spPr>
          <a:xfrm>
            <a:off x="7914749" y="4770882"/>
            <a:ext cx="292608" cy="27432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App Bar"/>
          <p:cNvSpPr/>
          <p:nvPr/>
        </p:nvSpPr>
        <p:spPr>
          <a:xfrm>
            <a:off x="7164186" y="985266"/>
            <a:ext cx="1793733" cy="146304"/>
          </a:xfrm>
          <a:prstGeom prst="rect">
            <a:avLst/>
          </a:prstGeom>
          <a:solidFill>
            <a:srgbClr val="FF3D8A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TextBox"/>
          <p:cNvSpPr txBox="1"/>
          <p:nvPr/>
        </p:nvSpPr>
        <p:spPr>
          <a:xfrm>
            <a:off x="7164186" y="985266"/>
            <a:ext cx="1793733" cy="146304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750" b="1" spc="3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TIKTOK</a:t>
            </a:r>
          </a:p>
        </p:txBody>
      </p:sp>
      <p:sp>
        <p:nvSpPr>
          <p:cNvPr id="38" name="TextBox"/>
          <p:cNvSpPr txBox="1"/>
          <p:nvPr/>
        </p:nvSpPr>
        <p:spPr>
          <a:xfrm>
            <a:off x="7219050" y="1131570"/>
            <a:ext cx="1684005" cy="3625596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1569" b="1" spc="20" dirty="0">
                <a:solidFill>
                  <a:srgbClr val="FF3D8A"/>
                </a:solidFill>
                <a:latin typeface="Montserrat"/>
                <a:ea typeface="Montserrat"/>
                <a:cs typeface="Montserrat"/>
              </a:rPr>
              <a:t>IMAGE 11</a:t>
            </a:r>
          </a:p>
        </p:txBody>
      </p:sp>
      <p:sp>
        <p:nvSpPr>
          <p:cNvPr id="39" name="TextBox"/>
          <p:cNvSpPr txBox="1"/>
          <p:nvPr/>
        </p:nvSpPr>
        <p:spPr>
          <a:xfrm>
            <a:off x="7095606" y="4892040"/>
            <a:ext cx="1930893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ctr"/>
            <a:r>
              <a:rPr lang="ja-JP" sz="8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Before</a:t>
            </a:r>
          </a:p>
        </p:txBody>
      </p:sp>
      <p:sp>
        <p:nvSpPr>
          <p:cNvPr id="40" name="Phone 12"/>
          <p:cNvSpPr/>
          <p:nvPr/>
        </p:nvSpPr>
        <p:spPr>
          <a:xfrm>
            <a:off x="9300820" y="868680"/>
            <a:ext cx="1930893" cy="3977640"/>
          </a:xfrm>
          <a:prstGeom prst="roundRect">
            <a:avLst>
              <a:gd name="adj" fmla="val 11000"/>
            </a:avLst>
          </a:prstGeom>
          <a:solidFill>
            <a:srgbClr val="1A1A1A"/>
          </a:solidFill>
          <a:ln w="15875" cap="flat">
            <a:solidFill>
              <a:srgbClr val="FF3D8A"/>
            </a:solidFill>
            <a:round/>
          </a:ln>
        </p:spPr>
        <p:txBody>
          <a:bodyPr/>
          <a:lstStyle/>
          <a:p/>
        </p:txBody>
      </p:sp>
      <p:sp>
        <p:nvSpPr>
          <p:cNvPr id="41" name="Screen"/>
          <p:cNvSpPr/>
          <p:nvPr/>
        </p:nvSpPr>
        <p:spPr>
          <a:xfrm>
            <a:off x="9369400" y="985266"/>
            <a:ext cx="1793733" cy="377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Notch"/>
          <p:cNvSpPr/>
          <p:nvPr/>
        </p:nvSpPr>
        <p:spPr>
          <a:xfrm>
            <a:off x="10110818" y="906399"/>
            <a:ext cx="310896" cy="41148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Home Indicator"/>
          <p:cNvSpPr/>
          <p:nvPr/>
        </p:nvSpPr>
        <p:spPr>
          <a:xfrm>
            <a:off x="10119962" y="4770882"/>
            <a:ext cx="292608" cy="27432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App Bar"/>
          <p:cNvSpPr/>
          <p:nvPr/>
        </p:nvSpPr>
        <p:spPr>
          <a:xfrm>
            <a:off x="9369400" y="985266"/>
            <a:ext cx="1793733" cy="146304"/>
          </a:xfrm>
          <a:prstGeom prst="rect">
            <a:avLst/>
          </a:prstGeom>
          <a:solidFill>
            <a:srgbClr val="FF3D8A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TextBox"/>
          <p:cNvSpPr txBox="1"/>
          <p:nvPr/>
        </p:nvSpPr>
        <p:spPr>
          <a:xfrm>
            <a:off x="9369400" y="985266"/>
            <a:ext cx="1793733" cy="146304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750" b="1" spc="3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TIKTOK</a:t>
            </a:r>
          </a:p>
        </p:txBody>
      </p:sp>
      <p:sp>
        <p:nvSpPr>
          <p:cNvPr id="46" name="TextBox"/>
          <p:cNvSpPr txBox="1"/>
          <p:nvPr/>
        </p:nvSpPr>
        <p:spPr>
          <a:xfrm>
            <a:off x="9424264" y="1131570"/>
            <a:ext cx="1684005" cy="3625596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1569" b="1" spc="20" dirty="0">
                <a:solidFill>
                  <a:srgbClr val="FF3D8A"/>
                </a:solidFill>
                <a:latin typeface="Montserrat"/>
                <a:ea typeface="Montserrat"/>
                <a:cs typeface="Montserrat"/>
              </a:rPr>
              <a:t>IMAGE 12</a:t>
            </a:r>
          </a:p>
        </p:txBody>
      </p:sp>
      <p:sp>
        <p:nvSpPr>
          <p:cNvPr id="47" name="TextBox"/>
          <p:cNvSpPr txBox="1"/>
          <p:nvPr/>
        </p:nvSpPr>
        <p:spPr>
          <a:xfrm>
            <a:off x="9300820" y="4892040"/>
            <a:ext cx="1930893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ctr"/>
            <a:r>
              <a:rPr lang="ja-JP" sz="8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After</a:t>
            </a:r>
          </a:p>
        </p:txBody>
      </p:sp>
      <p:sp>
        <p:nvSpPr>
          <p:cNvPr id="48" name="Chip"/>
          <p:cNvSpPr/>
          <p:nvPr/>
        </p:nvSpPr>
        <p:spPr>
          <a:xfrm>
            <a:off x="6720840" y="5468112"/>
            <a:ext cx="2191360" cy="384048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TextBox"/>
          <p:cNvSpPr txBox="1"/>
          <p:nvPr/>
        </p:nvSpPr>
        <p:spPr>
          <a:xfrm>
            <a:off x="6720840" y="5468112"/>
            <a:ext cx="21913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1200" b="1" spc="2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高卒でも成功できる</a:t>
            </a:r>
          </a:p>
        </p:txBody>
      </p:sp>
      <p:sp>
        <p:nvSpPr>
          <p:cNvPr id="50" name="Chip"/>
          <p:cNvSpPr/>
          <p:nvPr/>
        </p:nvSpPr>
        <p:spPr>
          <a:xfrm>
            <a:off x="8957920" y="5468112"/>
            <a:ext cx="411480" cy="384048"/>
          </a:xfrm>
          <a:prstGeom prst="roundRect">
            <a:avLst>
              <a:gd name="adj" fmla="val 50000"/>
            </a:avLst>
          </a:prstGeom>
          <a:solidFill>
            <a:srgbClr val="FF3D8A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TextBox"/>
          <p:cNvSpPr txBox="1"/>
          <p:nvPr/>
        </p:nvSpPr>
        <p:spPr>
          <a:xfrm>
            <a:off x="8957920" y="5468112"/>
            <a:ext cx="4114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1500" b="1" spc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≠</a:t>
            </a:r>
          </a:p>
        </p:txBody>
      </p:sp>
      <p:sp>
        <p:nvSpPr>
          <p:cNvPr id="52" name="Chip"/>
          <p:cNvSpPr/>
          <p:nvPr/>
        </p:nvSpPr>
        <p:spPr>
          <a:xfrm>
            <a:off x="9415120" y="5468112"/>
            <a:ext cx="2191360" cy="384048"/>
          </a:xfrm>
          <a:prstGeom prst="roundRect">
            <a:avLst>
              <a:gd name="adj" fmla="val 50000"/>
            </a:avLst>
          </a:prstGeom>
          <a:solidFill>
            <a:srgbClr val="FF3D8A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TextBox"/>
          <p:cNvSpPr txBox="1"/>
          <p:nvPr/>
        </p:nvSpPr>
        <p:spPr>
          <a:xfrm>
            <a:off x="9415120" y="5468112"/>
            <a:ext cx="21913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1200" b="1" spc="2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今いる場所だけで
価値を決めなくていい</a:t>
            </a:r>
          </a:p>
        </p:txBody>
      </p:sp>
      <p:cxnSp>
        <p:nvCxnSpPr>
          <p:cNvPr id="54" name="Line"/>
          <p:cNvCxnSpPr/>
          <p:nvPr/>
        </p:nvCxnSpPr>
        <p:spPr>
          <a:xfrm>
            <a:off x="585216" y="6455664"/>
            <a:ext cx="11021263" cy="914"/>
          </a:xfrm>
          <a:prstGeom prst="line">
            <a:avLst/>
          </a:prstGeom>
          <a:ln w="12700" cap="rnd">
            <a:solidFill>
              <a:srgbClr val="FF3D8A"/>
            </a:solidFill>
            <a:headEnd type="none"/>
            <a:tailEnd type="none"/>
          </a:ln>
        </p:spPr>
      </p:cxnSp>
      <p:sp>
        <p:nvSpPr>
          <p:cNvPr id="55" name="TextBox"/>
          <p:cNvSpPr txBox="1"/>
          <p:nvPr/>
        </p:nvSpPr>
        <p:spPr>
          <a:xfrm>
            <a:off x="585216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850" spc="1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JINJIB ― 高卒採用・進路選択マーケティング戦略提案   /   TikTok 案1 逆張り・逆転型</a:t>
            </a:r>
          </a:p>
        </p:txBody>
      </p:sp>
      <p:sp>
        <p:nvSpPr>
          <p:cNvPr id="56" name="TextBox"/>
          <p:cNvSpPr txBox="1"/>
          <p:nvPr/>
        </p:nvSpPr>
        <p:spPr>
          <a:xfrm>
            <a:off x="10326319" y="6473952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r"/>
            <a:r>
              <a:rPr lang="ja-JP" sz="1300" b="1" spc="20" dirty="0">
                <a:solidFill>
                  <a:srgbClr val="FF3D8A"/>
                </a:solidFill>
                <a:latin typeface="Montserrat"/>
                <a:ea typeface="Montserrat"/>
                <a:cs typeface="Montserrat"/>
              </a:rPr>
              <a:t>03</a:t>
            </a:r>
            <a:r>
              <a:rPr lang="ja-JP" sz="1000" dirty="0">
                <a:solidFill>
                  <a:srgbClr val="1A1A1A"/>
                </a:solidFill>
                <a:latin typeface="Montserrat"/>
                <a:ea typeface="Montserrat"/>
                <a:cs typeface="Montserrat"/>
              </a:rPr>
              <a:t> / 22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GrpSp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Kicker Tick"/>
          <p:cNvSpPr/>
          <p:nvPr/>
        </p:nvSpPr>
        <p:spPr>
          <a:xfrm>
            <a:off x="585216" y="457200"/>
            <a:ext cx="292608" cy="64008"/>
          </a:xfrm>
          <a:prstGeom prst="rect">
            <a:avLst/>
          </a:prstGeom>
          <a:solidFill>
            <a:srgbClr val="FF3D8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"/>
          <p:cNvSpPr txBox="1"/>
          <p:nvPr/>
        </p:nvSpPr>
        <p:spPr>
          <a:xfrm>
            <a:off x="969264" y="365760"/>
            <a:ext cx="7315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1250" b="1" spc="60" dirty="0">
                <a:solidFill>
                  <a:srgbClr val="FF3D8A"/>
                </a:solidFill>
                <a:latin typeface="Montserrat"/>
                <a:ea typeface="Montserrat"/>
                <a:cs typeface="Montserrat"/>
              </a:rPr>
              <a:t>TIKTOK CASE 01  </a:t>
            </a:r>
            <a:r>
              <a:rPr lang="ja-JP" sz="1100" b="1" spc="2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逆張り・逆転型 ／ 世界観・価値訴求ポイント</a:t>
            </a:r>
          </a:p>
        </p:txBody>
      </p:sp>
      <p:sp>
        <p:nvSpPr>
          <p:cNvPr id="5" name="Subhead Mark"/>
          <p:cNvSpPr/>
          <p:nvPr/>
        </p:nvSpPr>
        <p:spPr>
          <a:xfrm>
            <a:off x="585216" y="896112"/>
            <a:ext cx="146304" cy="146304"/>
          </a:xfrm>
          <a:prstGeom prst="rect">
            <a:avLst/>
          </a:prstGeom>
          <a:solidFill>
            <a:srgbClr val="FF3D8A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extBox"/>
          <p:cNvSpPr txBox="1"/>
          <p:nvPr/>
        </p:nvSpPr>
        <p:spPr>
          <a:xfrm>
            <a:off x="804672" y="850392"/>
            <a:ext cx="10801807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1100" b="1" spc="30" dirty="0">
                <a:solidFill>
                  <a:srgbClr val="FF3D8A"/>
                </a:solidFill>
                <a:latin typeface="Montserrat"/>
                <a:ea typeface="Montserrat"/>
                <a:cs typeface="Montserrat"/>
              </a:rPr>
              <a:t>WORLDVIEW  </a:t>
            </a:r>
            <a:r>
              <a:rPr lang="ja-JP" sz="130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世界観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585216" y="1188720"/>
            <a:ext cx="11021263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48000"/>
              </a:lnSpc>
            </a:pPr>
            <a:r>
              <a:rPr lang="ja-JP" sz="11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舞台は教室・廊下・通学路・進路指導室・放課後・家。「こういう子いる」と思える日常に、逆転・意外性・立場の変化という強い感情を重ねる。非現実的な成功物語にはしない。</a:t>
            </a:r>
          </a:p>
        </p:txBody>
      </p:sp>
      <p:sp>
        <p:nvSpPr>
          <p:cNvPr id="8" name="Photo Frame 1"/>
          <p:cNvSpPr/>
          <p:nvPr/>
        </p:nvSpPr>
        <p:spPr>
          <a:xfrm>
            <a:off x="585216" y="2148840"/>
            <a:ext cx="3564026" cy="2331720"/>
          </a:xfrm>
          <a:prstGeom prst="rect">
            <a:avLst/>
          </a:prstGeom>
          <a:solidFill>
            <a:srgbClr val="FFFFFF"/>
          </a:solidFill>
          <a:ln w="15875" cap="flat">
            <a:solidFill>
              <a:srgbClr val="FF3D8A"/>
            </a:solidFill>
            <a:round/>
          </a:ln>
        </p:spPr>
        <p:txBody>
          <a:bodyPr/>
          <a:lstStyle/>
          <a:p/>
        </p:txBody>
      </p:sp>
      <p:cxnSp>
        <p:nvCxnSpPr>
          <p:cNvPr id="9" name="Line"/>
          <p:cNvCxnSpPr/>
          <p:nvPr/>
        </p:nvCxnSpPr>
        <p:spPr>
          <a:xfrm>
            <a:off x="713232" y="4078224"/>
            <a:ext cx="3307994" cy="914"/>
          </a:xfrm>
          <a:prstGeom prst="line">
            <a:avLst/>
          </a:prstGeom>
          <a:ln w="9525" cap="rnd">
            <a:solidFill>
              <a:srgbClr val="FF3D8A"/>
            </a:solidFill>
            <a:headEnd type="none"/>
            <a:tailEnd type="none"/>
          </a:ln>
        </p:spPr>
      </p:cxnSp>
      <p:sp>
        <p:nvSpPr>
          <p:cNvPr id="10" name="TextBox"/>
          <p:cNvSpPr txBox="1"/>
          <p:nvPr/>
        </p:nvSpPr>
        <p:spPr>
          <a:xfrm>
            <a:off x="713232" y="2848356"/>
            <a:ext cx="3307994" cy="839419"/>
          </a:xfrm>
          <a:prstGeom prst="rect">
            <a:avLst/>
          </a:prstGeom>
          <a:noFill/>
          <a:ln>
            <a:noFill/>
          </a:ln>
        </p:spPr>
        <p:txBody>
          <a:bodyPr wrap="square" anchor="b" lIns="45720" rIns="45720" tIns="27432" bIns="27432"/>
          <a:lstStyle/>
          <a:p>
            <a:pPr algn="ctr"/>
            <a:r>
              <a:rPr lang="ja-JP" sz="2000" b="1" spc="40" dirty="0">
                <a:solidFill>
                  <a:srgbClr val="FF3D8A"/>
                </a:solidFill>
                <a:latin typeface="Montserrat"/>
                <a:ea typeface="Montserrat"/>
                <a:cs typeface="Montserrat"/>
              </a:rPr>
              <a:t>PHOTO 01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713232" y="4114800"/>
            <a:ext cx="3307994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教室 / 授業中</a:t>
            </a:r>
          </a:p>
        </p:txBody>
      </p:sp>
      <p:sp>
        <p:nvSpPr>
          <p:cNvPr id="12" name="Photo Frame 2"/>
          <p:cNvSpPr/>
          <p:nvPr/>
        </p:nvSpPr>
        <p:spPr>
          <a:xfrm>
            <a:off x="4313834" y="2148840"/>
            <a:ext cx="3564026" cy="2331720"/>
          </a:xfrm>
          <a:prstGeom prst="rect">
            <a:avLst/>
          </a:prstGeom>
          <a:solidFill>
            <a:srgbClr val="FFFFFF"/>
          </a:solidFill>
          <a:ln w="15875" cap="flat">
            <a:solidFill>
              <a:srgbClr val="FF3D8A"/>
            </a:solidFill>
            <a:round/>
          </a:ln>
        </p:spPr>
        <p:txBody>
          <a:bodyPr/>
          <a:lstStyle/>
          <a:p/>
        </p:txBody>
      </p:sp>
      <p:cxnSp>
        <p:nvCxnSpPr>
          <p:cNvPr id="13" name="Line"/>
          <p:cNvCxnSpPr/>
          <p:nvPr/>
        </p:nvCxnSpPr>
        <p:spPr>
          <a:xfrm>
            <a:off x="4441850" y="4078224"/>
            <a:ext cx="3307994" cy="914"/>
          </a:xfrm>
          <a:prstGeom prst="line">
            <a:avLst/>
          </a:prstGeom>
          <a:ln w="9525" cap="rnd">
            <a:solidFill>
              <a:srgbClr val="FF3D8A"/>
            </a:solidFill>
            <a:headEnd type="none"/>
            <a:tailEnd type="none"/>
          </a:ln>
        </p:spPr>
      </p:cxnSp>
      <p:sp>
        <p:nvSpPr>
          <p:cNvPr id="14" name="TextBox"/>
          <p:cNvSpPr txBox="1"/>
          <p:nvPr/>
        </p:nvSpPr>
        <p:spPr>
          <a:xfrm>
            <a:off x="4441850" y="2848356"/>
            <a:ext cx="3307994" cy="839419"/>
          </a:xfrm>
          <a:prstGeom prst="rect">
            <a:avLst/>
          </a:prstGeom>
          <a:noFill/>
          <a:ln>
            <a:noFill/>
          </a:ln>
        </p:spPr>
        <p:txBody>
          <a:bodyPr wrap="square" anchor="b" lIns="45720" rIns="45720" tIns="27432" bIns="27432"/>
          <a:lstStyle/>
          <a:p>
            <a:pPr algn="ctr"/>
            <a:r>
              <a:rPr lang="ja-JP" sz="2000" b="1" spc="40" dirty="0">
                <a:solidFill>
                  <a:srgbClr val="FF3D8A"/>
                </a:solidFill>
                <a:latin typeface="Montserrat"/>
                <a:ea typeface="Montserrat"/>
                <a:cs typeface="Montserrat"/>
              </a:rPr>
              <a:t>PHOTO 02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4441850" y="4114800"/>
            <a:ext cx="3307994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進路指導室 / 面談</a:t>
            </a:r>
          </a:p>
        </p:txBody>
      </p:sp>
      <p:sp>
        <p:nvSpPr>
          <p:cNvPr id="16" name="Photo Frame 3"/>
          <p:cNvSpPr/>
          <p:nvPr/>
        </p:nvSpPr>
        <p:spPr>
          <a:xfrm>
            <a:off x="8042453" y="2148840"/>
            <a:ext cx="3564026" cy="2331720"/>
          </a:xfrm>
          <a:prstGeom prst="rect">
            <a:avLst/>
          </a:prstGeom>
          <a:solidFill>
            <a:srgbClr val="FFFFFF"/>
          </a:solidFill>
          <a:ln w="15875" cap="flat">
            <a:solidFill>
              <a:srgbClr val="FF3D8A"/>
            </a:solidFill>
            <a:round/>
          </a:ln>
        </p:spPr>
        <p:txBody>
          <a:bodyPr/>
          <a:lstStyle/>
          <a:p/>
        </p:txBody>
      </p:sp>
      <p:cxnSp>
        <p:nvCxnSpPr>
          <p:cNvPr id="17" name="Line"/>
          <p:cNvCxnSpPr/>
          <p:nvPr/>
        </p:nvCxnSpPr>
        <p:spPr>
          <a:xfrm>
            <a:off x="8170469" y="4078224"/>
            <a:ext cx="3307994" cy="914"/>
          </a:xfrm>
          <a:prstGeom prst="line">
            <a:avLst/>
          </a:prstGeom>
          <a:ln w="9525" cap="rnd">
            <a:solidFill>
              <a:srgbClr val="FF3D8A"/>
            </a:solidFill>
            <a:headEnd type="none"/>
            <a:tailEnd type="none"/>
          </a:ln>
        </p:spPr>
      </p:cxnSp>
      <p:sp>
        <p:nvSpPr>
          <p:cNvPr id="18" name="TextBox"/>
          <p:cNvSpPr txBox="1"/>
          <p:nvPr/>
        </p:nvSpPr>
        <p:spPr>
          <a:xfrm>
            <a:off x="8170469" y="2848356"/>
            <a:ext cx="3307994" cy="839419"/>
          </a:xfrm>
          <a:prstGeom prst="rect">
            <a:avLst/>
          </a:prstGeom>
          <a:noFill/>
          <a:ln>
            <a:noFill/>
          </a:ln>
        </p:spPr>
        <p:txBody>
          <a:bodyPr wrap="square" anchor="b" lIns="45720" rIns="45720" tIns="27432" bIns="27432"/>
          <a:lstStyle/>
          <a:p>
            <a:pPr algn="ctr"/>
            <a:r>
              <a:rPr lang="ja-JP" sz="2000" b="1" spc="40" dirty="0">
                <a:solidFill>
                  <a:srgbClr val="FF3D8A"/>
                </a:solidFill>
                <a:latin typeface="Montserrat"/>
                <a:ea typeface="Montserrat"/>
                <a:cs typeface="Montserrat"/>
              </a:rPr>
              <a:t>PHOTO 03</a:t>
            </a:r>
          </a:p>
        </p:txBody>
      </p:sp>
      <p:sp>
        <p:nvSpPr>
          <p:cNvPr id="19" name="TextBox"/>
          <p:cNvSpPr txBox="1"/>
          <p:nvPr/>
        </p:nvSpPr>
        <p:spPr>
          <a:xfrm>
            <a:off x="8170469" y="4114800"/>
            <a:ext cx="3307994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放課後 / 帰り道</a:t>
            </a:r>
          </a:p>
        </p:txBody>
      </p:sp>
      <p:sp>
        <p:nvSpPr>
          <p:cNvPr id="20" name="Subhead Mark"/>
          <p:cNvSpPr/>
          <p:nvPr/>
        </p:nvSpPr>
        <p:spPr>
          <a:xfrm>
            <a:off x="585216" y="4828032"/>
            <a:ext cx="146304" cy="146304"/>
          </a:xfrm>
          <a:prstGeom prst="rect">
            <a:avLst/>
          </a:prstGeom>
          <a:solidFill>
            <a:srgbClr val="FF3D8A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TextBox"/>
          <p:cNvSpPr txBox="1"/>
          <p:nvPr/>
        </p:nvSpPr>
        <p:spPr>
          <a:xfrm>
            <a:off x="804672" y="4782312"/>
            <a:ext cx="10801807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1100" b="1" spc="30" dirty="0">
                <a:solidFill>
                  <a:srgbClr val="FF3D8A"/>
                </a:solidFill>
                <a:latin typeface="Montserrat"/>
                <a:ea typeface="Montserrat"/>
                <a:cs typeface="Montserrat"/>
              </a:rPr>
              <a:t>VALUE POINT  </a:t>
            </a:r>
            <a:r>
              <a:rPr lang="ja-JP" sz="130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価値訴求ポイント</a:t>
            </a:r>
          </a:p>
        </p:txBody>
      </p:sp>
      <p:sp>
        <p:nvSpPr>
          <p:cNvPr id="22" name="Chip"/>
          <p:cNvSpPr/>
          <p:nvPr/>
        </p:nvSpPr>
        <p:spPr>
          <a:xfrm>
            <a:off x="585216" y="5138928"/>
            <a:ext cx="3165132" cy="420624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Box"/>
          <p:cNvSpPr txBox="1"/>
          <p:nvPr/>
        </p:nvSpPr>
        <p:spPr>
          <a:xfrm>
            <a:off x="585216" y="5138928"/>
            <a:ext cx="3165132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1200" b="1" spc="2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高卒でも成功できる</a:t>
            </a:r>
          </a:p>
        </p:txBody>
      </p:sp>
      <p:sp>
        <p:nvSpPr>
          <p:cNvPr id="24" name="Chip"/>
          <p:cNvSpPr/>
          <p:nvPr/>
        </p:nvSpPr>
        <p:spPr>
          <a:xfrm>
            <a:off x="3796068" y="5138928"/>
            <a:ext cx="411480" cy="420624"/>
          </a:xfrm>
          <a:prstGeom prst="roundRect">
            <a:avLst>
              <a:gd name="adj" fmla="val 50000"/>
            </a:avLst>
          </a:prstGeom>
          <a:solidFill>
            <a:srgbClr val="FF3D8A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TextBox"/>
          <p:cNvSpPr txBox="1"/>
          <p:nvPr/>
        </p:nvSpPr>
        <p:spPr>
          <a:xfrm>
            <a:off x="3796068" y="5138928"/>
            <a:ext cx="411480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1500" b="1" spc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≠</a:t>
            </a:r>
          </a:p>
        </p:txBody>
      </p:sp>
      <p:sp>
        <p:nvSpPr>
          <p:cNvPr id="26" name="Chip"/>
          <p:cNvSpPr/>
          <p:nvPr/>
        </p:nvSpPr>
        <p:spPr>
          <a:xfrm>
            <a:off x="4253268" y="5138928"/>
            <a:ext cx="3165132" cy="420624"/>
          </a:xfrm>
          <a:prstGeom prst="roundRect">
            <a:avLst>
              <a:gd name="adj" fmla="val 50000"/>
            </a:avLst>
          </a:prstGeom>
          <a:solidFill>
            <a:srgbClr val="FF3D8A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TextBox"/>
          <p:cNvSpPr txBox="1"/>
          <p:nvPr/>
        </p:nvSpPr>
        <p:spPr>
          <a:xfrm>
            <a:off x="4253268" y="5138928"/>
            <a:ext cx="3165132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1200" b="1" spc="2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今いる場所だけで
価値を決めなくていい</a:t>
            </a:r>
          </a:p>
        </p:txBody>
      </p:sp>
      <p:sp>
        <p:nvSpPr>
          <p:cNvPr id="28" name="TextBox"/>
          <p:cNvSpPr txBox="1"/>
          <p:nvPr/>
        </p:nvSpPr>
        <p:spPr>
          <a:xfrm>
            <a:off x="8079675" y="5111496"/>
            <a:ext cx="3526804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40000"/>
              </a:lnSpc>
            </a:pPr>
            <a:r>
              <a:rPr lang="ja-JP" sz="100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届けたいのは「高卒でも成功できる」ではなく、</a:t>
            </a:r>
          </a:p>
          <a:p>
            <a:pPr algn="l">
              <a:lnSpc>
                <a:spcPct val="140000"/>
              </a:lnSpc>
            </a:pPr>
            <a:r>
              <a:rPr lang="ja-JP" sz="100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選択肢そのものへの見方を変えること。</a:t>
            </a:r>
          </a:p>
        </p:txBody>
      </p:sp>
      <p:cxnSp>
        <p:nvCxnSpPr>
          <p:cNvPr id="29" name="Line"/>
          <p:cNvCxnSpPr/>
          <p:nvPr/>
        </p:nvCxnSpPr>
        <p:spPr>
          <a:xfrm>
            <a:off x="585216" y="6455664"/>
            <a:ext cx="11021263" cy="914"/>
          </a:xfrm>
          <a:prstGeom prst="line">
            <a:avLst/>
          </a:prstGeom>
          <a:ln w="12700" cap="rnd">
            <a:solidFill>
              <a:srgbClr val="FF3D8A"/>
            </a:solidFill>
            <a:headEnd type="none"/>
            <a:tailEnd type="none"/>
          </a:ln>
        </p:spPr>
      </p:cxnSp>
      <p:sp>
        <p:nvSpPr>
          <p:cNvPr id="30" name="TextBox"/>
          <p:cNvSpPr txBox="1"/>
          <p:nvPr/>
        </p:nvSpPr>
        <p:spPr>
          <a:xfrm>
            <a:off x="585216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850" spc="1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JINJIB ― 高卒採用・進路選択マーケティング戦略提案   /   TikTok 案1 逆張り・逆転型</a:t>
            </a:r>
          </a:p>
        </p:txBody>
      </p:sp>
      <p:sp>
        <p:nvSpPr>
          <p:cNvPr id="31" name="TextBox"/>
          <p:cNvSpPr txBox="1"/>
          <p:nvPr/>
        </p:nvSpPr>
        <p:spPr>
          <a:xfrm>
            <a:off x="10326319" y="6473952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r"/>
            <a:r>
              <a:rPr lang="ja-JP" sz="1300" b="1" spc="20" dirty="0">
                <a:solidFill>
                  <a:srgbClr val="FF3D8A"/>
                </a:solidFill>
                <a:latin typeface="Montserrat"/>
                <a:ea typeface="Montserrat"/>
                <a:cs typeface="Montserrat"/>
              </a:rPr>
              <a:t>04</a:t>
            </a:r>
            <a:r>
              <a:rPr lang="ja-JP" sz="1000" dirty="0">
                <a:solidFill>
                  <a:srgbClr val="1A1A1A"/>
                </a:solidFill>
                <a:latin typeface="Montserrat"/>
                <a:ea typeface="Montserrat"/>
                <a:cs typeface="Montserrat"/>
              </a:rPr>
              <a:t> / 22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GrpSp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Kicker Tick"/>
          <p:cNvSpPr/>
          <p:nvPr/>
        </p:nvSpPr>
        <p:spPr>
          <a:xfrm>
            <a:off x="585216" y="457200"/>
            <a:ext cx="292608" cy="64008"/>
          </a:xfrm>
          <a:prstGeom prst="rect">
            <a:avLst/>
          </a:prstGeom>
          <a:solidFill>
            <a:srgbClr val="FF3D8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"/>
          <p:cNvSpPr txBox="1"/>
          <p:nvPr/>
        </p:nvSpPr>
        <p:spPr>
          <a:xfrm>
            <a:off x="969264" y="365760"/>
            <a:ext cx="7315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1250" b="1" spc="60" dirty="0">
                <a:solidFill>
                  <a:srgbClr val="FF3D8A"/>
                </a:solidFill>
                <a:latin typeface="Montserrat"/>
                <a:ea typeface="Montserrat"/>
                <a:cs typeface="Montserrat"/>
              </a:rPr>
              <a:t>TIKTOK CASE 01  </a:t>
            </a:r>
            <a:r>
              <a:rPr lang="ja-JP" sz="1100" b="1" spc="2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逆張り・逆転型 ／ 勝つためのコンテンツ定義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585216" y="8229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</a:pPr>
            <a:r>
              <a:rPr lang="ja-JP" sz="220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勝つためのコンテンツ定義</a:t>
            </a:r>
          </a:p>
        </p:txBody>
      </p:sp>
      <p:sp>
        <p:nvSpPr>
          <p:cNvPr id="6" name="Subhead Mark"/>
          <p:cNvSpPr/>
          <p:nvPr/>
        </p:nvSpPr>
        <p:spPr>
          <a:xfrm>
            <a:off x="585216" y="1554480"/>
            <a:ext cx="146304" cy="146304"/>
          </a:xfrm>
          <a:prstGeom prst="rect">
            <a:avLst/>
          </a:prstGeom>
          <a:solidFill>
            <a:srgbClr val="FF3D8A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"/>
          <p:cNvSpPr txBox="1"/>
          <p:nvPr/>
        </p:nvSpPr>
        <p:spPr>
          <a:xfrm>
            <a:off x="804672" y="1508760"/>
            <a:ext cx="10801807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1100" b="1" spc="30" dirty="0">
                <a:solidFill>
                  <a:srgbClr val="FF3D8A"/>
                </a:solidFill>
                <a:latin typeface="Montserrat"/>
                <a:ea typeface="Montserrat"/>
                <a:cs typeface="Montserrat"/>
              </a:rPr>
              <a:t>STRUCTURE  </a:t>
            </a:r>
            <a:r>
              <a:rPr lang="ja-JP" sz="130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基本構造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585216" y="1810512"/>
            <a:ext cx="11021263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115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弱点  →  周囲の評価  →  劣等感  →  違う環境  →  評価の変化  →  余韻</a:t>
            </a:r>
          </a:p>
        </p:txBody>
      </p:sp>
      <p:sp>
        <p:nvSpPr>
          <p:cNvPr id="9" name="Chip"/>
          <p:cNvSpPr/>
          <p:nvPr/>
        </p:nvSpPr>
        <p:spPr>
          <a:xfrm>
            <a:off x="585216" y="2286000"/>
            <a:ext cx="2604440" cy="292608"/>
          </a:xfrm>
          <a:prstGeom prst="roundRect">
            <a:avLst>
              <a:gd name="adj" fmla="val 50000"/>
            </a:avLst>
          </a:prstGeom>
          <a:solidFill>
            <a:srgbClr val="FF3D8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Box"/>
          <p:cNvSpPr txBox="1"/>
          <p:nvPr/>
        </p:nvSpPr>
        <p:spPr>
          <a:xfrm>
            <a:off x="585216" y="2286000"/>
            <a:ext cx="26044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1000" b="1" spc="2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01  HOOK</a:t>
            </a:r>
          </a:p>
        </p:txBody>
      </p:sp>
      <p:sp>
        <p:nvSpPr>
          <p:cNvPr id="11" name="Phone 3"/>
          <p:cNvSpPr/>
          <p:nvPr/>
        </p:nvSpPr>
        <p:spPr>
          <a:xfrm>
            <a:off x="1282318" y="2706624"/>
            <a:ext cx="1210235" cy="2468880"/>
          </a:xfrm>
          <a:prstGeom prst="roundRect">
            <a:avLst>
              <a:gd name="adj" fmla="val 11000"/>
            </a:avLst>
          </a:prstGeom>
          <a:solidFill>
            <a:srgbClr val="1A1A1A"/>
          </a:solidFill>
          <a:ln w="15875" cap="flat">
            <a:solidFill>
              <a:srgbClr val="FF3D8A"/>
            </a:solidFill>
            <a:round/>
          </a:ln>
        </p:spPr>
        <p:txBody>
          <a:bodyPr/>
          <a:lstStyle/>
          <a:p/>
        </p:txBody>
      </p:sp>
      <p:sp>
        <p:nvSpPr>
          <p:cNvPr id="12" name="Screen"/>
          <p:cNvSpPr/>
          <p:nvPr/>
        </p:nvSpPr>
        <p:spPr>
          <a:xfrm>
            <a:off x="1350898" y="2823210"/>
            <a:ext cx="1073075" cy="22631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Notch"/>
          <p:cNvSpPr/>
          <p:nvPr/>
        </p:nvSpPr>
        <p:spPr>
          <a:xfrm>
            <a:off x="1731988" y="2744343"/>
            <a:ext cx="310896" cy="41148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Home Indicator"/>
          <p:cNvSpPr/>
          <p:nvPr/>
        </p:nvSpPr>
        <p:spPr>
          <a:xfrm>
            <a:off x="1741132" y="5100066"/>
            <a:ext cx="292608" cy="27432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App Bar"/>
          <p:cNvSpPr/>
          <p:nvPr/>
        </p:nvSpPr>
        <p:spPr>
          <a:xfrm>
            <a:off x="1350898" y="2823210"/>
            <a:ext cx="1073075" cy="146304"/>
          </a:xfrm>
          <a:prstGeom prst="rect">
            <a:avLst/>
          </a:prstGeom>
          <a:solidFill>
            <a:srgbClr val="FF3D8A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Box"/>
          <p:cNvSpPr txBox="1"/>
          <p:nvPr/>
        </p:nvSpPr>
        <p:spPr>
          <a:xfrm>
            <a:off x="1350898" y="2823210"/>
            <a:ext cx="1073075" cy="146304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750" b="1" spc="3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TIKTOK</a:t>
            </a:r>
          </a:p>
        </p:txBody>
      </p:sp>
      <p:sp>
        <p:nvSpPr>
          <p:cNvPr id="17" name="TextBox"/>
          <p:cNvSpPr txBox="1"/>
          <p:nvPr/>
        </p:nvSpPr>
        <p:spPr>
          <a:xfrm>
            <a:off x="1405762" y="2969514"/>
            <a:ext cx="963347" cy="2116836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39" b="1" spc="20" dirty="0">
                <a:solidFill>
                  <a:srgbClr val="FF3D8A"/>
                </a:solidFill>
                <a:latin typeface="Montserrat"/>
                <a:ea typeface="Montserrat"/>
                <a:cs typeface="Montserrat"/>
              </a:rPr>
              <a:t>IMAGE 03</a:t>
            </a:r>
          </a:p>
        </p:txBody>
      </p:sp>
      <p:sp>
        <p:nvSpPr>
          <p:cNvPr id="18" name="Chip"/>
          <p:cNvSpPr/>
          <p:nvPr/>
        </p:nvSpPr>
        <p:spPr>
          <a:xfrm>
            <a:off x="3390824" y="2286000"/>
            <a:ext cx="2604440" cy="292608"/>
          </a:xfrm>
          <a:prstGeom prst="roundRect">
            <a:avLst>
              <a:gd name="adj" fmla="val 50000"/>
            </a:avLst>
          </a:prstGeom>
          <a:solidFill>
            <a:srgbClr val="FF3D8A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TextBox"/>
          <p:cNvSpPr txBox="1"/>
          <p:nvPr/>
        </p:nvSpPr>
        <p:spPr>
          <a:xfrm>
            <a:off x="3390824" y="2286000"/>
            <a:ext cx="26044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1000" b="1" spc="2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02  CONFLICT</a:t>
            </a:r>
          </a:p>
        </p:txBody>
      </p:sp>
      <p:sp>
        <p:nvSpPr>
          <p:cNvPr id="20" name="Phone 4"/>
          <p:cNvSpPr/>
          <p:nvPr/>
        </p:nvSpPr>
        <p:spPr>
          <a:xfrm>
            <a:off x="4087926" y="2706624"/>
            <a:ext cx="1210235" cy="2468880"/>
          </a:xfrm>
          <a:prstGeom prst="roundRect">
            <a:avLst>
              <a:gd name="adj" fmla="val 11000"/>
            </a:avLst>
          </a:prstGeom>
          <a:solidFill>
            <a:srgbClr val="1A1A1A"/>
          </a:solidFill>
          <a:ln w="15875" cap="flat">
            <a:solidFill>
              <a:srgbClr val="FF3D8A"/>
            </a:solidFill>
            <a:round/>
          </a:ln>
        </p:spPr>
        <p:txBody>
          <a:bodyPr/>
          <a:lstStyle/>
          <a:p/>
        </p:txBody>
      </p:sp>
      <p:sp>
        <p:nvSpPr>
          <p:cNvPr id="21" name="Screen"/>
          <p:cNvSpPr/>
          <p:nvPr/>
        </p:nvSpPr>
        <p:spPr>
          <a:xfrm>
            <a:off x="4156506" y="2823210"/>
            <a:ext cx="1073075" cy="22631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Notch"/>
          <p:cNvSpPr/>
          <p:nvPr/>
        </p:nvSpPr>
        <p:spPr>
          <a:xfrm>
            <a:off x="4537596" y="2744343"/>
            <a:ext cx="310896" cy="41148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Home Indicator"/>
          <p:cNvSpPr/>
          <p:nvPr/>
        </p:nvSpPr>
        <p:spPr>
          <a:xfrm>
            <a:off x="4546740" y="5100066"/>
            <a:ext cx="292608" cy="27432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App Bar"/>
          <p:cNvSpPr/>
          <p:nvPr/>
        </p:nvSpPr>
        <p:spPr>
          <a:xfrm>
            <a:off x="4156506" y="2823210"/>
            <a:ext cx="1073075" cy="146304"/>
          </a:xfrm>
          <a:prstGeom prst="rect">
            <a:avLst/>
          </a:prstGeom>
          <a:solidFill>
            <a:srgbClr val="FF3D8A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TextBox"/>
          <p:cNvSpPr txBox="1"/>
          <p:nvPr/>
        </p:nvSpPr>
        <p:spPr>
          <a:xfrm>
            <a:off x="4156506" y="2823210"/>
            <a:ext cx="1073075" cy="146304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750" b="1" spc="3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TIKTOK</a:t>
            </a:r>
          </a:p>
        </p:txBody>
      </p:sp>
      <p:sp>
        <p:nvSpPr>
          <p:cNvPr id="26" name="TextBox"/>
          <p:cNvSpPr txBox="1"/>
          <p:nvPr/>
        </p:nvSpPr>
        <p:spPr>
          <a:xfrm>
            <a:off x="4211370" y="2969514"/>
            <a:ext cx="963347" cy="2116836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39" b="1" spc="20" dirty="0">
                <a:solidFill>
                  <a:srgbClr val="FF3D8A"/>
                </a:solidFill>
                <a:latin typeface="Montserrat"/>
                <a:ea typeface="Montserrat"/>
                <a:cs typeface="Montserrat"/>
              </a:rPr>
              <a:t>IMAGE 04</a:t>
            </a:r>
          </a:p>
        </p:txBody>
      </p:sp>
      <p:sp>
        <p:nvSpPr>
          <p:cNvPr id="27" name="Chip"/>
          <p:cNvSpPr/>
          <p:nvPr/>
        </p:nvSpPr>
        <p:spPr>
          <a:xfrm>
            <a:off x="6196432" y="2286000"/>
            <a:ext cx="2604440" cy="292608"/>
          </a:xfrm>
          <a:prstGeom prst="roundRect">
            <a:avLst>
              <a:gd name="adj" fmla="val 50000"/>
            </a:avLst>
          </a:prstGeom>
          <a:solidFill>
            <a:srgbClr val="FF3D8A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TextBox"/>
          <p:cNvSpPr txBox="1"/>
          <p:nvPr/>
        </p:nvSpPr>
        <p:spPr>
          <a:xfrm>
            <a:off x="6196432" y="2286000"/>
            <a:ext cx="26044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1000" b="1" spc="2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03  TURN</a:t>
            </a:r>
          </a:p>
        </p:txBody>
      </p:sp>
      <p:sp>
        <p:nvSpPr>
          <p:cNvPr id="29" name="Phone 5"/>
          <p:cNvSpPr/>
          <p:nvPr/>
        </p:nvSpPr>
        <p:spPr>
          <a:xfrm>
            <a:off x="6893534" y="2706624"/>
            <a:ext cx="1210235" cy="2468880"/>
          </a:xfrm>
          <a:prstGeom prst="roundRect">
            <a:avLst>
              <a:gd name="adj" fmla="val 11000"/>
            </a:avLst>
          </a:prstGeom>
          <a:solidFill>
            <a:srgbClr val="1A1A1A"/>
          </a:solidFill>
          <a:ln w="15875" cap="flat">
            <a:solidFill>
              <a:srgbClr val="FF3D8A"/>
            </a:solidFill>
            <a:round/>
          </a:ln>
        </p:spPr>
        <p:txBody>
          <a:bodyPr/>
          <a:lstStyle/>
          <a:p/>
        </p:txBody>
      </p:sp>
      <p:sp>
        <p:nvSpPr>
          <p:cNvPr id="30" name="Screen"/>
          <p:cNvSpPr/>
          <p:nvPr/>
        </p:nvSpPr>
        <p:spPr>
          <a:xfrm>
            <a:off x="6962114" y="2823210"/>
            <a:ext cx="1073075" cy="22631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Notch"/>
          <p:cNvSpPr/>
          <p:nvPr/>
        </p:nvSpPr>
        <p:spPr>
          <a:xfrm>
            <a:off x="7343204" y="2744343"/>
            <a:ext cx="310896" cy="41148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Home Indicator"/>
          <p:cNvSpPr/>
          <p:nvPr/>
        </p:nvSpPr>
        <p:spPr>
          <a:xfrm>
            <a:off x="7352348" y="5100066"/>
            <a:ext cx="292608" cy="27432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App Bar"/>
          <p:cNvSpPr/>
          <p:nvPr/>
        </p:nvSpPr>
        <p:spPr>
          <a:xfrm>
            <a:off x="6962114" y="2823210"/>
            <a:ext cx="1073075" cy="146304"/>
          </a:xfrm>
          <a:prstGeom prst="rect">
            <a:avLst/>
          </a:prstGeom>
          <a:solidFill>
            <a:srgbClr val="FF3D8A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TextBox"/>
          <p:cNvSpPr txBox="1"/>
          <p:nvPr/>
        </p:nvSpPr>
        <p:spPr>
          <a:xfrm>
            <a:off x="6962114" y="2823210"/>
            <a:ext cx="1073075" cy="146304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750" b="1" spc="3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TIKTOK</a:t>
            </a:r>
          </a:p>
        </p:txBody>
      </p:sp>
      <p:sp>
        <p:nvSpPr>
          <p:cNvPr id="35" name="TextBox"/>
          <p:cNvSpPr txBox="1"/>
          <p:nvPr/>
        </p:nvSpPr>
        <p:spPr>
          <a:xfrm>
            <a:off x="7016978" y="2969514"/>
            <a:ext cx="963347" cy="2116836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39" b="1" spc="20" dirty="0">
                <a:solidFill>
                  <a:srgbClr val="FF3D8A"/>
                </a:solidFill>
                <a:latin typeface="Montserrat"/>
                <a:ea typeface="Montserrat"/>
                <a:cs typeface="Montserrat"/>
              </a:rPr>
              <a:t>IMAGE 05</a:t>
            </a:r>
          </a:p>
        </p:txBody>
      </p:sp>
      <p:sp>
        <p:nvSpPr>
          <p:cNvPr id="36" name="Chip"/>
          <p:cNvSpPr/>
          <p:nvPr/>
        </p:nvSpPr>
        <p:spPr>
          <a:xfrm>
            <a:off x="9002039" y="2286000"/>
            <a:ext cx="2604440" cy="292608"/>
          </a:xfrm>
          <a:prstGeom prst="roundRect">
            <a:avLst>
              <a:gd name="adj" fmla="val 50000"/>
            </a:avLst>
          </a:prstGeom>
          <a:solidFill>
            <a:srgbClr val="FF3D8A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TextBox"/>
          <p:cNvSpPr txBox="1"/>
          <p:nvPr/>
        </p:nvSpPr>
        <p:spPr>
          <a:xfrm>
            <a:off x="9002039" y="2286000"/>
            <a:ext cx="26044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1000" b="1" spc="2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04  AFTER</a:t>
            </a:r>
          </a:p>
        </p:txBody>
      </p:sp>
      <p:sp>
        <p:nvSpPr>
          <p:cNvPr id="38" name="Phone 6"/>
          <p:cNvSpPr/>
          <p:nvPr/>
        </p:nvSpPr>
        <p:spPr>
          <a:xfrm>
            <a:off x="9699142" y="2706624"/>
            <a:ext cx="1210235" cy="2468880"/>
          </a:xfrm>
          <a:prstGeom prst="roundRect">
            <a:avLst>
              <a:gd name="adj" fmla="val 11000"/>
            </a:avLst>
          </a:prstGeom>
          <a:solidFill>
            <a:srgbClr val="1A1A1A"/>
          </a:solidFill>
          <a:ln w="15875" cap="flat">
            <a:solidFill>
              <a:srgbClr val="FF3D8A"/>
            </a:solidFill>
            <a:round/>
          </a:ln>
        </p:spPr>
        <p:txBody>
          <a:bodyPr/>
          <a:lstStyle/>
          <a:p/>
        </p:txBody>
      </p:sp>
      <p:sp>
        <p:nvSpPr>
          <p:cNvPr id="39" name="Screen"/>
          <p:cNvSpPr/>
          <p:nvPr/>
        </p:nvSpPr>
        <p:spPr>
          <a:xfrm>
            <a:off x="9767722" y="2823210"/>
            <a:ext cx="1073075" cy="22631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Notch"/>
          <p:cNvSpPr/>
          <p:nvPr/>
        </p:nvSpPr>
        <p:spPr>
          <a:xfrm>
            <a:off x="10148811" y="2744343"/>
            <a:ext cx="310896" cy="41148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Home Indicator"/>
          <p:cNvSpPr/>
          <p:nvPr/>
        </p:nvSpPr>
        <p:spPr>
          <a:xfrm>
            <a:off x="10157955" y="5100066"/>
            <a:ext cx="292608" cy="27432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App Bar"/>
          <p:cNvSpPr/>
          <p:nvPr/>
        </p:nvSpPr>
        <p:spPr>
          <a:xfrm>
            <a:off x="9767722" y="2823210"/>
            <a:ext cx="1073075" cy="146304"/>
          </a:xfrm>
          <a:prstGeom prst="rect">
            <a:avLst/>
          </a:prstGeom>
          <a:solidFill>
            <a:srgbClr val="FF3D8A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TextBox"/>
          <p:cNvSpPr txBox="1"/>
          <p:nvPr/>
        </p:nvSpPr>
        <p:spPr>
          <a:xfrm>
            <a:off x="9767722" y="2823210"/>
            <a:ext cx="1073075" cy="146304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750" b="1" spc="3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TIKTOK</a:t>
            </a:r>
          </a:p>
        </p:txBody>
      </p:sp>
      <p:sp>
        <p:nvSpPr>
          <p:cNvPr id="44" name="TextBox"/>
          <p:cNvSpPr txBox="1"/>
          <p:nvPr/>
        </p:nvSpPr>
        <p:spPr>
          <a:xfrm>
            <a:off x="9822586" y="2969514"/>
            <a:ext cx="963347" cy="2116836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39" b="1" spc="20" dirty="0">
                <a:solidFill>
                  <a:srgbClr val="FF3D8A"/>
                </a:solidFill>
                <a:latin typeface="Montserrat"/>
                <a:ea typeface="Montserrat"/>
                <a:cs typeface="Montserrat"/>
              </a:rPr>
              <a:t>IMAGE 06</a:t>
            </a:r>
          </a:p>
        </p:txBody>
      </p:sp>
      <p:sp>
        <p:nvSpPr>
          <p:cNvPr id="45" name="Subhead Mark"/>
          <p:cNvSpPr/>
          <p:nvPr/>
        </p:nvSpPr>
        <p:spPr>
          <a:xfrm>
            <a:off x="585216" y="5449824"/>
            <a:ext cx="146304" cy="146304"/>
          </a:xfrm>
          <a:prstGeom prst="rect">
            <a:avLst/>
          </a:prstGeom>
          <a:solidFill>
            <a:srgbClr val="FF3D8A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TextBox"/>
          <p:cNvSpPr txBox="1"/>
          <p:nvPr/>
        </p:nvSpPr>
        <p:spPr>
          <a:xfrm>
            <a:off x="804672" y="5404104"/>
            <a:ext cx="10801807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1100" b="1" spc="30" dirty="0">
                <a:solidFill>
                  <a:srgbClr val="FF3D8A"/>
                </a:solidFill>
                <a:latin typeface="Montserrat"/>
                <a:ea typeface="Montserrat"/>
                <a:cs typeface="Montserrat"/>
              </a:rPr>
              <a:t>EXAMPLES  </a:t>
            </a:r>
            <a:r>
              <a:rPr lang="ja-JP" sz="130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企画例</a:t>
            </a:r>
          </a:p>
        </p:txBody>
      </p:sp>
      <p:sp>
        <p:nvSpPr>
          <p:cNvPr id="47" name="TextBox"/>
          <p:cNvSpPr txBox="1"/>
          <p:nvPr/>
        </p:nvSpPr>
        <p:spPr>
          <a:xfrm>
            <a:off x="585216" y="5742432"/>
            <a:ext cx="3536594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32000"/>
              </a:lnSpc>
            </a:pPr>
            <a:r>
              <a:rPr lang="ja-JP" sz="9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学年最下位の僕が、会社では一番最初に名前を覚えられた。</a:t>
            </a:r>
          </a:p>
        </p:txBody>
      </p:sp>
      <p:sp>
        <p:nvSpPr>
          <p:cNvPr id="48" name="TextBox"/>
          <p:cNvSpPr txBox="1"/>
          <p:nvPr/>
        </p:nvSpPr>
        <p:spPr>
          <a:xfrm>
            <a:off x="4258970" y="5742432"/>
            <a:ext cx="3536594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32000"/>
              </a:lnSpc>
            </a:pPr>
            <a:r>
              <a:rPr lang="ja-JP" sz="9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先生に向いてないと言われた仕事で、初めて褒められた。</a:t>
            </a:r>
          </a:p>
        </p:txBody>
      </p:sp>
      <p:sp>
        <p:nvSpPr>
          <p:cNvPr id="49" name="TextBox"/>
          <p:cNvSpPr txBox="1"/>
          <p:nvPr/>
        </p:nvSpPr>
        <p:spPr>
          <a:xfrm>
            <a:off x="7932725" y="5742432"/>
            <a:ext cx="3536594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32000"/>
              </a:lnSpc>
            </a:pPr>
            <a:r>
              <a:rPr lang="ja-JP" sz="9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学校では問題児。職場では「行動が早い新人」だった。</a:t>
            </a:r>
          </a:p>
        </p:txBody>
      </p:sp>
      <p:cxnSp>
        <p:nvCxnSpPr>
          <p:cNvPr id="50" name="Line"/>
          <p:cNvCxnSpPr/>
          <p:nvPr/>
        </p:nvCxnSpPr>
        <p:spPr>
          <a:xfrm>
            <a:off x="585216" y="6455664"/>
            <a:ext cx="11021263" cy="914"/>
          </a:xfrm>
          <a:prstGeom prst="line">
            <a:avLst/>
          </a:prstGeom>
          <a:ln w="12700" cap="rnd">
            <a:solidFill>
              <a:srgbClr val="FF3D8A"/>
            </a:solidFill>
            <a:headEnd type="none"/>
            <a:tailEnd type="none"/>
          </a:ln>
        </p:spPr>
      </p:cxnSp>
      <p:sp>
        <p:nvSpPr>
          <p:cNvPr id="51" name="TextBox"/>
          <p:cNvSpPr txBox="1"/>
          <p:nvPr/>
        </p:nvSpPr>
        <p:spPr>
          <a:xfrm>
            <a:off x="585216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850" spc="1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JINJIB ― 高卒採用・進路選択マーケティング戦略提案   /   TikTok 案1 逆張り・逆転型</a:t>
            </a:r>
          </a:p>
        </p:txBody>
      </p:sp>
      <p:sp>
        <p:nvSpPr>
          <p:cNvPr id="52" name="TextBox"/>
          <p:cNvSpPr txBox="1"/>
          <p:nvPr/>
        </p:nvSpPr>
        <p:spPr>
          <a:xfrm>
            <a:off x="10326319" y="6473952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r"/>
            <a:r>
              <a:rPr lang="ja-JP" sz="1300" b="1" spc="20" dirty="0">
                <a:solidFill>
                  <a:srgbClr val="FF3D8A"/>
                </a:solidFill>
                <a:latin typeface="Montserrat"/>
                <a:ea typeface="Montserrat"/>
                <a:cs typeface="Montserrat"/>
              </a:rPr>
              <a:t>05</a:t>
            </a:r>
            <a:r>
              <a:rPr lang="ja-JP" sz="1000" dirty="0">
                <a:solidFill>
                  <a:srgbClr val="1A1A1A"/>
                </a:solidFill>
                <a:latin typeface="Montserrat"/>
                <a:ea typeface="Montserrat"/>
                <a:cs typeface="Montserrat"/>
              </a:rPr>
              <a:t> / 22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GrpSp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Kicker Tick"/>
          <p:cNvSpPr/>
          <p:nvPr/>
        </p:nvSpPr>
        <p:spPr>
          <a:xfrm>
            <a:off x="585216" y="457200"/>
            <a:ext cx="292608" cy="64008"/>
          </a:xfrm>
          <a:prstGeom prst="rect">
            <a:avLst/>
          </a:prstGeom>
          <a:solidFill>
            <a:srgbClr val="00C2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"/>
          <p:cNvSpPr txBox="1"/>
          <p:nvPr/>
        </p:nvSpPr>
        <p:spPr>
          <a:xfrm>
            <a:off x="969264" y="365760"/>
            <a:ext cx="7315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1250" b="1" spc="60" dirty="0">
                <a:solidFill>
                  <a:srgbClr val="00C2D1"/>
                </a:solidFill>
                <a:latin typeface="Montserrat"/>
                <a:ea typeface="Montserrat"/>
                <a:cs typeface="Montserrat"/>
              </a:rPr>
              <a:t>TIKTOK CASE 02  </a:t>
            </a:r>
            <a:r>
              <a:rPr lang="ja-JP" sz="1100" b="1" spc="2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青春・可能性型 ／ アカウント設計・全体コンセプト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585216" y="822960"/>
            <a:ext cx="594360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20000"/>
              </a:lnSpc>
            </a:pPr>
            <a:r>
              <a:rPr lang="ja-JP" sz="280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違う道を選ぶのが、</a:t>
            </a:r>
          </a:p>
          <a:p>
            <a:pPr algn="l">
              <a:lnSpc>
                <a:spcPct val="120000"/>
              </a:lnSpc>
            </a:pPr>
            <a:r>
              <a:rPr lang="ja-JP" sz="280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一番怖かった。</a:t>
            </a:r>
          </a:p>
        </p:txBody>
      </p:sp>
      <p:sp>
        <p:nvSpPr>
          <p:cNvPr id="6" name="Subhead Mark"/>
          <p:cNvSpPr/>
          <p:nvPr/>
        </p:nvSpPr>
        <p:spPr>
          <a:xfrm>
            <a:off x="585216" y="2148840"/>
            <a:ext cx="146304" cy="146304"/>
          </a:xfrm>
          <a:prstGeom prst="rect">
            <a:avLst/>
          </a:prstGeom>
          <a:solidFill>
            <a:srgbClr val="00C2D1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"/>
          <p:cNvSpPr txBox="1"/>
          <p:nvPr/>
        </p:nvSpPr>
        <p:spPr>
          <a:xfrm>
            <a:off x="804672" y="2103120"/>
            <a:ext cx="558698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1100" b="1" spc="30" dirty="0">
                <a:solidFill>
                  <a:srgbClr val="00C2D1"/>
                </a:solidFill>
                <a:latin typeface="Montserrat"/>
                <a:ea typeface="Montserrat"/>
                <a:cs typeface="Montserrat"/>
              </a:rPr>
              <a:t>ACCOUNT DESIGN  </a:t>
            </a:r>
            <a:r>
              <a:rPr lang="ja-JP" sz="130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アカウント設計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585216" y="2450592"/>
            <a:ext cx="580644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45000"/>
              </a:lnSpc>
            </a:pPr>
            <a:r>
              <a:rPr lang="ja-JP" sz="110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進路は大学・専門・就職だけじゃない。親友、恋人、家族、先生、部活 ―</a:t>
            </a:r>
          </a:p>
          <a:p>
            <a:pPr algn="l">
              <a:lnSpc>
                <a:spcPct val="145000"/>
              </a:lnSpc>
            </a:pPr>
            <a:r>
              <a:rPr lang="ja-JP" sz="110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それまで一緒だった人たちと、初めて違う道へ進む時期を描く。</a:t>
            </a:r>
          </a:p>
          <a:p>
            <a:pPr algn="l">
              <a:lnSpc>
                <a:spcPct val="145000"/>
              </a:lnSpc>
            </a:pPr>
            <a:r>
              <a:rPr lang="ja-JP" sz="110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進学か就職かではなく、周りと違う選択をする「怖さ」が主題。</a:t>
            </a:r>
          </a:p>
        </p:txBody>
      </p:sp>
      <p:sp>
        <p:nvSpPr>
          <p:cNvPr id="9" name="Chip"/>
          <p:cNvSpPr/>
          <p:nvPr/>
        </p:nvSpPr>
        <p:spPr>
          <a:xfrm>
            <a:off x="585216" y="3520440"/>
            <a:ext cx="129341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 cap="flat">
            <a:solidFill>
              <a:srgbClr val="1A1A1A"/>
            </a:solidFill>
            <a:round/>
          </a:ln>
        </p:spPr>
        <p:txBody>
          <a:bodyPr/>
          <a:lstStyle/>
          <a:p/>
        </p:txBody>
      </p:sp>
      <p:sp>
        <p:nvSpPr>
          <p:cNvPr id="10" name="TextBox"/>
          <p:cNvSpPr txBox="1"/>
          <p:nvPr/>
        </p:nvSpPr>
        <p:spPr>
          <a:xfrm>
            <a:off x="585216" y="3520440"/>
            <a:ext cx="1293419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00" b="1" spc="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親友は大学、自分は就職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1878635" y="3520440"/>
            <a:ext cx="22494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1200" b="1" dirty="0">
                <a:solidFill>
                  <a:srgbClr val="00C2D1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12" name="Chip"/>
          <p:cNvSpPr/>
          <p:nvPr/>
        </p:nvSpPr>
        <p:spPr>
          <a:xfrm>
            <a:off x="2103577" y="3520440"/>
            <a:ext cx="1293419" cy="365760"/>
          </a:xfrm>
          <a:prstGeom prst="roundRect">
            <a:avLst>
              <a:gd name="adj" fmla="val 50000"/>
            </a:avLst>
          </a:prstGeom>
          <a:solidFill>
            <a:srgbClr val="00C2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Box"/>
          <p:cNvSpPr txBox="1"/>
          <p:nvPr/>
        </p:nvSpPr>
        <p:spPr>
          <a:xfrm>
            <a:off x="2103577" y="3520440"/>
            <a:ext cx="1293419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00" b="1" spc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後ろめたさ</a:t>
            </a:r>
          </a:p>
        </p:txBody>
      </p:sp>
      <p:sp>
        <p:nvSpPr>
          <p:cNvPr id="14" name="Chip"/>
          <p:cNvSpPr/>
          <p:nvPr/>
        </p:nvSpPr>
        <p:spPr>
          <a:xfrm>
            <a:off x="3579876" y="3520440"/>
            <a:ext cx="129341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 cap="flat">
            <a:solidFill>
              <a:srgbClr val="1A1A1A"/>
            </a:solidFill>
            <a:round/>
          </a:ln>
        </p:spPr>
        <p:txBody>
          <a:bodyPr/>
          <a:lstStyle/>
          <a:p/>
        </p:txBody>
      </p:sp>
      <p:sp>
        <p:nvSpPr>
          <p:cNvPr id="15" name="TextBox"/>
          <p:cNvSpPr txBox="1"/>
          <p:nvPr/>
        </p:nvSpPr>
        <p:spPr>
          <a:xfrm>
            <a:off x="3579876" y="3520440"/>
            <a:ext cx="1293419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00" b="1" spc="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彼女に進路を聞かれる</a:t>
            </a:r>
          </a:p>
        </p:txBody>
      </p:sp>
      <p:sp>
        <p:nvSpPr>
          <p:cNvPr id="16" name="TextBox"/>
          <p:cNvSpPr txBox="1"/>
          <p:nvPr/>
        </p:nvSpPr>
        <p:spPr>
          <a:xfrm>
            <a:off x="4873295" y="3520440"/>
            <a:ext cx="22494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1200" b="1" dirty="0">
                <a:solidFill>
                  <a:srgbClr val="00C2D1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17" name="Chip"/>
          <p:cNvSpPr/>
          <p:nvPr/>
        </p:nvSpPr>
        <p:spPr>
          <a:xfrm>
            <a:off x="5098237" y="3520440"/>
            <a:ext cx="1293419" cy="365760"/>
          </a:xfrm>
          <a:prstGeom prst="roundRect">
            <a:avLst>
              <a:gd name="adj" fmla="val 50000"/>
            </a:avLst>
          </a:prstGeom>
          <a:solidFill>
            <a:srgbClr val="00C2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TextBox"/>
          <p:cNvSpPr txBox="1"/>
          <p:nvPr/>
        </p:nvSpPr>
        <p:spPr>
          <a:xfrm>
            <a:off x="5098237" y="3520440"/>
            <a:ext cx="1293419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00" b="1" spc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気まずさ</a:t>
            </a:r>
          </a:p>
        </p:txBody>
      </p:sp>
      <p:sp>
        <p:nvSpPr>
          <p:cNvPr id="19" name="Chip"/>
          <p:cNvSpPr/>
          <p:nvPr/>
        </p:nvSpPr>
        <p:spPr>
          <a:xfrm>
            <a:off x="585216" y="4087368"/>
            <a:ext cx="129341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 cap="flat">
            <a:solidFill>
              <a:srgbClr val="1A1A1A"/>
            </a:solidFill>
            <a:round/>
          </a:ln>
        </p:spPr>
        <p:txBody>
          <a:bodyPr/>
          <a:lstStyle/>
          <a:p/>
        </p:txBody>
      </p:sp>
      <p:sp>
        <p:nvSpPr>
          <p:cNvPr id="20" name="TextBox"/>
          <p:cNvSpPr txBox="1"/>
          <p:nvPr/>
        </p:nvSpPr>
        <p:spPr>
          <a:xfrm>
            <a:off x="585216" y="4087368"/>
            <a:ext cx="1293419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00" b="1" spc="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卒業式で進路を話す</a:t>
            </a:r>
          </a:p>
        </p:txBody>
      </p:sp>
      <p:sp>
        <p:nvSpPr>
          <p:cNvPr id="21" name="TextBox"/>
          <p:cNvSpPr txBox="1"/>
          <p:nvPr/>
        </p:nvSpPr>
        <p:spPr>
          <a:xfrm>
            <a:off x="1878635" y="4087368"/>
            <a:ext cx="22494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1200" b="1" dirty="0">
                <a:solidFill>
                  <a:srgbClr val="00C2D1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22" name="Chip"/>
          <p:cNvSpPr/>
          <p:nvPr/>
        </p:nvSpPr>
        <p:spPr>
          <a:xfrm>
            <a:off x="2103577" y="4087368"/>
            <a:ext cx="1293419" cy="365760"/>
          </a:xfrm>
          <a:prstGeom prst="roundRect">
            <a:avLst>
              <a:gd name="adj" fmla="val 50000"/>
            </a:avLst>
          </a:prstGeom>
          <a:solidFill>
            <a:srgbClr val="00C2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Box"/>
          <p:cNvSpPr txBox="1"/>
          <p:nvPr/>
        </p:nvSpPr>
        <p:spPr>
          <a:xfrm>
            <a:off x="2103577" y="4087368"/>
            <a:ext cx="1293419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00" b="1" spc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勇気</a:t>
            </a:r>
          </a:p>
        </p:txBody>
      </p:sp>
      <p:sp>
        <p:nvSpPr>
          <p:cNvPr id="24" name="Chip"/>
          <p:cNvSpPr/>
          <p:nvPr/>
        </p:nvSpPr>
        <p:spPr>
          <a:xfrm>
            <a:off x="3579876" y="4087368"/>
            <a:ext cx="129341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 cap="flat">
            <a:solidFill>
              <a:srgbClr val="1A1A1A"/>
            </a:solidFill>
            <a:round/>
          </a:ln>
        </p:spPr>
        <p:txBody>
          <a:bodyPr/>
          <a:lstStyle/>
          <a:p/>
        </p:txBody>
      </p:sp>
      <p:sp>
        <p:nvSpPr>
          <p:cNvPr id="25" name="TextBox"/>
          <p:cNvSpPr txBox="1"/>
          <p:nvPr/>
        </p:nvSpPr>
        <p:spPr>
          <a:xfrm>
            <a:off x="3579876" y="4087368"/>
            <a:ext cx="1293419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00" b="1" spc="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みんな進学、自分だけ違う</a:t>
            </a:r>
          </a:p>
        </p:txBody>
      </p:sp>
      <p:sp>
        <p:nvSpPr>
          <p:cNvPr id="26" name="TextBox"/>
          <p:cNvSpPr txBox="1"/>
          <p:nvPr/>
        </p:nvSpPr>
        <p:spPr>
          <a:xfrm>
            <a:off x="4873295" y="4087368"/>
            <a:ext cx="22494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1200" b="1" dirty="0">
                <a:solidFill>
                  <a:srgbClr val="00C2D1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27" name="Chip"/>
          <p:cNvSpPr/>
          <p:nvPr/>
        </p:nvSpPr>
        <p:spPr>
          <a:xfrm>
            <a:off x="5098237" y="4087368"/>
            <a:ext cx="1293419" cy="365760"/>
          </a:xfrm>
          <a:prstGeom prst="roundRect">
            <a:avLst>
              <a:gd name="adj" fmla="val 50000"/>
            </a:avLst>
          </a:prstGeom>
          <a:solidFill>
            <a:srgbClr val="00C2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TextBox"/>
          <p:cNvSpPr txBox="1"/>
          <p:nvPr/>
        </p:nvSpPr>
        <p:spPr>
          <a:xfrm>
            <a:off x="5098237" y="4087368"/>
            <a:ext cx="1293419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00" b="1" spc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孤独感</a:t>
            </a:r>
          </a:p>
        </p:txBody>
      </p:sp>
      <p:sp>
        <p:nvSpPr>
          <p:cNvPr id="29" name="Subhead Mark"/>
          <p:cNvSpPr/>
          <p:nvPr/>
        </p:nvSpPr>
        <p:spPr>
          <a:xfrm>
            <a:off x="585216" y="5029200"/>
            <a:ext cx="146304" cy="146304"/>
          </a:xfrm>
          <a:prstGeom prst="rect">
            <a:avLst/>
          </a:prstGeom>
          <a:solidFill>
            <a:srgbClr val="00C2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TextBox"/>
          <p:cNvSpPr txBox="1"/>
          <p:nvPr/>
        </p:nvSpPr>
        <p:spPr>
          <a:xfrm>
            <a:off x="804672" y="4983480"/>
            <a:ext cx="558698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1100" b="1" spc="30" dirty="0">
                <a:solidFill>
                  <a:srgbClr val="00C2D1"/>
                </a:solidFill>
                <a:latin typeface="Montserrat"/>
                <a:ea typeface="Montserrat"/>
                <a:cs typeface="Montserrat"/>
              </a:rPr>
              <a:t>CONCEPT  </a:t>
            </a:r>
            <a:r>
              <a:rPr lang="ja-JP" sz="130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全体コンセプト</a:t>
            </a:r>
          </a:p>
        </p:txBody>
      </p:sp>
      <p:sp>
        <p:nvSpPr>
          <p:cNvPr id="31" name="TextBox"/>
          <p:cNvSpPr txBox="1"/>
          <p:nvPr/>
        </p:nvSpPr>
        <p:spPr>
          <a:xfrm>
            <a:off x="585216" y="5321808"/>
            <a:ext cx="580644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45000"/>
              </a:lnSpc>
            </a:pPr>
            <a:r>
              <a:rPr lang="ja-JP" sz="110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違う道を選ぶことは、負けではない。周囲との比較ではなく、自分の選択に向き合う瞬間を丁寧に描く。</a:t>
            </a:r>
          </a:p>
        </p:txBody>
      </p:sp>
      <p:sp>
        <p:nvSpPr>
          <p:cNvPr id="32" name="Phone 21"/>
          <p:cNvSpPr/>
          <p:nvPr/>
        </p:nvSpPr>
        <p:spPr>
          <a:xfrm>
            <a:off x="7095606" y="868680"/>
            <a:ext cx="1930893" cy="3977640"/>
          </a:xfrm>
          <a:prstGeom prst="roundRect">
            <a:avLst>
              <a:gd name="adj" fmla="val 11000"/>
            </a:avLst>
          </a:prstGeom>
          <a:solidFill>
            <a:srgbClr val="1A1A1A"/>
          </a:solidFill>
          <a:ln w="15875" cap="flat">
            <a:solidFill>
              <a:srgbClr val="00C2D1"/>
            </a:solidFill>
            <a:round/>
          </a:ln>
        </p:spPr>
        <p:txBody>
          <a:bodyPr/>
          <a:lstStyle/>
          <a:p/>
        </p:txBody>
      </p:sp>
      <p:sp>
        <p:nvSpPr>
          <p:cNvPr id="33" name="Screen"/>
          <p:cNvSpPr/>
          <p:nvPr/>
        </p:nvSpPr>
        <p:spPr>
          <a:xfrm>
            <a:off x="7164186" y="985266"/>
            <a:ext cx="1793733" cy="377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Notch"/>
          <p:cNvSpPr/>
          <p:nvPr/>
        </p:nvSpPr>
        <p:spPr>
          <a:xfrm>
            <a:off x="7905605" y="906399"/>
            <a:ext cx="310896" cy="41148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Home Indicator"/>
          <p:cNvSpPr/>
          <p:nvPr/>
        </p:nvSpPr>
        <p:spPr>
          <a:xfrm>
            <a:off x="7914749" y="4770882"/>
            <a:ext cx="292608" cy="27432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App Bar"/>
          <p:cNvSpPr/>
          <p:nvPr/>
        </p:nvSpPr>
        <p:spPr>
          <a:xfrm>
            <a:off x="7164186" y="985266"/>
            <a:ext cx="1793733" cy="146304"/>
          </a:xfrm>
          <a:prstGeom prst="rect">
            <a:avLst/>
          </a:prstGeom>
          <a:solidFill>
            <a:srgbClr val="00C2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TextBox"/>
          <p:cNvSpPr txBox="1"/>
          <p:nvPr/>
        </p:nvSpPr>
        <p:spPr>
          <a:xfrm>
            <a:off x="7164186" y="985266"/>
            <a:ext cx="1793733" cy="146304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750" b="1" spc="3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TIKTOK</a:t>
            </a:r>
          </a:p>
        </p:txBody>
      </p:sp>
      <p:sp>
        <p:nvSpPr>
          <p:cNvPr id="38" name="TextBox"/>
          <p:cNvSpPr txBox="1"/>
          <p:nvPr/>
        </p:nvSpPr>
        <p:spPr>
          <a:xfrm>
            <a:off x="7219050" y="1131570"/>
            <a:ext cx="1684005" cy="3625596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1569" b="1" spc="20" dirty="0">
                <a:solidFill>
                  <a:srgbClr val="00C2D1"/>
                </a:solidFill>
                <a:latin typeface="Montserrat"/>
                <a:ea typeface="Montserrat"/>
                <a:cs typeface="Montserrat"/>
              </a:rPr>
              <a:t>IMAGE 21</a:t>
            </a:r>
          </a:p>
        </p:txBody>
      </p:sp>
      <p:sp>
        <p:nvSpPr>
          <p:cNvPr id="39" name="TextBox"/>
          <p:cNvSpPr txBox="1"/>
          <p:nvPr/>
        </p:nvSpPr>
        <p:spPr>
          <a:xfrm>
            <a:off x="7095606" y="4892040"/>
            <a:ext cx="1930893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ctr"/>
            <a:r>
              <a:rPr lang="ja-JP" sz="8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Before</a:t>
            </a:r>
          </a:p>
        </p:txBody>
      </p:sp>
      <p:sp>
        <p:nvSpPr>
          <p:cNvPr id="40" name="Phone 22"/>
          <p:cNvSpPr/>
          <p:nvPr/>
        </p:nvSpPr>
        <p:spPr>
          <a:xfrm>
            <a:off x="9300820" y="868680"/>
            <a:ext cx="1930893" cy="3977640"/>
          </a:xfrm>
          <a:prstGeom prst="roundRect">
            <a:avLst>
              <a:gd name="adj" fmla="val 11000"/>
            </a:avLst>
          </a:prstGeom>
          <a:solidFill>
            <a:srgbClr val="1A1A1A"/>
          </a:solidFill>
          <a:ln w="15875" cap="flat">
            <a:solidFill>
              <a:srgbClr val="00C2D1"/>
            </a:solidFill>
            <a:round/>
          </a:ln>
        </p:spPr>
        <p:txBody>
          <a:bodyPr/>
          <a:lstStyle/>
          <a:p/>
        </p:txBody>
      </p:sp>
      <p:sp>
        <p:nvSpPr>
          <p:cNvPr id="41" name="Screen"/>
          <p:cNvSpPr/>
          <p:nvPr/>
        </p:nvSpPr>
        <p:spPr>
          <a:xfrm>
            <a:off x="9369400" y="985266"/>
            <a:ext cx="1793733" cy="377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Notch"/>
          <p:cNvSpPr/>
          <p:nvPr/>
        </p:nvSpPr>
        <p:spPr>
          <a:xfrm>
            <a:off x="10110818" y="906399"/>
            <a:ext cx="310896" cy="41148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Home Indicator"/>
          <p:cNvSpPr/>
          <p:nvPr/>
        </p:nvSpPr>
        <p:spPr>
          <a:xfrm>
            <a:off x="10119962" y="4770882"/>
            <a:ext cx="292608" cy="27432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App Bar"/>
          <p:cNvSpPr/>
          <p:nvPr/>
        </p:nvSpPr>
        <p:spPr>
          <a:xfrm>
            <a:off x="9369400" y="985266"/>
            <a:ext cx="1793733" cy="146304"/>
          </a:xfrm>
          <a:prstGeom prst="rect">
            <a:avLst/>
          </a:prstGeom>
          <a:solidFill>
            <a:srgbClr val="00C2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TextBox"/>
          <p:cNvSpPr txBox="1"/>
          <p:nvPr/>
        </p:nvSpPr>
        <p:spPr>
          <a:xfrm>
            <a:off x="9369400" y="985266"/>
            <a:ext cx="1793733" cy="146304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750" b="1" spc="3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TIKTOK</a:t>
            </a:r>
          </a:p>
        </p:txBody>
      </p:sp>
      <p:sp>
        <p:nvSpPr>
          <p:cNvPr id="46" name="TextBox"/>
          <p:cNvSpPr txBox="1"/>
          <p:nvPr/>
        </p:nvSpPr>
        <p:spPr>
          <a:xfrm>
            <a:off x="9424264" y="1131570"/>
            <a:ext cx="1684005" cy="3625596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1569" b="1" spc="20" dirty="0">
                <a:solidFill>
                  <a:srgbClr val="00C2D1"/>
                </a:solidFill>
                <a:latin typeface="Montserrat"/>
                <a:ea typeface="Montserrat"/>
                <a:cs typeface="Montserrat"/>
              </a:rPr>
              <a:t>IMAGE 22</a:t>
            </a:r>
          </a:p>
        </p:txBody>
      </p:sp>
      <p:sp>
        <p:nvSpPr>
          <p:cNvPr id="47" name="TextBox"/>
          <p:cNvSpPr txBox="1"/>
          <p:nvPr/>
        </p:nvSpPr>
        <p:spPr>
          <a:xfrm>
            <a:off x="9300820" y="4892040"/>
            <a:ext cx="1930893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ctr"/>
            <a:r>
              <a:rPr lang="ja-JP" sz="8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After</a:t>
            </a:r>
          </a:p>
        </p:txBody>
      </p:sp>
      <p:sp>
        <p:nvSpPr>
          <p:cNvPr id="48" name="Chip"/>
          <p:cNvSpPr/>
          <p:nvPr/>
        </p:nvSpPr>
        <p:spPr>
          <a:xfrm>
            <a:off x="6720840" y="5468112"/>
            <a:ext cx="21685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 cap="flat">
            <a:solidFill>
              <a:srgbClr val="1A1A1A"/>
            </a:solidFill>
            <a:round/>
          </a:ln>
        </p:spPr>
        <p:txBody>
          <a:bodyPr/>
          <a:lstStyle/>
          <a:p/>
        </p:txBody>
      </p:sp>
      <p:sp>
        <p:nvSpPr>
          <p:cNvPr id="49" name="TextBox"/>
          <p:cNvSpPr txBox="1"/>
          <p:nvPr/>
        </p:nvSpPr>
        <p:spPr>
          <a:xfrm>
            <a:off x="6720840" y="5468112"/>
            <a:ext cx="21685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1150" b="1" spc="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これ自分も思ってる。</a:t>
            </a:r>
          </a:p>
        </p:txBody>
      </p:sp>
      <p:cxnSp>
        <p:nvCxnSpPr>
          <p:cNvPr id="50" name="Line"/>
          <p:cNvCxnSpPr/>
          <p:nvPr/>
        </p:nvCxnSpPr>
        <p:spPr>
          <a:xfrm>
            <a:off x="8962492" y="5660136"/>
            <a:ext cx="384048" cy="914"/>
          </a:xfrm>
          <a:prstGeom prst="line">
            <a:avLst/>
          </a:prstGeom>
          <a:ln w="22225" cap="rnd">
            <a:solidFill>
              <a:srgbClr val="00C2D1"/>
            </a:solidFill>
            <a:headEnd type="none"/>
            <a:tailEnd type="triangle" w="med" len="med"/>
          </a:ln>
        </p:spPr>
      </p:cxnSp>
      <p:sp>
        <p:nvSpPr>
          <p:cNvPr id="51" name="Chip"/>
          <p:cNvSpPr/>
          <p:nvPr/>
        </p:nvSpPr>
        <p:spPr>
          <a:xfrm>
            <a:off x="9437980" y="5468112"/>
            <a:ext cx="2168500" cy="384048"/>
          </a:xfrm>
          <a:prstGeom prst="roundRect">
            <a:avLst>
              <a:gd name="adj" fmla="val 50000"/>
            </a:avLst>
          </a:prstGeom>
          <a:solidFill>
            <a:srgbClr val="00C2D1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TextBox"/>
          <p:cNvSpPr txBox="1"/>
          <p:nvPr/>
        </p:nvSpPr>
        <p:spPr>
          <a:xfrm>
            <a:off x="9437980" y="5468112"/>
            <a:ext cx="21685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1150" b="1" spc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周りと同じじゃなくてもいい。</a:t>
            </a:r>
          </a:p>
        </p:txBody>
      </p:sp>
      <p:cxnSp>
        <p:nvCxnSpPr>
          <p:cNvPr id="53" name="Line"/>
          <p:cNvCxnSpPr/>
          <p:nvPr/>
        </p:nvCxnSpPr>
        <p:spPr>
          <a:xfrm>
            <a:off x="585216" y="6455664"/>
            <a:ext cx="11021263" cy="914"/>
          </a:xfrm>
          <a:prstGeom prst="line">
            <a:avLst/>
          </a:prstGeom>
          <a:ln w="12700" cap="rnd">
            <a:solidFill>
              <a:srgbClr val="00C2D1"/>
            </a:solidFill>
            <a:headEnd type="none"/>
            <a:tailEnd type="none"/>
          </a:ln>
        </p:spPr>
      </p:cxnSp>
      <p:sp>
        <p:nvSpPr>
          <p:cNvPr id="54" name="TextBox"/>
          <p:cNvSpPr txBox="1"/>
          <p:nvPr/>
        </p:nvSpPr>
        <p:spPr>
          <a:xfrm>
            <a:off x="585216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850" spc="1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JINJIB ― 高卒採用・進路選択マーケティング戦略提案   /   TikTok 案2 青春・可能性型</a:t>
            </a:r>
          </a:p>
        </p:txBody>
      </p:sp>
      <p:sp>
        <p:nvSpPr>
          <p:cNvPr id="55" name="TextBox"/>
          <p:cNvSpPr txBox="1"/>
          <p:nvPr/>
        </p:nvSpPr>
        <p:spPr>
          <a:xfrm>
            <a:off x="10326319" y="6473952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r"/>
            <a:r>
              <a:rPr lang="ja-JP" sz="1300" b="1" spc="20" dirty="0">
                <a:solidFill>
                  <a:srgbClr val="00C2D1"/>
                </a:solidFill>
                <a:latin typeface="Montserrat"/>
                <a:ea typeface="Montserrat"/>
                <a:cs typeface="Montserrat"/>
              </a:rPr>
              <a:t>06</a:t>
            </a:r>
            <a:r>
              <a:rPr lang="ja-JP" sz="1000" dirty="0">
                <a:solidFill>
                  <a:srgbClr val="1A1A1A"/>
                </a:solidFill>
                <a:latin typeface="Montserrat"/>
                <a:ea typeface="Montserrat"/>
                <a:cs typeface="Montserrat"/>
              </a:rPr>
              <a:t> / 22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GrpSp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Kicker Tick"/>
          <p:cNvSpPr/>
          <p:nvPr/>
        </p:nvSpPr>
        <p:spPr>
          <a:xfrm>
            <a:off x="585216" y="457200"/>
            <a:ext cx="292608" cy="64008"/>
          </a:xfrm>
          <a:prstGeom prst="rect">
            <a:avLst/>
          </a:prstGeom>
          <a:solidFill>
            <a:srgbClr val="00C2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"/>
          <p:cNvSpPr txBox="1"/>
          <p:nvPr/>
        </p:nvSpPr>
        <p:spPr>
          <a:xfrm>
            <a:off x="969264" y="365760"/>
            <a:ext cx="7315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1250" b="1" spc="60" dirty="0">
                <a:solidFill>
                  <a:srgbClr val="00C2D1"/>
                </a:solidFill>
                <a:latin typeface="Montserrat"/>
                <a:ea typeface="Montserrat"/>
                <a:cs typeface="Montserrat"/>
              </a:rPr>
              <a:t>TIKTOK CASE 02  </a:t>
            </a:r>
            <a:r>
              <a:rPr lang="ja-JP" sz="1100" b="1" spc="2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青春・可能性型 ／ 世界観・価値訴求ポイント</a:t>
            </a:r>
          </a:p>
        </p:txBody>
      </p:sp>
      <p:sp>
        <p:nvSpPr>
          <p:cNvPr id="5" name="Subhead Mark"/>
          <p:cNvSpPr/>
          <p:nvPr/>
        </p:nvSpPr>
        <p:spPr>
          <a:xfrm>
            <a:off x="585216" y="896112"/>
            <a:ext cx="146304" cy="146304"/>
          </a:xfrm>
          <a:prstGeom prst="rect">
            <a:avLst/>
          </a:prstGeom>
          <a:solidFill>
            <a:srgbClr val="00C2D1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extBox"/>
          <p:cNvSpPr txBox="1"/>
          <p:nvPr/>
        </p:nvSpPr>
        <p:spPr>
          <a:xfrm>
            <a:off x="804672" y="850392"/>
            <a:ext cx="10801807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1100" b="1" spc="30" dirty="0">
                <a:solidFill>
                  <a:srgbClr val="00C2D1"/>
                </a:solidFill>
                <a:latin typeface="Montserrat"/>
                <a:ea typeface="Montserrat"/>
                <a:cs typeface="Montserrat"/>
              </a:rPr>
              <a:t>WORLDVIEW  </a:t>
            </a:r>
            <a:r>
              <a:rPr lang="ja-JP" sz="130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世界観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585216" y="1188720"/>
            <a:ext cx="11021263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48000"/>
              </a:lnSpc>
            </a:pPr>
            <a:r>
              <a:rPr lang="ja-JP" sz="11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昼休み・帰り道・進路希望調査・卒業式・親との夕食・友達とのLINE。そこに友達との進路の違い、親の期待、恋人との距離、卒業後の不安を重ねる。</a:t>
            </a:r>
          </a:p>
        </p:txBody>
      </p:sp>
      <p:sp>
        <p:nvSpPr>
          <p:cNvPr id="8" name="Photo Frame 4"/>
          <p:cNvSpPr/>
          <p:nvPr/>
        </p:nvSpPr>
        <p:spPr>
          <a:xfrm>
            <a:off x="585216" y="2148840"/>
            <a:ext cx="3564026" cy="2331720"/>
          </a:xfrm>
          <a:prstGeom prst="rect">
            <a:avLst/>
          </a:prstGeom>
          <a:solidFill>
            <a:srgbClr val="FFFFFF"/>
          </a:solidFill>
          <a:ln w="15875" cap="flat">
            <a:solidFill>
              <a:srgbClr val="00C2D1"/>
            </a:solidFill>
            <a:round/>
          </a:ln>
        </p:spPr>
        <p:txBody>
          <a:bodyPr/>
          <a:lstStyle/>
          <a:p/>
        </p:txBody>
      </p:sp>
      <p:cxnSp>
        <p:nvCxnSpPr>
          <p:cNvPr id="9" name="Line"/>
          <p:cNvCxnSpPr/>
          <p:nvPr/>
        </p:nvCxnSpPr>
        <p:spPr>
          <a:xfrm>
            <a:off x="713232" y="4078224"/>
            <a:ext cx="3307994" cy="914"/>
          </a:xfrm>
          <a:prstGeom prst="line">
            <a:avLst/>
          </a:prstGeom>
          <a:ln w="9525" cap="rnd">
            <a:solidFill>
              <a:srgbClr val="00C2D1"/>
            </a:solidFill>
            <a:headEnd type="none"/>
            <a:tailEnd type="none"/>
          </a:ln>
        </p:spPr>
      </p:cxnSp>
      <p:sp>
        <p:nvSpPr>
          <p:cNvPr id="10" name="TextBox"/>
          <p:cNvSpPr txBox="1"/>
          <p:nvPr/>
        </p:nvSpPr>
        <p:spPr>
          <a:xfrm>
            <a:off x="713232" y="2848356"/>
            <a:ext cx="3307994" cy="839419"/>
          </a:xfrm>
          <a:prstGeom prst="rect">
            <a:avLst/>
          </a:prstGeom>
          <a:noFill/>
          <a:ln>
            <a:noFill/>
          </a:ln>
        </p:spPr>
        <p:txBody>
          <a:bodyPr wrap="square" anchor="b" lIns="45720" rIns="45720" tIns="27432" bIns="27432"/>
          <a:lstStyle/>
          <a:p>
            <a:pPr algn="ctr"/>
            <a:r>
              <a:rPr lang="ja-JP" sz="2000" b="1" spc="40" dirty="0">
                <a:solidFill>
                  <a:srgbClr val="00C2D1"/>
                </a:solidFill>
                <a:latin typeface="Montserrat"/>
                <a:ea typeface="Montserrat"/>
                <a:cs typeface="Montserrat"/>
              </a:rPr>
              <a:t>PHOTO 04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713232" y="4114800"/>
            <a:ext cx="3307994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帰り道 / 友達と</a:t>
            </a:r>
          </a:p>
        </p:txBody>
      </p:sp>
      <p:sp>
        <p:nvSpPr>
          <p:cNvPr id="12" name="Photo Frame 5"/>
          <p:cNvSpPr/>
          <p:nvPr/>
        </p:nvSpPr>
        <p:spPr>
          <a:xfrm>
            <a:off x="4313834" y="2148840"/>
            <a:ext cx="3564026" cy="2331720"/>
          </a:xfrm>
          <a:prstGeom prst="rect">
            <a:avLst/>
          </a:prstGeom>
          <a:solidFill>
            <a:srgbClr val="FFFFFF"/>
          </a:solidFill>
          <a:ln w="15875" cap="flat">
            <a:solidFill>
              <a:srgbClr val="00C2D1"/>
            </a:solidFill>
            <a:round/>
          </a:ln>
        </p:spPr>
        <p:txBody>
          <a:bodyPr/>
          <a:lstStyle/>
          <a:p/>
        </p:txBody>
      </p:sp>
      <p:cxnSp>
        <p:nvCxnSpPr>
          <p:cNvPr id="13" name="Line"/>
          <p:cNvCxnSpPr/>
          <p:nvPr/>
        </p:nvCxnSpPr>
        <p:spPr>
          <a:xfrm>
            <a:off x="4441850" y="4078224"/>
            <a:ext cx="3307994" cy="914"/>
          </a:xfrm>
          <a:prstGeom prst="line">
            <a:avLst/>
          </a:prstGeom>
          <a:ln w="9525" cap="rnd">
            <a:solidFill>
              <a:srgbClr val="00C2D1"/>
            </a:solidFill>
            <a:headEnd type="none"/>
            <a:tailEnd type="none"/>
          </a:ln>
        </p:spPr>
      </p:cxnSp>
      <p:sp>
        <p:nvSpPr>
          <p:cNvPr id="14" name="TextBox"/>
          <p:cNvSpPr txBox="1"/>
          <p:nvPr/>
        </p:nvSpPr>
        <p:spPr>
          <a:xfrm>
            <a:off x="4441850" y="2848356"/>
            <a:ext cx="3307994" cy="839419"/>
          </a:xfrm>
          <a:prstGeom prst="rect">
            <a:avLst/>
          </a:prstGeom>
          <a:noFill/>
          <a:ln>
            <a:noFill/>
          </a:ln>
        </p:spPr>
        <p:txBody>
          <a:bodyPr wrap="square" anchor="b" lIns="45720" rIns="45720" tIns="27432" bIns="27432"/>
          <a:lstStyle/>
          <a:p>
            <a:pPr algn="ctr"/>
            <a:r>
              <a:rPr lang="ja-JP" sz="2000" b="1" spc="40" dirty="0">
                <a:solidFill>
                  <a:srgbClr val="00C2D1"/>
                </a:solidFill>
                <a:latin typeface="Montserrat"/>
                <a:ea typeface="Montserrat"/>
                <a:cs typeface="Montserrat"/>
              </a:rPr>
              <a:t>PHOTO 05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4441850" y="4114800"/>
            <a:ext cx="3307994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進路希望調査 / 教室</a:t>
            </a:r>
          </a:p>
        </p:txBody>
      </p:sp>
      <p:sp>
        <p:nvSpPr>
          <p:cNvPr id="16" name="Photo Frame 6"/>
          <p:cNvSpPr/>
          <p:nvPr/>
        </p:nvSpPr>
        <p:spPr>
          <a:xfrm>
            <a:off x="8042453" y="2148840"/>
            <a:ext cx="3564026" cy="2331720"/>
          </a:xfrm>
          <a:prstGeom prst="rect">
            <a:avLst/>
          </a:prstGeom>
          <a:solidFill>
            <a:srgbClr val="FFFFFF"/>
          </a:solidFill>
          <a:ln w="15875" cap="flat">
            <a:solidFill>
              <a:srgbClr val="00C2D1"/>
            </a:solidFill>
            <a:round/>
          </a:ln>
        </p:spPr>
        <p:txBody>
          <a:bodyPr/>
          <a:lstStyle/>
          <a:p/>
        </p:txBody>
      </p:sp>
      <p:cxnSp>
        <p:nvCxnSpPr>
          <p:cNvPr id="17" name="Line"/>
          <p:cNvCxnSpPr/>
          <p:nvPr/>
        </p:nvCxnSpPr>
        <p:spPr>
          <a:xfrm>
            <a:off x="8170469" y="4078224"/>
            <a:ext cx="3307994" cy="914"/>
          </a:xfrm>
          <a:prstGeom prst="line">
            <a:avLst/>
          </a:prstGeom>
          <a:ln w="9525" cap="rnd">
            <a:solidFill>
              <a:srgbClr val="00C2D1"/>
            </a:solidFill>
            <a:headEnd type="none"/>
            <a:tailEnd type="none"/>
          </a:ln>
        </p:spPr>
      </p:cxnSp>
      <p:sp>
        <p:nvSpPr>
          <p:cNvPr id="18" name="TextBox"/>
          <p:cNvSpPr txBox="1"/>
          <p:nvPr/>
        </p:nvSpPr>
        <p:spPr>
          <a:xfrm>
            <a:off x="8170469" y="2848356"/>
            <a:ext cx="3307994" cy="839419"/>
          </a:xfrm>
          <a:prstGeom prst="rect">
            <a:avLst/>
          </a:prstGeom>
          <a:noFill/>
          <a:ln>
            <a:noFill/>
          </a:ln>
        </p:spPr>
        <p:txBody>
          <a:bodyPr wrap="square" anchor="b" lIns="45720" rIns="45720" tIns="27432" bIns="27432"/>
          <a:lstStyle/>
          <a:p>
            <a:pPr algn="ctr"/>
            <a:r>
              <a:rPr lang="ja-JP" sz="2000" b="1" spc="40" dirty="0">
                <a:solidFill>
                  <a:srgbClr val="00C2D1"/>
                </a:solidFill>
                <a:latin typeface="Montserrat"/>
                <a:ea typeface="Montserrat"/>
                <a:cs typeface="Montserrat"/>
              </a:rPr>
              <a:t>PHOTO 06</a:t>
            </a:r>
          </a:p>
        </p:txBody>
      </p:sp>
      <p:sp>
        <p:nvSpPr>
          <p:cNvPr id="19" name="TextBox"/>
          <p:cNvSpPr txBox="1"/>
          <p:nvPr/>
        </p:nvSpPr>
        <p:spPr>
          <a:xfrm>
            <a:off x="8170469" y="4114800"/>
            <a:ext cx="3307994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卒業式 / みんなで</a:t>
            </a:r>
          </a:p>
        </p:txBody>
      </p:sp>
      <p:sp>
        <p:nvSpPr>
          <p:cNvPr id="20" name="Subhead Mark"/>
          <p:cNvSpPr/>
          <p:nvPr/>
        </p:nvSpPr>
        <p:spPr>
          <a:xfrm>
            <a:off x="585216" y="4828032"/>
            <a:ext cx="146304" cy="146304"/>
          </a:xfrm>
          <a:prstGeom prst="rect">
            <a:avLst/>
          </a:prstGeom>
          <a:solidFill>
            <a:srgbClr val="00C2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TextBox"/>
          <p:cNvSpPr txBox="1"/>
          <p:nvPr/>
        </p:nvSpPr>
        <p:spPr>
          <a:xfrm>
            <a:off x="804672" y="4782312"/>
            <a:ext cx="10801807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1100" b="1" spc="30" dirty="0">
                <a:solidFill>
                  <a:srgbClr val="00C2D1"/>
                </a:solidFill>
                <a:latin typeface="Montserrat"/>
                <a:ea typeface="Montserrat"/>
                <a:cs typeface="Montserrat"/>
              </a:rPr>
              <a:t>VALUE POINT  </a:t>
            </a:r>
            <a:r>
              <a:rPr lang="ja-JP" sz="130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価値訴求ポイント</a:t>
            </a:r>
          </a:p>
        </p:txBody>
      </p:sp>
      <p:sp>
        <p:nvSpPr>
          <p:cNvPr id="22" name="Chip"/>
          <p:cNvSpPr/>
          <p:nvPr/>
        </p:nvSpPr>
        <p:spPr>
          <a:xfrm>
            <a:off x="585216" y="5138928"/>
            <a:ext cx="3142272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 cap="flat">
            <a:solidFill>
              <a:srgbClr val="1A1A1A"/>
            </a:solidFill>
            <a:round/>
          </a:ln>
        </p:spPr>
        <p:txBody>
          <a:bodyPr/>
          <a:lstStyle/>
          <a:p/>
        </p:txBody>
      </p:sp>
      <p:sp>
        <p:nvSpPr>
          <p:cNvPr id="23" name="TextBox"/>
          <p:cNvSpPr txBox="1"/>
          <p:nvPr/>
        </p:nvSpPr>
        <p:spPr>
          <a:xfrm>
            <a:off x="585216" y="5138928"/>
            <a:ext cx="3142272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1150" b="1" spc="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これ自分も思ってる。</a:t>
            </a:r>
          </a:p>
        </p:txBody>
      </p:sp>
      <p:cxnSp>
        <p:nvCxnSpPr>
          <p:cNvPr id="24" name="Line"/>
          <p:cNvCxnSpPr/>
          <p:nvPr/>
        </p:nvCxnSpPr>
        <p:spPr>
          <a:xfrm>
            <a:off x="3800640" y="5349240"/>
            <a:ext cx="384048" cy="914"/>
          </a:xfrm>
          <a:prstGeom prst="line">
            <a:avLst/>
          </a:prstGeom>
          <a:ln w="22225" cap="rnd">
            <a:solidFill>
              <a:srgbClr val="00C2D1"/>
            </a:solidFill>
            <a:headEnd type="none"/>
            <a:tailEnd type="triangle" w="med" len="med"/>
          </a:ln>
        </p:spPr>
      </p:cxnSp>
      <p:sp>
        <p:nvSpPr>
          <p:cNvPr id="25" name="Chip"/>
          <p:cNvSpPr/>
          <p:nvPr/>
        </p:nvSpPr>
        <p:spPr>
          <a:xfrm>
            <a:off x="4276128" y="5138928"/>
            <a:ext cx="3142272" cy="420624"/>
          </a:xfrm>
          <a:prstGeom prst="roundRect">
            <a:avLst>
              <a:gd name="adj" fmla="val 50000"/>
            </a:avLst>
          </a:prstGeom>
          <a:solidFill>
            <a:srgbClr val="00C2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Box"/>
          <p:cNvSpPr txBox="1"/>
          <p:nvPr/>
        </p:nvSpPr>
        <p:spPr>
          <a:xfrm>
            <a:off x="4276128" y="5138928"/>
            <a:ext cx="3142272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1150" b="1" spc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周りと同じじゃなくてもいい。</a:t>
            </a:r>
          </a:p>
        </p:txBody>
      </p:sp>
      <p:sp>
        <p:nvSpPr>
          <p:cNvPr id="27" name="TextBox"/>
          <p:cNvSpPr txBox="1"/>
          <p:nvPr/>
        </p:nvSpPr>
        <p:spPr>
          <a:xfrm>
            <a:off x="8079675" y="5111496"/>
            <a:ext cx="3526804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40000"/>
              </a:lnSpc>
            </a:pPr>
            <a:r>
              <a:rPr lang="ja-JP" sz="100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広告的な成功談ではなく、等身大の感情の動きを届ける。</a:t>
            </a:r>
          </a:p>
        </p:txBody>
      </p:sp>
      <p:cxnSp>
        <p:nvCxnSpPr>
          <p:cNvPr id="28" name="Line"/>
          <p:cNvCxnSpPr/>
          <p:nvPr/>
        </p:nvCxnSpPr>
        <p:spPr>
          <a:xfrm>
            <a:off x="585216" y="6455664"/>
            <a:ext cx="11021263" cy="914"/>
          </a:xfrm>
          <a:prstGeom prst="line">
            <a:avLst/>
          </a:prstGeom>
          <a:ln w="12700" cap="rnd">
            <a:solidFill>
              <a:srgbClr val="00C2D1"/>
            </a:solidFill>
            <a:headEnd type="none"/>
            <a:tailEnd type="none"/>
          </a:ln>
        </p:spPr>
      </p:cxnSp>
      <p:sp>
        <p:nvSpPr>
          <p:cNvPr id="29" name="TextBox"/>
          <p:cNvSpPr txBox="1"/>
          <p:nvPr/>
        </p:nvSpPr>
        <p:spPr>
          <a:xfrm>
            <a:off x="585216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850" spc="1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JINJIB ― 高卒採用・進路選択マーケティング戦略提案   /   TikTok 案2 青春・可能性型</a:t>
            </a:r>
          </a:p>
        </p:txBody>
      </p:sp>
      <p:sp>
        <p:nvSpPr>
          <p:cNvPr id="30" name="TextBox"/>
          <p:cNvSpPr txBox="1"/>
          <p:nvPr/>
        </p:nvSpPr>
        <p:spPr>
          <a:xfrm>
            <a:off x="10326319" y="6473952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r"/>
            <a:r>
              <a:rPr lang="ja-JP" sz="1300" b="1" spc="20" dirty="0">
                <a:solidFill>
                  <a:srgbClr val="00C2D1"/>
                </a:solidFill>
                <a:latin typeface="Montserrat"/>
                <a:ea typeface="Montserrat"/>
                <a:cs typeface="Montserrat"/>
              </a:rPr>
              <a:t>07</a:t>
            </a:r>
            <a:r>
              <a:rPr lang="ja-JP" sz="1000" dirty="0">
                <a:solidFill>
                  <a:srgbClr val="1A1A1A"/>
                </a:solidFill>
                <a:latin typeface="Montserrat"/>
                <a:ea typeface="Montserrat"/>
                <a:cs typeface="Montserrat"/>
              </a:rPr>
              <a:t> / 22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GrpSp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Kicker Tick"/>
          <p:cNvSpPr/>
          <p:nvPr/>
        </p:nvSpPr>
        <p:spPr>
          <a:xfrm>
            <a:off x="585216" y="457200"/>
            <a:ext cx="292608" cy="64008"/>
          </a:xfrm>
          <a:prstGeom prst="rect">
            <a:avLst/>
          </a:prstGeom>
          <a:solidFill>
            <a:srgbClr val="00C2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"/>
          <p:cNvSpPr txBox="1"/>
          <p:nvPr/>
        </p:nvSpPr>
        <p:spPr>
          <a:xfrm>
            <a:off x="969264" y="365760"/>
            <a:ext cx="7315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1250" b="1" spc="60" dirty="0">
                <a:solidFill>
                  <a:srgbClr val="00C2D1"/>
                </a:solidFill>
                <a:latin typeface="Montserrat"/>
                <a:ea typeface="Montserrat"/>
                <a:cs typeface="Montserrat"/>
              </a:rPr>
              <a:t>TIKTOK CASE 02  </a:t>
            </a:r>
            <a:r>
              <a:rPr lang="ja-JP" sz="1100" b="1" spc="2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青春・可能性型 ／ 勝つためのコンテンツ定義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585216" y="8229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</a:pPr>
            <a:r>
              <a:rPr lang="ja-JP" sz="220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勝つためのコンテンツ定義</a:t>
            </a:r>
          </a:p>
        </p:txBody>
      </p:sp>
      <p:sp>
        <p:nvSpPr>
          <p:cNvPr id="6" name="Subhead Mark"/>
          <p:cNvSpPr/>
          <p:nvPr/>
        </p:nvSpPr>
        <p:spPr>
          <a:xfrm>
            <a:off x="585216" y="1600200"/>
            <a:ext cx="146304" cy="146304"/>
          </a:xfrm>
          <a:prstGeom prst="rect">
            <a:avLst/>
          </a:prstGeom>
          <a:solidFill>
            <a:srgbClr val="00C2D1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"/>
          <p:cNvSpPr txBox="1"/>
          <p:nvPr/>
        </p:nvSpPr>
        <p:spPr>
          <a:xfrm>
            <a:off x="804672" y="1554480"/>
            <a:ext cx="490118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1100" b="1" spc="30" dirty="0">
                <a:solidFill>
                  <a:srgbClr val="00C2D1"/>
                </a:solidFill>
                <a:latin typeface="Montserrat"/>
                <a:ea typeface="Montserrat"/>
                <a:cs typeface="Montserrat"/>
              </a:rPr>
              <a:t>MUST INCLUDE  </a:t>
            </a:r>
            <a:r>
              <a:rPr lang="ja-JP" sz="130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必ず含む掛け合わせ</a:t>
            </a:r>
          </a:p>
        </p:txBody>
      </p:sp>
      <p:sp>
        <p:nvSpPr>
          <p:cNvPr id="8" name="Chip"/>
          <p:cNvSpPr/>
          <p:nvPr/>
        </p:nvSpPr>
        <p:spPr>
          <a:xfrm>
            <a:off x="585216" y="1965960"/>
            <a:ext cx="233172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 cap="flat">
            <a:solidFill>
              <a:srgbClr val="1A1A1A"/>
            </a:solidFill>
            <a:round/>
          </a:ln>
        </p:spPr>
        <p:txBody>
          <a:bodyPr/>
          <a:lstStyle/>
          <a:p/>
        </p:txBody>
      </p:sp>
      <p:sp>
        <p:nvSpPr>
          <p:cNvPr id="9" name="TextBox"/>
          <p:cNvSpPr txBox="1"/>
          <p:nvPr/>
        </p:nvSpPr>
        <p:spPr>
          <a:xfrm>
            <a:off x="585216" y="1965960"/>
            <a:ext cx="233172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1100" b="1" spc="0" dirty="0">
                <a:solidFill>
                  <a:srgbClr val="1A1A1A"/>
                </a:solidFill>
                <a:latin typeface="Montserrat"/>
                <a:ea typeface="Montserrat"/>
                <a:cs typeface="Montserrat"/>
              </a:rPr>
              <a:t>人間関係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2916936" y="1965960"/>
            <a:ext cx="45720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1400" b="1" dirty="0">
                <a:solidFill>
                  <a:srgbClr val="00C2D1"/>
                </a:solidFill>
                <a:latin typeface="Montserrat"/>
                <a:ea typeface="Montserrat"/>
                <a:cs typeface="Montserrat"/>
              </a:rPr>
              <a:t>×</a:t>
            </a:r>
          </a:p>
        </p:txBody>
      </p:sp>
      <p:sp>
        <p:nvSpPr>
          <p:cNvPr id="11" name="Chip"/>
          <p:cNvSpPr/>
          <p:nvPr/>
        </p:nvSpPr>
        <p:spPr>
          <a:xfrm>
            <a:off x="3374136" y="1965960"/>
            <a:ext cx="2331720" cy="512064"/>
          </a:xfrm>
          <a:prstGeom prst="roundRect">
            <a:avLst>
              <a:gd name="adj" fmla="val 50000"/>
            </a:avLst>
          </a:prstGeom>
          <a:solidFill>
            <a:srgbClr val="00C2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Box"/>
          <p:cNvSpPr txBox="1"/>
          <p:nvPr/>
        </p:nvSpPr>
        <p:spPr>
          <a:xfrm>
            <a:off x="3374136" y="1965960"/>
            <a:ext cx="233172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1100" b="1" spc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進路</a:t>
            </a:r>
          </a:p>
        </p:txBody>
      </p:sp>
      <p:sp>
        <p:nvSpPr>
          <p:cNvPr id="13" name="Chip"/>
          <p:cNvSpPr/>
          <p:nvPr/>
        </p:nvSpPr>
        <p:spPr>
          <a:xfrm>
            <a:off x="585216" y="2697480"/>
            <a:ext cx="233172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 cap="flat">
            <a:solidFill>
              <a:srgbClr val="1A1A1A"/>
            </a:solidFill>
            <a:round/>
          </a:ln>
        </p:spPr>
        <p:txBody>
          <a:bodyPr/>
          <a:lstStyle/>
          <a:p/>
        </p:txBody>
      </p:sp>
      <p:sp>
        <p:nvSpPr>
          <p:cNvPr id="14" name="TextBox"/>
          <p:cNvSpPr txBox="1"/>
          <p:nvPr/>
        </p:nvSpPr>
        <p:spPr>
          <a:xfrm>
            <a:off x="585216" y="2697480"/>
            <a:ext cx="233172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1100" b="1" spc="0" dirty="0">
                <a:solidFill>
                  <a:srgbClr val="1A1A1A"/>
                </a:solidFill>
                <a:latin typeface="Montserrat"/>
                <a:ea typeface="Montserrat"/>
                <a:cs typeface="Montserrat"/>
              </a:rPr>
              <a:t>恋愛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2916936" y="2697480"/>
            <a:ext cx="45720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1400" b="1" dirty="0">
                <a:solidFill>
                  <a:srgbClr val="00C2D1"/>
                </a:solidFill>
                <a:latin typeface="Montserrat"/>
                <a:ea typeface="Montserrat"/>
                <a:cs typeface="Montserrat"/>
              </a:rPr>
              <a:t>×</a:t>
            </a:r>
          </a:p>
        </p:txBody>
      </p:sp>
      <p:sp>
        <p:nvSpPr>
          <p:cNvPr id="16" name="Chip"/>
          <p:cNvSpPr/>
          <p:nvPr/>
        </p:nvSpPr>
        <p:spPr>
          <a:xfrm>
            <a:off x="3374136" y="2697480"/>
            <a:ext cx="2331720" cy="512064"/>
          </a:xfrm>
          <a:prstGeom prst="roundRect">
            <a:avLst>
              <a:gd name="adj" fmla="val 50000"/>
            </a:avLst>
          </a:prstGeom>
          <a:solidFill>
            <a:srgbClr val="00C2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Box"/>
          <p:cNvSpPr txBox="1"/>
          <p:nvPr/>
        </p:nvSpPr>
        <p:spPr>
          <a:xfrm>
            <a:off x="3374136" y="2697480"/>
            <a:ext cx="233172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1100" b="1" spc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進学と就職</a:t>
            </a:r>
          </a:p>
        </p:txBody>
      </p:sp>
      <p:sp>
        <p:nvSpPr>
          <p:cNvPr id="18" name="Chip"/>
          <p:cNvSpPr/>
          <p:nvPr/>
        </p:nvSpPr>
        <p:spPr>
          <a:xfrm>
            <a:off x="585216" y="3429000"/>
            <a:ext cx="233172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 cap="flat">
            <a:solidFill>
              <a:srgbClr val="1A1A1A"/>
            </a:solidFill>
            <a:round/>
          </a:ln>
        </p:spPr>
        <p:txBody>
          <a:bodyPr/>
          <a:lstStyle/>
          <a:p/>
        </p:txBody>
      </p:sp>
      <p:sp>
        <p:nvSpPr>
          <p:cNvPr id="19" name="TextBox"/>
          <p:cNvSpPr txBox="1"/>
          <p:nvPr/>
        </p:nvSpPr>
        <p:spPr>
          <a:xfrm>
            <a:off x="585216" y="3429000"/>
            <a:ext cx="233172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1100" b="1" spc="0" dirty="0">
                <a:solidFill>
                  <a:srgbClr val="1A1A1A"/>
                </a:solidFill>
                <a:latin typeface="Montserrat"/>
                <a:ea typeface="Montserrat"/>
                <a:cs typeface="Montserrat"/>
              </a:rPr>
              <a:t>友情</a:t>
            </a:r>
          </a:p>
        </p:txBody>
      </p:sp>
      <p:sp>
        <p:nvSpPr>
          <p:cNvPr id="20" name="TextBox"/>
          <p:cNvSpPr txBox="1"/>
          <p:nvPr/>
        </p:nvSpPr>
        <p:spPr>
          <a:xfrm>
            <a:off x="2916936" y="3429000"/>
            <a:ext cx="45720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1400" b="1" dirty="0">
                <a:solidFill>
                  <a:srgbClr val="00C2D1"/>
                </a:solidFill>
                <a:latin typeface="Montserrat"/>
                <a:ea typeface="Montserrat"/>
                <a:cs typeface="Montserrat"/>
              </a:rPr>
              <a:t>×</a:t>
            </a:r>
          </a:p>
        </p:txBody>
      </p:sp>
      <p:sp>
        <p:nvSpPr>
          <p:cNvPr id="21" name="Chip"/>
          <p:cNvSpPr/>
          <p:nvPr/>
        </p:nvSpPr>
        <p:spPr>
          <a:xfrm>
            <a:off x="3374136" y="3429000"/>
            <a:ext cx="2331720" cy="512064"/>
          </a:xfrm>
          <a:prstGeom prst="roundRect">
            <a:avLst>
              <a:gd name="adj" fmla="val 50000"/>
            </a:avLst>
          </a:prstGeom>
          <a:solidFill>
            <a:srgbClr val="00C2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TextBox"/>
          <p:cNvSpPr txBox="1"/>
          <p:nvPr/>
        </p:nvSpPr>
        <p:spPr>
          <a:xfrm>
            <a:off x="3374136" y="3429000"/>
            <a:ext cx="233172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1100" b="1" spc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違う進路</a:t>
            </a:r>
          </a:p>
        </p:txBody>
      </p:sp>
      <p:sp>
        <p:nvSpPr>
          <p:cNvPr id="23" name="Chip"/>
          <p:cNvSpPr/>
          <p:nvPr/>
        </p:nvSpPr>
        <p:spPr>
          <a:xfrm>
            <a:off x="585216" y="4160520"/>
            <a:ext cx="233172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 cap="flat">
            <a:solidFill>
              <a:srgbClr val="1A1A1A"/>
            </a:solidFill>
            <a:round/>
          </a:ln>
        </p:spPr>
        <p:txBody>
          <a:bodyPr/>
          <a:lstStyle/>
          <a:p/>
        </p:txBody>
      </p:sp>
      <p:sp>
        <p:nvSpPr>
          <p:cNvPr id="24" name="TextBox"/>
          <p:cNvSpPr txBox="1"/>
          <p:nvPr/>
        </p:nvSpPr>
        <p:spPr>
          <a:xfrm>
            <a:off x="585216" y="4160520"/>
            <a:ext cx="233172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1100" b="1" spc="0" dirty="0">
                <a:solidFill>
                  <a:srgbClr val="1A1A1A"/>
                </a:solidFill>
                <a:latin typeface="Montserrat"/>
                <a:ea typeface="Montserrat"/>
                <a:cs typeface="Montserrat"/>
              </a:rPr>
              <a:t>家族</a:t>
            </a:r>
          </a:p>
        </p:txBody>
      </p:sp>
      <p:sp>
        <p:nvSpPr>
          <p:cNvPr id="25" name="TextBox"/>
          <p:cNvSpPr txBox="1"/>
          <p:nvPr/>
        </p:nvSpPr>
        <p:spPr>
          <a:xfrm>
            <a:off x="2916936" y="4160520"/>
            <a:ext cx="45720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1400" b="1" dirty="0">
                <a:solidFill>
                  <a:srgbClr val="00C2D1"/>
                </a:solidFill>
                <a:latin typeface="Montserrat"/>
                <a:ea typeface="Montserrat"/>
                <a:cs typeface="Montserrat"/>
              </a:rPr>
              <a:t>×</a:t>
            </a:r>
          </a:p>
        </p:txBody>
      </p:sp>
      <p:sp>
        <p:nvSpPr>
          <p:cNvPr id="26" name="Chip"/>
          <p:cNvSpPr/>
          <p:nvPr/>
        </p:nvSpPr>
        <p:spPr>
          <a:xfrm>
            <a:off x="3374136" y="4160520"/>
            <a:ext cx="2331720" cy="512064"/>
          </a:xfrm>
          <a:prstGeom prst="roundRect">
            <a:avLst>
              <a:gd name="adj" fmla="val 50000"/>
            </a:avLst>
          </a:prstGeom>
          <a:solidFill>
            <a:srgbClr val="00C2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TextBox"/>
          <p:cNvSpPr txBox="1"/>
          <p:nvPr/>
        </p:nvSpPr>
        <p:spPr>
          <a:xfrm>
            <a:off x="3374136" y="4160520"/>
            <a:ext cx="233172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1100" b="1" spc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親の期待</a:t>
            </a:r>
          </a:p>
        </p:txBody>
      </p:sp>
      <p:sp>
        <p:nvSpPr>
          <p:cNvPr id="28" name="Chip"/>
          <p:cNvSpPr/>
          <p:nvPr/>
        </p:nvSpPr>
        <p:spPr>
          <a:xfrm>
            <a:off x="585216" y="4892040"/>
            <a:ext cx="233172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 cap="flat">
            <a:solidFill>
              <a:srgbClr val="1A1A1A"/>
            </a:solidFill>
            <a:round/>
          </a:ln>
        </p:spPr>
        <p:txBody>
          <a:bodyPr/>
          <a:lstStyle/>
          <a:p/>
        </p:txBody>
      </p:sp>
      <p:sp>
        <p:nvSpPr>
          <p:cNvPr id="29" name="TextBox"/>
          <p:cNvSpPr txBox="1"/>
          <p:nvPr/>
        </p:nvSpPr>
        <p:spPr>
          <a:xfrm>
            <a:off x="585216" y="4892040"/>
            <a:ext cx="233172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1100" b="1" spc="0" dirty="0">
                <a:solidFill>
                  <a:srgbClr val="1A1A1A"/>
                </a:solidFill>
                <a:latin typeface="Montserrat"/>
                <a:ea typeface="Montserrat"/>
                <a:cs typeface="Montserrat"/>
              </a:rPr>
              <a:t>部活</a:t>
            </a:r>
          </a:p>
        </p:txBody>
      </p:sp>
      <p:sp>
        <p:nvSpPr>
          <p:cNvPr id="30" name="TextBox"/>
          <p:cNvSpPr txBox="1"/>
          <p:nvPr/>
        </p:nvSpPr>
        <p:spPr>
          <a:xfrm>
            <a:off x="2916936" y="4892040"/>
            <a:ext cx="45720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1400" b="1" dirty="0">
                <a:solidFill>
                  <a:srgbClr val="00C2D1"/>
                </a:solidFill>
                <a:latin typeface="Montserrat"/>
                <a:ea typeface="Montserrat"/>
                <a:cs typeface="Montserrat"/>
              </a:rPr>
              <a:t>×</a:t>
            </a:r>
          </a:p>
        </p:txBody>
      </p:sp>
      <p:sp>
        <p:nvSpPr>
          <p:cNvPr id="31" name="Chip"/>
          <p:cNvSpPr/>
          <p:nvPr/>
        </p:nvSpPr>
        <p:spPr>
          <a:xfrm>
            <a:off x="3374136" y="4892040"/>
            <a:ext cx="2331720" cy="512064"/>
          </a:xfrm>
          <a:prstGeom prst="roundRect">
            <a:avLst>
              <a:gd name="adj" fmla="val 50000"/>
            </a:avLst>
          </a:prstGeom>
          <a:solidFill>
            <a:srgbClr val="00C2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Box"/>
          <p:cNvSpPr txBox="1"/>
          <p:nvPr/>
        </p:nvSpPr>
        <p:spPr>
          <a:xfrm>
            <a:off x="3374136" y="4892040"/>
            <a:ext cx="233172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1100" b="1" spc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卒業後</a:t>
            </a:r>
          </a:p>
        </p:txBody>
      </p:sp>
      <p:sp>
        <p:nvSpPr>
          <p:cNvPr id="33" name="NoteBox"/>
          <p:cNvSpPr/>
          <p:nvPr/>
        </p:nvSpPr>
        <p:spPr>
          <a:xfrm>
            <a:off x="585216" y="5577840"/>
            <a:ext cx="5120640" cy="566928"/>
          </a:xfrm>
          <a:prstGeom prst="rect">
            <a:avLst/>
          </a:prstGeom>
          <a:noFill/>
          <a:ln w="15875" cap="flat">
            <a:solidFill>
              <a:srgbClr val="00C2D1"/>
            </a:solidFill>
            <a:round/>
          </a:ln>
        </p:spPr>
        <p:txBody>
          <a:bodyPr/>
          <a:lstStyle/>
          <a:p/>
        </p:txBody>
      </p:sp>
      <p:sp>
        <p:nvSpPr>
          <p:cNvPr id="34" name="TextBox"/>
          <p:cNvSpPr txBox="1"/>
          <p:nvPr/>
        </p:nvSpPr>
        <p:spPr>
          <a:xfrm>
            <a:off x="768096" y="5577840"/>
            <a:ext cx="475488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>
              <a:lnSpc>
                <a:spcPct val="150000"/>
              </a:lnSpc>
            </a:pPr>
            <a:r>
              <a:rPr lang="ja-JP" sz="110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5つの掛け合わせのうち、必ずどれか1つを軸にする。</a:t>
            </a:r>
          </a:p>
        </p:txBody>
      </p:sp>
      <p:sp>
        <p:nvSpPr>
          <p:cNvPr id="35" name="Subhead Mark"/>
          <p:cNvSpPr/>
          <p:nvPr/>
        </p:nvSpPr>
        <p:spPr>
          <a:xfrm>
            <a:off x="5989320" y="1600200"/>
            <a:ext cx="146304" cy="146304"/>
          </a:xfrm>
          <a:prstGeom prst="rect">
            <a:avLst/>
          </a:prstGeom>
          <a:solidFill>
            <a:srgbClr val="00C2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TextBox"/>
          <p:cNvSpPr txBox="1"/>
          <p:nvPr/>
        </p:nvSpPr>
        <p:spPr>
          <a:xfrm>
            <a:off x="6208776" y="1554480"/>
            <a:ext cx="5397703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1100" b="1" spc="30" dirty="0">
                <a:solidFill>
                  <a:srgbClr val="00C2D1"/>
                </a:solidFill>
                <a:latin typeface="Montserrat"/>
                <a:ea typeface="Montserrat"/>
                <a:cs typeface="Montserrat"/>
              </a:rPr>
              <a:t>EXAMPLES  </a:t>
            </a:r>
            <a:r>
              <a:rPr lang="ja-JP" sz="130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企画例</a:t>
            </a:r>
          </a:p>
        </p:txBody>
      </p:sp>
      <p:sp>
        <p:nvSpPr>
          <p:cNvPr id="37" name="Quote Mark"/>
          <p:cNvSpPr/>
          <p:nvPr/>
        </p:nvSpPr>
        <p:spPr>
          <a:xfrm>
            <a:off x="5989320" y="2020824"/>
            <a:ext cx="54864" cy="777240"/>
          </a:xfrm>
          <a:prstGeom prst="rect">
            <a:avLst/>
          </a:prstGeom>
          <a:solidFill>
            <a:srgbClr val="00C2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Box"/>
          <p:cNvSpPr txBox="1"/>
          <p:nvPr/>
        </p:nvSpPr>
        <p:spPr>
          <a:xfrm>
            <a:off x="6172200" y="1965960"/>
            <a:ext cx="5434279" cy="96012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28000"/>
              </a:lnSpc>
            </a:pPr>
            <a:r>
              <a:rPr lang="ja-JP" sz="11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親友は大学。僕は就職。</a:t>
            </a:r>
          </a:p>
        </p:txBody>
      </p:sp>
      <p:sp>
        <p:nvSpPr>
          <p:cNvPr id="39" name="Quote Mark"/>
          <p:cNvSpPr/>
          <p:nvPr/>
        </p:nvSpPr>
        <p:spPr>
          <a:xfrm>
            <a:off x="5989320" y="2980944"/>
            <a:ext cx="54864" cy="777240"/>
          </a:xfrm>
          <a:prstGeom prst="rect">
            <a:avLst/>
          </a:prstGeom>
          <a:solidFill>
            <a:srgbClr val="00C2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TextBox"/>
          <p:cNvSpPr txBox="1"/>
          <p:nvPr/>
        </p:nvSpPr>
        <p:spPr>
          <a:xfrm>
            <a:off x="6172200" y="2926080"/>
            <a:ext cx="5434279" cy="96012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28000"/>
              </a:lnSpc>
            </a:pPr>
            <a:r>
              <a:rPr lang="ja-JP" sz="11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彼女に「大学行かないの？」と聞かれた。</a:t>
            </a:r>
          </a:p>
        </p:txBody>
      </p:sp>
      <p:sp>
        <p:nvSpPr>
          <p:cNvPr id="41" name="Quote Mark"/>
          <p:cNvSpPr/>
          <p:nvPr/>
        </p:nvSpPr>
        <p:spPr>
          <a:xfrm>
            <a:off x="5989320" y="3941064"/>
            <a:ext cx="54864" cy="777240"/>
          </a:xfrm>
          <a:prstGeom prst="rect">
            <a:avLst/>
          </a:prstGeom>
          <a:solidFill>
            <a:srgbClr val="00C2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TextBox"/>
          <p:cNvSpPr txBox="1"/>
          <p:nvPr/>
        </p:nvSpPr>
        <p:spPr>
          <a:xfrm>
            <a:off x="6172200" y="3886200"/>
            <a:ext cx="5434279" cy="96012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28000"/>
              </a:lnSpc>
            </a:pPr>
            <a:r>
              <a:rPr lang="ja-JP" sz="11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みんな進学。自分だけ就職するって言えなかった。</a:t>
            </a:r>
          </a:p>
        </p:txBody>
      </p:sp>
      <p:sp>
        <p:nvSpPr>
          <p:cNvPr id="43" name="Quote Mark"/>
          <p:cNvSpPr/>
          <p:nvPr/>
        </p:nvSpPr>
        <p:spPr>
          <a:xfrm>
            <a:off x="5989320" y="4901184"/>
            <a:ext cx="54864" cy="777240"/>
          </a:xfrm>
          <a:prstGeom prst="rect">
            <a:avLst/>
          </a:prstGeom>
          <a:solidFill>
            <a:srgbClr val="00C2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Box"/>
          <p:cNvSpPr txBox="1"/>
          <p:nvPr/>
        </p:nvSpPr>
        <p:spPr>
          <a:xfrm>
            <a:off x="6172200" y="4846320"/>
            <a:ext cx="5434279" cy="96012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28000"/>
              </a:lnSpc>
            </a:pPr>
            <a:r>
              <a:rPr lang="ja-JP" sz="11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卒業式の日、初めて自分の進路を友達に話した。</a:t>
            </a:r>
          </a:p>
        </p:txBody>
      </p:sp>
      <p:cxnSp>
        <p:nvCxnSpPr>
          <p:cNvPr id="45" name="Line"/>
          <p:cNvCxnSpPr/>
          <p:nvPr/>
        </p:nvCxnSpPr>
        <p:spPr>
          <a:xfrm>
            <a:off x="585216" y="6455664"/>
            <a:ext cx="11021263" cy="914"/>
          </a:xfrm>
          <a:prstGeom prst="line">
            <a:avLst/>
          </a:prstGeom>
          <a:ln w="12700" cap="rnd">
            <a:solidFill>
              <a:srgbClr val="00C2D1"/>
            </a:solidFill>
            <a:headEnd type="none"/>
            <a:tailEnd type="none"/>
          </a:ln>
        </p:spPr>
      </p:cxnSp>
      <p:sp>
        <p:nvSpPr>
          <p:cNvPr id="46" name="TextBox"/>
          <p:cNvSpPr txBox="1"/>
          <p:nvPr/>
        </p:nvSpPr>
        <p:spPr>
          <a:xfrm>
            <a:off x="585216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850" spc="1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JINJIB ― 高卒採用・進路選択マーケティング戦略提案   /   TikTok 案2 青春・可能性型</a:t>
            </a:r>
          </a:p>
        </p:txBody>
      </p:sp>
      <p:sp>
        <p:nvSpPr>
          <p:cNvPr id="47" name="TextBox"/>
          <p:cNvSpPr txBox="1"/>
          <p:nvPr/>
        </p:nvSpPr>
        <p:spPr>
          <a:xfrm>
            <a:off x="10326319" y="6473952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r"/>
            <a:r>
              <a:rPr lang="ja-JP" sz="1300" b="1" spc="20" dirty="0">
                <a:solidFill>
                  <a:srgbClr val="00C2D1"/>
                </a:solidFill>
                <a:latin typeface="Montserrat"/>
                <a:ea typeface="Montserrat"/>
                <a:cs typeface="Montserrat"/>
              </a:rPr>
              <a:t>08</a:t>
            </a:r>
            <a:r>
              <a:rPr lang="ja-JP" sz="1000" dirty="0">
                <a:solidFill>
                  <a:srgbClr val="1A1A1A"/>
                </a:solidFill>
                <a:latin typeface="Montserrat"/>
                <a:ea typeface="Montserrat"/>
                <a:cs typeface="Montserrat"/>
              </a:rPr>
              <a:t> / 22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GrpSp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Kicker Tick"/>
          <p:cNvSpPr/>
          <p:nvPr/>
        </p:nvSpPr>
        <p:spPr>
          <a:xfrm>
            <a:off x="585216" y="457200"/>
            <a:ext cx="292608" cy="64008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"/>
          <p:cNvSpPr txBox="1"/>
          <p:nvPr/>
        </p:nvSpPr>
        <p:spPr>
          <a:xfrm>
            <a:off x="969264" y="365760"/>
            <a:ext cx="7315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1250" b="1" spc="60" dirty="0">
                <a:solidFill>
                  <a:srgbClr val="8A2BE2"/>
                </a:solidFill>
                <a:latin typeface="Montserrat"/>
                <a:ea typeface="Montserrat"/>
                <a:cs typeface="Montserrat"/>
              </a:rPr>
              <a:t>TIKTOK CASE 03  </a:t>
            </a:r>
            <a:r>
              <a:rPr lang="ja-JP" sz="1100" b="1" spc="2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現実・葛藤型 ／ アカウント設計・全体コンセプト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585216" y="822960"/>
            <a:ext cx="594360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20000"/>
              </a:lnSpc>
            </a:pPr>
            <a:r>
              <a:rPr lang="ja-JP" sz="280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やりたいことなんて、</a:t>
            </a:r>
          </a:p>
          <a:p>
            <a:pPr algn="l">
              <a:lnSpc>
                <a:spcPct val="120000"/>
              </a:lnSpc>
            </a:pPr>
            <a:r>
              <a:rPr lang="ja-JP" sz="280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まだない。</a:t>
            </a:r>
          </a:p>
        </p:txBody>
      </p:sp>
      <p:sp>
        <p:nvSpPr>
          <p:cNvPr id="6" name="Subhead Mark"/>
          <p:cNvSpPr/>
          <p:nvPr/>
        </p:nvSpPr>
        <p:spPr>
          <a:xfrm>
            <a:off x="585216" y="2148840"/>
            <a:ext cx="146304" cy="146304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"/>
          <p:cNvSpPr txBox="1"/>
          <p:nvPr/>
        </p:nvSpPr>
        <p:spPr>
          <a:xfrm>
            <a:off x="804672" y="2103120"/>
            <a:ext cx="558698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1100" b="1" spc="30" dirty="0">
                <a:solidFill>
                  <a:srgbClr val="8A2BE2"/>
                </a:solidFill>
                <a:latin typeface="Montserrat"/>
                <a:ea typeface="Montserrat"/>
                <a:cs typeface="Montserrat"/>
              </a:rPr>
              <a:t>ACCOUNT DESIGN  </a:t>
            </a:r>
            <a:r>
              <a:rPr lang="ja-JP" sz="130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アカウント設計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585216" y="2450592"/>
            <a:ext cx="580644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45000"/>
              </a:lnSpc>
            </a:pPr>
            <a:r>
              <a:rPr lang="ja-JP" sz="110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夢がある学生だけを主役にしない。大学へ行きたいわけでも、</a:t>
            </a:r>
          </a:p>
          <a:p>
            <a:pPr algn="l">
              <a:lnSpc>
                <a:spcPct val="145000"/>
              </a:lnSpc>
            </a:pPr>
            <a:r>
              <a:rPr lang="ja-JP" sz="110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働きたいわけでもない。なりたい職業もない。</a:t>
            </a:r>
          </a:p>
          <a:p>
            <a:pPr algn="l">
              <a:lnSpc>
                <a:spcPct val="145000"/>
              </a:lnSpc>
            </a:pPr>
            <a:r>
              <a:rPr lang="ja-JP" sz="110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なんとなく周りと同じ進路を選ぼうとしている学生が主人公。</a:t>
            </a:r>
          </a:p>
        </p:txBody>
      </p:sp>
      <p:sp>
        <p:nvSpPr>
          <p:cNvPr id="9" name="Chip"/>
          <p:cNvSpPr/>
          <p:nvPr/>
        </p:nvSpPr>
        <p:spPr>
          <a:xfrm>
            <a:off x="585216" y="3520440"/>
            <a:ext cx="129341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 cap="flat">
            <a:solidFill>
              <a:srgbClr val="1A1A1A"/>
            </a:solidFill>
            <a:round/>
          </a:ln>
        </p:spPr>
        <p:txBody>
          <a:bodyPr/>
          <a:lstStyle/>
          <a:p/>
        </p:txBody>
      </p:sp>
      <p:sp>
        <p:nvSpPr>
          <p:cNvPr id="10" name="TextBox"/>
          <p:cNvSpPr txBox="1"/>
          <p:nvPr/>
        </p:nvSpPr>
        <p:spPr>
          <a:xfrm>
            <a:off x="585216" y="3520440"/>
            <a:ext cx="1293419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00" b="1" spc="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やりたいことがない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1878635" y="3520440"/>
            <a:ext cx="22494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1200" b="1" dirty="0">
                <a:solidFill>
                  <a:srgbClr val="8A2BE2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12" name="Chip"/>
          <p:cNvSpPr/>
          <p:nvPr/>
        </p:nvSpPr>
        <p:spPr>
          <a:xfrm>
            <a:off x="2103577" y="3520440"/>
            <a:ext cx="1293419" cy="365760"/>
          </a:xfrm>
          <a:prstGeom prst="roundRect">
            <a:avLst>
              <a:gd name="adj" fmla="val 50000"/>
            </a:avLst>
          </a:prstGeom>
          <a:solidFill>
            <a:srgbClr val="8A2B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Box"/>
          <p:cNvSpPr txBox="1"/>
          <p:nvPr/>
        </p:nvSpPr>
        <p:spPr>
          <a:xfrm>
            <a:off x="2103577" y="3520440"/>
            <a:ext cx="1293419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00" b="1" spc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遅れていない</a:t>
            </a:r>
          </a:p>
        </p:txBody>
      </p:sp>
      <p:sp>
        <p:nvSpPr>
          <p:cNvPr id="14" name="Chip"/>
          <p:cNvSpPr/>
          <p:nvPr/>
        </p:nvSpPr>
        <p:spPr>
          <a:xfrm>
            <a:off x="3579876" y="3520440"/>
            <a:ext cx="129341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 cap="flat">
            <a:solidFill>
              <a:srgbClr val="1A1A1A"/>
            </a:solidFill>
            <a:round/>
          </a:ln>
        </p:spPr>
        <p:txBody>
          <a:bodyPr/>
          <a:lstStyle/>
          <a:p/>
        </p:txBody>
      </p:sp>
      <p:sp>
        <p:nvSpPr>
          <p:cNvPr id="15" name="TextBox"/>
          <p:cNvSpPr txBox="1"/>
          <p:nvPr/>
        </p:nvSpPr>
        <p:spPr>
          <a:xfrm>
            <a:off x="3579876" y="3520440"/>
            <a:ext cx="1293419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00" b="1" spc="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進路面談で答えられない</a:t>
            </a:r>
          </a:p>
        </p:txBody>
      </p:sp>
      <p:sp>
        <p:nvSpPr>
          <p:cNvPr id="16" name="TextBox"/>
          <p:cNvSpPr txBox="1"/>
          <p:nvPr/>
        </p:nvSpPr>
        <p:spPr>
          <a:xfrm>
            <a:off x="4873295" y="3520440"/>
            <a:ext cx="22494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1200" b="1" dirty="0">
                <a:solidFill>
                  <a:srgbClr val="8A2BE2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17" name="Chip"/>
          <p:cNvSpPr/>
          <p:nvPr/>
        </p:nvSpPr>
        <p:spPr>
          <a:xfrm>
            <a:off x="5098237" y="3520440"/>
            <a:ext cx="1293419" cy="365760"/>
          </a:xfrm>
          <a:prstGeom prst="roundRect">
            <a:avLst>
              <a:gd name="adj" fmla="val 50000"/>
            </a:avLst>
          </a:prstGeom>
          <a:solidFill>
            <a:srgbClr val="8A2B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TextBox"/>
          <p:cNvSpPr txBox="1"/>
          <p:nvPr/>
        </p:nvSpPr>
        <p:spPr>
          <a:xfrm>
            <a:off x="5098237" y="3520440"/>
            <a:ext cx="1293419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00" b="1" spc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自然なこと</a:t>
            </a:r>
          </a:p>
        </p:txBody>
      </p:sp>
      <p:sp>
        <p:nvSpPr>
          <p:cNvPr id="19" name="Chip"/>
          <p:cNvSpPr/>
          <p:nvPr/>
        </p:nvSpPr>
        <p:spPr>
          <a:xfrm>
            <a:off x="585216" y="4087368"/>
            <a:ext cx="129341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 cap="flat">
            <a:solidFill>
              <a:srgbClr val="1A1A1A"/>
            </a:solidFill>
            <a:round/>
          </a:ln>
        </p:spPr>
        <p:txBody>
          <a:bodyPr/>
          <a:lstStyle/>
          <a:p/>
        </p:txBody>
      </p:sp>
      <p:sp>
        <p:nvSpPr>
          <p:cNvPr id="20" name="TextBox"/>
          <p:cNvSpPr txBox="1"/>
          <p:nvPr/>
        </p:nvSpPr>
        <p:spPr>
          <a:xfrm>
            <a:off x="585216" y="4087368"/>
            <a:ext cx="1293419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00" b="1" spc="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周りは決まって見える</a:t>
            </a:r>
          </a:p>
        </p:txBody>
      </p:sp>
      <p:sp>
        <p:nvSpPr>
          <p:cNvPr id="21" name="TextBox"/>
          <p:cNvSpPr txBox="1"/>
          <p:nvPr/>
        </p:nvSpPr>
        <p:spPr>
          <a:xfrm>
            <a:off x="1878635" y="4087368"/>
            <a:ext cx="22494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1200" b="1" dirty="0">
                <a:solidFill>
                  <a:srgbClr val="8A2BE2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22" name="Chip"/>
          <p:cNvSpPr/>
          <p:nvPr/>
        </p:nvSpPr>
        <p:spPr>
          <a:xfrm>
            <a:off x="2103577" y="4087368"/>
            <a:ext cx="1293419" cy="365760"/>
          </a:xfrm>
          <a:prstGeom prst="roundRect">
            <a:avLst>
              <a:gd name="adj" fmla="val 50000"/>
            </a:avLst>
          </a:prstGeom>
          <a:solidFill>
            <a:srgbClr val="8A2BE2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Box"/>
          <p:cNvSpPr txBox="1"/>
          <p:nvPr/>
        </p:nvSpPr>
        <p:spPr>
          <a:xfrm>
            <a:off x="2103577" y="4087368"/>
            <a:ext cx="1293419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00" b="1" spc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実は同じ</a:t>
            </a:r>
          </a:p>
        </p:txBody>
      </p:sp>
      <p:sp>
        <p:nvSpPr>
          <p:cNvPr id="24" name="Chip"/>
          <p:cNvSpPr/>
          <p:nvPr/>
        </p:nvSpPr>
        <p:spPr>
          <a:xfrm>
            <a:off x="3579876" y="4087368"/>
            <a:ext cx="129341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 cap="flat">
            <a:solidFill>
              <a:srgbClr val="1A1A1A"/>
            </a:solidFill>
            <a:round/>
          </a:ln>
        </p:spPr>
        <p:txBody>
          <a:bodyPr/>
          <a:lstStyle/>
          <a:p/>
        </p:txBody>
      </p:sp>
      <p:sp>
        <p:nvSpPr>
          <p:cNvPr id="25" name="TextBox"/>
          <p:cNvSpPr txBox="1"/>
          <p:nvPr/>
        </p:nvSpPr>
        <p:spPr>
          <a:xfrm>
            <a:off x="3579876" y="4087368"/>
            <a:ext cx="1293419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00" b="1" spc="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小さな発見</a:t>
            </a:r>
          </a:p>
        </p:txBody>
      </p:sp>
      <p:sp>
        <p:nvSpPr>
          <p:cNvPr id="26" name="TextBox"/>
          <p:cNvSpPr txBox="1"/>
          <p:nvPr/>
        </p:nvSpPr>
        <p:spPr>
          <a:xfrm>
            <a:off x="4873295" y="4087368"/>
            <a:ext cx="22494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1200" b="1" dirty="0">
                <a:solidFill>
                  <a:srgbClr val="8A2BE2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27" name="Chip"/>
          <p:cNvSpPr/>
          <p:nvPr/>
        </p:nvSpPr>
        <p:spPr>
          <a:xfrm>
            <a:off x="5098237" y="4087368"/>
            <a:ext cx="1293419" cy="365760"/>
          </a:xfrm>
          <a:prstGeom prst="roundRect">
            <a:avLst>
              <a:gd name="adj" fmla="val 50000"/>
            </a:avLst>
          </a:prstGeom>
          <a:solidFill>
            <a:srgbClr val="8A2BE2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TextBox"/>
          <p:cNvSpPr txBox="1"/>
          <p:nvPr/>
        </p:nvSpPr>
        <p:spPr>
          <a:xfrm>
            <a:off x="5098237" y="4087368"/>
            <a:ext cx="1293419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00" b="1" spc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十分な変化</a:t>
            </a:r>
          </a:p>
        </p:txBody>
      </p:sp>
      <p:sp>
        <p:nvSpPr>
          <p:cNvPr id="29" name="Subhead Mark"/>
          <p:cNvSpPr/>
          <p:nvPr/>
        </p:nvSpPr>
        <p:spPr>
          <a:xfrm>
            <a:off x="585216" y="5029200"/>
            <a:ext cx="146304" cy="146304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TextBox"/>
          <p:cNvSpPr txBox="1"/>
          <p:nvPr/>
        </p:nvSpPr>
        <p:spPr>
          <a:xfrm>
            <a:off x="804672" y="4983480"/>
            <a:ext cx="558698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1100" b="1" spc="30" dirty="0">
                <a:solidFill>
                  <a:srgbClr val="8A2BE2"/>
                </a:solidFill>
                <a:latin typeface="Montserrat"/>
                <a:ea typeface="Montserrat"/>
                <a:cs typeface="Montserrat"/>
              </a:rPr>
              <a:t>CONCEPT  </a:t>
            </a:r>
            <a:r>
              <a:rPr lang="ja-JP" sz="130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全体コンセプト</a:t>
            </a:r>
          </a:p>
        </p:txBody>
      </p:sp>
      <p:sp>
        <p:nvSpPr>
          <p:cNvPr id="31" name="TextBox"/>
          <p:cNvSpPr txBox="1"/>
          <p:nvPr/>
        </p:nvSpPr>
        <p:spPr>
          <a:xfrm>
            <a:off x="585216" y="5321808"/>
            <a:ext cx="580644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45000"/>
              </a:lnSpc>
            </a:pPr>
            <a:r>
              <a:rPr lang="ja-JP" sz="110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決まっていないことは、遅れていることではない。大成功ではなく、小さな感情の変化を主役にする。</a:t>
            </a:r>
          </a:p>
        </p:txBody>
      </p:sp>
      <p:sp>
        <p:nvSpPr>
          <p:cNvPr id="32" name="Phone 31"/>
          <p:cNvSpPr/>
          <p:nvPr/>
        </p:nvSpPr>
        <p:spPr>
          <a:xfrm>
            <a:off x="7095606" y="868680"/>
            <a:ext cx="1930893" cy="3977640"/>
          </a:xfrm>
          <a:prstGeom prst="roundRect">
            <a:avLst>
              <a:gd name="adj" fmla="val 11000"/>
            </a:avLst>
          </a:prstGeom>
          <a:solidFill>
            <a:srgbClr val="1A1A1A"/>
          </a:solidFill>
          <a:ln w="15875" cap="flat">
            <a:solidFill>
              <a:srgbClr val="8A2BE2"/>
            </a:solidFill>
            <a:round/>
          </a:ln>
        </p:spPr>
        <p:txBody>
          <a:bodyPr/>
          <a:lstStyle/>
          <a:p/>
        </p:txBody>
      </p:sp>
      <p:sp>
        <p:nvSpPr>
          <p:cNvPr id="33" name="Screen"/>
          <p:cNvSpPr/>
          <p:nvPr/>
        </p:nvSpPr>
        <p:spPr>
          <a:xfrm>
            <a:off x="7164186" y="985266"/>
            <a:ext cx="1793733" cy="377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Notch"/>
          <p:cNvSpPr/>
          <p:nvPr/>
        </p:nvSpPr>
        <p:spPr>
          <a:xfrm>
            <a:off x="7905605" y="906399"/>
            <a:ext cx="310896" cy="41148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Home Indicator"/>
          <p:cNvSpPr/>
          <p:nvPr/>
        </p:nvSpPr>
        <p:spPr>
          <a:xfrm>
            <a:off x="7914749" y="4770882"/>
            <a:ext cx="292608" cy="27432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App Bar"/>
          <p:cNvSpPr/>
          <p:nvPr/>
        </p:nvSpPr>
        <p:spPr>
          <a:xfrm>
            <a:off x="7164186" y="985266"/>
            <a:ext cx="1793733" cy="146304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TextBox"/>
          <p:cNvSpPr txBox="1"/>
          <p:nvPr/>
        </p:nvSpPr>
        <p:spPr>
          <a:xfrm>
            <a:off x="7164186" y="985266"/>
            <a:ext cx="1793733" cy="146304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750" b="1" spc="3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TIKTOK</a:t>
            </a:r>
          </a:p>
        </p:txBody>
      </p:sp>
      <p:sp>
        <p:nvSpPr>
          <p:cNvPr id="38" name="TextBox"/>
          <p:cNvSpPr txBox="1"/>
          <p:nvPr/>
        </p:nvSpPr>
        <p:spPr>
          <a:xfrm>
            <a:off x="7219050" y="1131570"/>
            <a:ext cx="1684005" cy="3625596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1569" b="1" spc="20" dirty="0">
                <a:solidFill>
                  <a:srgbClr val="8A2BE2"/>
                </a:solidFill>
                <a:latin typeface="Montserrat"/>
                <a:ea typeface="Montserrat"/>
                <a:cs typeface="Montserrat"/>
              </a:rPr>
              <a:t>IMAGE 31</a:t>
            </a:r>
          </a:p>
        </p:txBody>
      </p:sp>
      <p:sp>
        <p:nvSpPr>
          <p:cNvPr id="39" name="TextBox"/>
          <p:cNvSpPr txBox="1"/>
          <p:nvPr/>
        </p:nvSpPr>
        <p:spPr>
          <a:xfrm>
            <a:off x="7095606" y="4892040"/>
            <a:ext cx="1930893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ctr"/>
            <a:r>
              <a:rPr lang="ja-JP" sz="8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Before</a:t>
            </a:r>
          </a:p>
        </p:txBody>
      </p:sp>
      <p:sp>
        <p:nvSpPr>
          <p:cNvPr id="40" name="Phone 32"/>
          <p:cNvSpPr/>
          <p:nvPr/>
        </p:nvSpPr>
        <p:spPr>
          <a:xfrm>
            <a:off x="9300820" y="868680"/>
            <a:ext cx="1930893" cy="3977640"/>
          </a:xfrm>
          <a:prstGeom prst="roundRect">
            <a:avLst>
              <a:gd name="adj" fmla="val 11000"/>
            </a:avLst>
          </a:prstGeom>
          <a:solidFill>
            <a:srgbClr val="1A1A1A"/>
          </a:solidFill>
          <a:ln w="15875" cap="flat">
            <a:solidFill>
              <a:srgbClr val="8A2BE2"/>
            </a:solidFill>
            <a:round/>
          </a:ln>
        </p:spPr>
        <p:txBody>
          <a:bodyPr/>
          <a:lstStyle/>
          <a:p/>
        </p:txBody>
      </p:sp>
      <p:sp>
        <p:nvSpPr>
          <p:cNvPr id="41" name="Screen"/>
          <p:cNvSpPr/>
          <p:nvPr/>
        </p:nvSpPr>
        <p:spPr>
          <a:xfrm>
            <a:off x="9369400" y="985266"/>
            <a:ext cx="1793733" cy="377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Notch"/>
          <p:cNvSpPr/>
          <p:nvPr/>
        </p:nvSpPr>
        <p:spPr>
          <a:xfrm>
            <a:off x="10110818" y="906399"/>
            <a:ext cx="310896" cy="41148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Home Indicator"/>
          <p:cNvSpPr/>
          <p:nvPr/>
        </p:nvSpPr>
        <p:spPr>
          <a:xfrm>
            <a:off x="10119962" y="4770882"/>
            <a:ext cx="292608" cy="27432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App Bar"/>
          <p:cNvSpPr/>
          <p:nvPr/>
        </p:nvSpPr>
        <p:spPr>
          <a:xfrm>
            <a:off x="9369400" y="985266"/>
            <a:ext cx="1793733" cy="146304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TextBox"/>
          <p:cNvSpPr txBox="1"/>
          <p:nvPr/>
        </p:nvSpPr>
        <p:spPr>
          <a:xfrm>
            <a:off x="9369400" y="985266"/>
            <a:ext cx="1793733" cy="146304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750" b="1" spc="3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TIKTOK</a:t>
            </a:r>
          </a:p>
        </p:txBody>
      </p:sp>
      <p:sp>
        <p:nvSpPr>
          <p:cNvPr id="46" name="TextBox"/>
          <p:cNvSpPr txBox="1"/>
          <p:nvPr/>
        </p:nvSpPr>
        <p:spPr>
          <a:xfrm>
            <a:off x="9424264" y="1131570"/>
            <a:ext cx="1684005" cy="3625596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1569" b="1" spc="20" dirty="0">
                <a:solidFill>
                  <a:srgbClr val="8A2BE2"/>
                </a:solidFill>
                <a:latin typeface="Montserrat"/>
                <a:ea typeface="Montserrat"/>
                <a:cs typeface="Montserrat"/>
              </a:rPr>
              <a:t>IMAGE 32</a:t>
            </a:r>
          </a:p>
        </p:txBody>
      </p:sp>
      <p:sp>
        <p:nvSpPr>
          <p:cNvPr id="47" name="TextBox"/>
          <p:cNvSpPr txBox="1"/>
          <p:nvPr/>
        </p:nvSpPr>
        <p:spPr>
          <a:xfrm>
            <a:off x="9300820" y="4892040"/>
            <a:ext cx="1930893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ctr"/>
            <a:r>
              <a:rPr lang="ja-JP" sz="8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After</a:t>
            </a:r>
          </a:p>
        </p:txBody>
      </p:sp>
      <p:sp>
        <p:nvSpPr>
          <p:cNvPr id="48" name="Chip"/>
          <p:cNvSpPr/>
          <p:nvPr/>
        </p:nvSpPr>
        <p:spPr>
          <a:xfrm>
            <a:off x="6720840" y="5468112"/>
            <a:ext cx="21685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 cap="flat">
            <a:solidFill>
              <a:srgbClr val="1A1A1A"/>
            </a:solidFill>
            <a:round/>
          </a:ln>
        </p:spPr>
        <p:txBody>
          <a:bodyPr/>
          <a:lstStyle/>
          <a:p/>
        </p:txBody>
      </p:sp>
      <p:sp>
        <p:nvSpPr>
          <p:cNvPr id="49" name="TextBox"/>
          <p:cNvSpPr txBox="1"/>
          <p:nvPr/>
        </p:nvSpPr>
        <p:spPr>
          <a:xfrm>
            <a:off x="6720840" y="5468112"/>
            <a:ext cx="21685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1150" b="1" spc="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自分だけじゃない。</a:t>
            </a:r>
          </a:p>
        </p:txBody>
      </p:sp>
      <p:cxnSp>
        <p:nvCxnSpPr>
          <p:cNvPr id="50" name="Line"/>
          <p:cNvCxnSpPr/>
          <p:nvPr/>
        </p:nvCxnSpPr>
        <p:spPr>
          <a:xfrm>
            <a:off x="8962492" y="5660136"/>
            <a:ext cx="384048" cy="914"/>
          </a:xfrm>
          <a:prstGeom prst="line">
            <a:avLst/>
          </a:prstGeom>
          <a:ln w="22225" cap="rnd">
            <a:solidFill>
              <a:srgbClr val="8A2BE2"/>
            </a:solidFill>
            <a:headEnd type="none"/>
            <a:tailEnd type="triangle" w="med" len="med"/>
          </a:ln>
        </p:spPr>
      </p:cxnSp>
      <p:sp>
        <p:nvSpPr>
          <p:cNvPr id="51" name="Chip"/>
          <p:cNvSpPr/>
          <p:nvPr/>
        </p:nvSpPr>
        <p:spPr>
          <a:xfrm>
            <a:off x="9437980" y="5468112"/>
            <a:ext cx="2168500" cy="384048"/>
          </a:xfrm>
          <a:prstGeom prst="roundRect">
            <a:avLst>
              <a:gd name="adj" fmla="val 50000"/>
            </a:avLst>
          </a:prstGeom>
          <a:solidFill>
            <a:srgbClr val="8A2BE2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TextBox"/>
          <p:cNvSpPr txBox="1"/>
          <p:nvPr/>
        </p:nvSpPr>
        <p:spPr>
          <a:xfrm>
            <a:off x="9437980" y="5468112"/>
            <a:ext cx="21685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1150" b="1" spc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知らない選択肢を知ることはできる。</a:t>
            </a:r>
          </a:p>
        </p:txBody>
      </p:sp>
      <p:cxnSp>
        <p:nvCxnSpPr>
          <p:cNvPr id="53" name="Line"/>
          <p:cNvCxnSpPr/>
          <p:nvPr/>
        </p:nvCxnSpPr>
        <p:spPr>
          <a:xfrm>
            <a:off x="585216" y="6455664"/>
            <a:ext cx="11021263" cy="914"/>
          </a:xfrm>
          <a:prstGeom prst="line">
            <a:avLst/>
          </a:prstGeom>
          <a:ln w="12700" cap="rnd">
            <a:solidFill>
              <a:srgbClr val="8A2BE2"/>
            </a:solidFill>
            <a:headEnd type="none"/>
            <a:tailEnd type="none"/>
          </a:ln>
        </p:spPr>
      </p:cxnSp>
      <p:sp>
        <p:nvSpPr>
          <p:cNvPr id="54" name="TextBox"/>
          <p:cNvSpPr txBox="1"/>
          <p:nvPr/>
        </p:nvSpPr>
        <p:spPr>
          <a:xfrm>
            <a:off x="585216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850" spc="1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JINJIB ― 高卒採用・進路選択マーケティング戦略提案   /   TikTok 案3 現実・葛藤型</a:t>
            </a:r>
          </a:p>
        </p:txBody>
      </p:sp>
      <p:sp>
        <p:nvSpPr>
          <p:cNvPr id="55" name="TextBox"/>
          <p:cNvSpPr txBox="1"/>
          <p:nvPr/>
        </p:nvSpPr>
        <p:spPr>
          <a:xfrm>
            <a:off x="10326319" y="6473952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r"/>
            <a:r>
              <a:rPr lang="ja-JP" sz="1300" b="1" spc="20" dirty="0">
                <a:solidFill>
                  <a:srgbClr val="8A2BE2"/>
                </a:solidFill>
                <a:latin typeface="Montserrat"/>
                <a:ea typeface="Montserrat"/>
                <a:cs typeface="Montserrat"/>
              </a:rPr>
              <a:t>09</a:t>
            </a:r>
            <a:r>
              <a:rPr lang="ja-JP" sz="1000" dirty="0">
                <a:solidFill>
                  <a:srgbClr val="1A1A1A"/>
                </a:solidFill>
                <a:latin typeface="Montserrat"/>
                <a:ea typeface="Montserrat"/>
                <a:cs typeface="Montserrat"/>
              </a:rPr>
              <a:t> / 22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GrpSp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Kicker Tick"/>
          <p:cNvSpPr/>
          <p:nvPr/>
        </p:nvSpPr>
        <p:spPr>
          <a:xfrm>
            <a:off x="585216" y="457200"/>
            <a:ext cx="292608" cy="64008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"/>
          <p:cNvSpPr txBox="1"/>
          <p:nvPr/>
        </p:nvSpPr>
        <p:spPr>
          <a:xfrm>
            <a:off x="969264" y="365760"/>
            <a:ext cx="7315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1250" b="1" spc="60" dirty="0">
                <a:solidFill>
                  <a:srgbClr val="8A2BE2"/>
                </a:solidFill>
                <a:latin typeface="Montserrat"/>
                <a:ea typeface="Montserrat"/>
                <a:cs typeface="Montserrat"/>
              </a:rPr>
              <a:t>TIKTOK CASE 03  </a:t>
            </a:r>
            <a:r>
              <a:rPr lang="ja-JP" sz="1100" b="1" spc="2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現実・葛藤型 ／ 世界観・価値訴求ポイント</a:t>
            </a:r>
          </a:p>
        </p:txBody>
      </p:sp>
      <p:sp>
        <p:nvSpPr>
          <p:cNvPr id="5" name="Subhead Mark"/>
          <p:cNvSpPr/>
          <p:nvPr/>
        </p:nvSpPr>
        <p:spPr>
          <a:xfrm>
            <a:off x="585216" y="896112"/>
            <a:ext cx="146304" cy="146304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extBox"/>
          <p:cNvSpPr txBox="1"/>
          <p:nvPr/>
        </p:nvSpPr>
        <p:spPr>
          <a:xfrm>
            <a:off x="804672" y="850392"/>
            <a:ext cx="10801807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1100" b="1" spc="30" dirty="0">
                <a:solidFill>
                  <a:srgbClr val="8A2BE2"/>
                </a:solidFill>
                <a:latin typeface="Montserrat"/>
                <a:ea typeface="Montserrat"/>
                <a:cs typeface="Montserrat"/>
              </a:rPr>
              <a:t>WORLDVIEW  </a:t>
            </a:r>
            <a:r>
              <a:rPr lang="ja-JP" sz="130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世界観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585216" y="1188720"/>
            <a:ext cx="11021263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48000"/>
              </a:lnSpc>
            </a:pPr>
            <a:r>
              <a:rPr lang="ja-JP" sz="11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進路面談で「大学どうするの？」と聞かれ、友達は志望校の話。自分だけ答えられない ―大事件ではないが本人には重い時間。最後も「少し面白そうな仕事を知った」程度でいい。</a:t>
            </a:r>
          </a:p>
        </p:txBody>
      </p:sp>
      <p:sp>
        <p:nvSpPr>
          <p:cNvPr id="8" name="Photo Frame 7"/>
          <p:cNvSpPr/>
          <p:nvPr/>
        </p:nvSpPr>
        <p:spPr>
          <a:xfrm>
            <a:off x="585216" y="2148840"/>
            <a:ext cx="3564026" cy="2331720"/>
          </a:xfrm>
          <a:prstGeom prst="rect">
            <a:avLst/>
          </a:prstGeom>
          <a:solidFill>
            <a:srgbClr val="FFFFFF"/>
          </a:solidFill>
          <a:ln w="15875" cap="flat">
            <a:solidFill>
              <a:srgbClr val="8A2BE2"/>
            </a:solidFill>
            <a:round/>
          </a:ln>
        </p:spPr>
        <p:txBody>
          <a:bodyPr/>
          <a:lstStyle/>
          <a:p/>
        </p:txBody>
      </p:sp>
      <p:cxnSp>
        <p:nvCxnSpPr>
          <p:cNvPr id="9" name="Line"/>
          <p:cNvCxnSpPr/>
          <p:nvPr/>
        </p:nvCxnSpPr>
        <p:spPr>
          <a:xfrm>
            <a:off x="713232" y="4078224"/>
            <a:ext cx="3307994" cy="914"/>
          </a:xfrm>
          <a:prstGeom prst="line">
            <a:avLst/>
          </a:prstGeom>
          <a:ln w="9525" cap="rnd">
            <a:solidFill>
              <a:srgbClr val="8A2BE2"/>
            </a:solidFill>
            <a:headEnd type="none"/>
            <a:tailEnd type="none"/>
          </a:ln>
        </p:spPr>
      </p:cxnSp>
      <p:sp>
        <p:nvSpPr>
          <p:cNvPr id="10" name="TextBox"/>
          <p:cNvSpPr txBox="1"/>
          <p:nvPr/>
        </p:nvSpPr>
        <p:spPr>
          <a:xfrm>
            <a:off x="713232" y="2848356"/>
            <a:ext cx="3307994" cy="839419"/>
          </a:xfrm>
          <a:prstGeom prst="rect">
            <a:avLst/>
          </a:prstGeom>
          <a:noFill/>
          <a:ln>
            <a:noFill/>
          </a:ln>
        </p:spPr>
        <p:txBody>
          <a:bodyPr wrap="square" anchor="b" lIns="45720" rIns="45720" tIns="27432" bIns="27432"/>
          <a:lstStyle/>
          <a:p>
            <a:pPr algn="ctr"/>
            <a:r>
              <a:rPr lang="ja-JP" sz="2000" b="1" spc="40" dirty="0">
                <a:solidFill>
                  <a:srgbClr val="8A2BE2"/>
                </a:solidFill>
                <a:latin typeface="Montserrat"/>
                <a:ea typeface="Montserrat"/>
                <a:cs typeface="Montserrat"/>
              </a:rPr>
              <a:t>PHOTO 07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713232" y="4114800"/>
            <a:ext cx="3307994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進路面談 / 家庭</a:t>
            </a:r>
          </a:p>
        </p:txBody>
      </p:sp>
      <p:sp>
        <p:nvSpPr>
          <p:cNvPr id="12" name="Photo Frame 8"/>
          <p:cNvSpPr/>
          <p:nvPr/>
        </p:nvSpPr>
        <p:spPr>
          <a:xfrm>
            <a:off x="4313834" y="2148840"/>
            <a:ext cx="3564026" cy="2331720"/>
          </a:xfrm>
          <a:prstGeom prst="rect">
            <a:avLst/>
          </a:prstGeom>
          <a:solidFill>
            <a:srgbClr val="FFFFFF"/>
          </a:solidFill>
          <a:ln w="15875" cap="flat">
            <a:solidFill>
              <a:srgbClr val="8A2BE2"/>
            </a:solidFill>
            <a:round/>
          </a:ln>
        </p:spPr>
        <p:txBody>
          <a:bodyPr/>
          <a:lstStyle/>
          <a:p/>
        </p:txBody>
      </p:sp>
      <p:cxnSp>
        <p:nvCxnSpPr>
          <p:cNvPr id="13" name="Line"/>
          <p:cNvCxnSpPr/>
          <p:nvPr/>
        </p:nvCxnSpPr>
        <p:spPr>
          <a:xfrm>
            <a:off x="4441850" y="4078224"/>
            <a:ext cx="3307994" cy="914"/>
          </a:xfrm>
          <a:prstGeom prst="line">
            <a:avLst/>
          </a:prstGeom>
          <a:ln w="9525" cap="rnd">
            <a:solidFill>
              <a:srgbClr val="8A2BE2"/>
            </a:solidFill>
            <a:headEnd type="none"/>
            <a:tailEnd type="none"/>
          </a:ln>
        </p:spPr>
      </p:cxnSp>
      <p:sp>
        <p:nvSpPr>
          <p:cNvPr id="14" name="TextBox"/>
          <p:cNvSpPr txBox="1"/>
          <p:nvPr/>
        </p:nvSpPr>
        <p:spPr>
          <a:xfrm>
            <a:off x="4441850" y="2848356"/>
            <a:ext cx="3307994" cy="839419"/>
          </a:xfrm>
          <a:prstGeom prst="rect">
            <a:avLst/>
          </a:prstGeom>
          <a:noFill/>
          <a:ln>
            <a:noFill/>
          </a:ln>
        </p:spPr>
        <p:txBody>
          <a:bodyPr wrap="square" anchor="b" lIns="45720" rIns="45720" tIns="27432" bIns="27432"/>
          <a:lstStyle/>
          <a:p>
            <a:pPr algn="ctr"/>
            <a:r>
              <a:rPr lang="ja-JP" sz="2000" b="1" spc="40" dirty="0">
                <a:solidFill>
                  <a:srgbClr val="8A2BE2"/>
                </a:solidFill>
                <a:latin typeface="Montserrat"/>
                <a:ea typeface="Montserrat"/>
                <a:cs typeface="Montserrat"/>
              </a:rPr>
              <a:t>PHOTO 08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4441850" y="4114800"/>
            <a:ext cx="3307994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教室 / 友達の会話</a:t>
            </a:r>
          </a:p>
        </p:txBody>
      </p:sp>
      <p:sp>
        <p:nvSpPr>
          <p:cNvPr id="16" name="Photo Frame 9"/>
          <p:cNvSpPr/>
          <p:nvPr/>
        </p:nvSpPr>
        <p:spPr>
          <a:xfrm>
            <a:off x="8042453" y="2148840"/>
            <a:ext cx="3564026" cy="2331720"/>
          </a:xfrm>
          <a:prstGeom prst="rect">
            <a:avLst/>
          </a:prstGeom>
          <a:solidFill>
            <a:srgbClr val="FFFFFF"/>
          </a:solidFill>
          <a:ln w="15875" cap="flat">
            <a:solidFill>
              <a:srgbClr val="8A2BE2"/>
            </a:solidFill>
            <a:round/>
          </a:ln>
        </p:spPr>
        <p:txBody>
          <a:bodyPr/>
          <a:lstStyle/>
          <a:p/>
        </p:txBody>
      </p:sp>
      <p:cxnSp>
        <p:nvCxnSpPr>
          <p:cNvPr id="17" name="Line"/>
          <p:cNvCxnSpPr/>
          <p:nvPr/>
        </p:nvCxnSpPr>
        <p:spPr>
          <a:xfrm>
            <a:off x="8170469" y="4078224"/>
            <a:ext cx="3307994" cy="914"/>
          </a:xfrm>
          <a:prstGeom prst="line">
            <a:avLst/>
          </a:prstGeom>
          <a:ln w="9525" cap="rnd">
            <a:solidFill>
              <a:srgbClr val="8A2BE2"/>
            </a:solidFill>
            <a:headEnd type="none"/>
            <a:tailEnd type="none"/>
          </a:ln>
        </p:spPr>
      </p:cxnSp>
      <p:sp>
        <p:nvSpPr>
          <p:cNvPr id="18" name="TextBox"/>
          <p:cNvSpPr txBox="1"/>
          <p:nvPr/>
        </p:nvSpPr>
        <p:spPr>
          <a:xfrm>
            <a:off x="8170469" y="2848356"/>
            <a:ext cx="3307994" cy="839419"/>
          </a:xfrm>
          <a:prstGeom prst="rect">
            <a:avLst/>
          </a:prstGeom>
          <a:noFill/>
          <a:ln>
            <a:noFill/>
          </a:ln>
        </p:spPr>
        <p:txBody>
          <a:bodyPr wrap="square" anchor="b" lIns="45720" rIns="45720" tIns="27432" bIns="27432"/>
          <a:lstStyle/>
          <a:p>
            <a:pPr algn="ctr"/>
            <a:r>
              <a:rPr lang="ja-JP" sz="2000" b="1" spc="40" dirty="0">
                <a:solidFill>
                  <a:srgbClr val="8A2BE2"/>
                </a:solidFill>
                <a:latin typeface="Montserrat"/>
                <a:ea typeface="Montserrat"/>
                <a:cs typeface="Montserrat"/>
              </a:rPr>
              <a:t>PHOTO 09</a:t>
            </a:r>
          </a:p>
        </p:txBody>
      </p:sp>
      <p:sp>
        <p:nvSpPr>
          <p:cNvPr id="19" name="TextBox"/>
          <p:cNvSpPr txBox="1"/>
          <p:nvPr/>
        </p:nvSpPr>
        <p:spPr>
          <a:xfrm>
            <a:off x="8170469" y="4114800"/>
            <a:ext cx="3307994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通学路 / ひとり</a:t>
            </a:r>
          </a:p>
        </p:txBody>
      </p:sp>
      <p:sp>
        <p:nvSpPr>
          <p:cNvPr id="20" name="Subhead Mark"/>
          <p:cNvSpPr/>
          <p:nvPr/>
        </p:nvSpPr>
        <p:spPr>
          <a:xfrm>
            <a:off x="585216" y="4828032"/>
            <a:ext cx="146304" cy="146304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TextBox"/>
          <p:cNvSpPr txBox="1"/>
          <p:nvPr/>
        </p:nvSpPr>
        <p:spPr>
          <a:xfrm>
            <a:off x="804672" y="4782312"/>
            <a:ext cx="10801807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1100" b="1" spc="30" dirty="0">
                <a:solidFill>
                  <a:srgbClr val="8A2BE2"/>
                </a:solidFill>
                <a:latin typeface="Montserrat"/>
                <a:ea typeface="Montserrat"/>
                <a:cs typeface="Montserrat"/>
              </a:rPr>
              <a:t>VALUE POINT  </a:t>
            </a:r>
            <a:r>
              <a:rPr lang="ja-JP" sz="130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価値訴求ポイント</a:t>
            </a:r>
          </a:p>
        </p:txBody>
      </p:sp>
      <p:sp>
        <p:nvSpPr>
          <p:cNvPr id="22" name="Chip"/>
          <p:cNvSpPr/>
          <p:nvPr/>
        </p:nvSpPr>
        <p:spPr>
          <a:xfrm>
            <a:off x="585216" y="5138928"/>
            <a:ext cx="3142272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 cap="flat">
            <a:solidFill>
              <a:srgbClr val="1A1A1A"/>
            </a:solidFill>
            <a:round/>
          </a:ln>
        </p:spPr>
        <p:txBody>
          <a:bodyPr/>
          <a:lstStyle/>
          <a:p/>
        </p:txBody>
      </p:sp>
      <p:sp>
        <p:nvSpPr>
          <p:cNvPr id="23" name="TextBox"/>
          <p:cNvSpPr txBox="1"/>
          <p:nvPr/>
        </p:nvSpPr>
        <p:spPr>
          <a:xfrm>
            <a:off x="585216" y="5138928"/>
            <a:ext cx="3142272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1150" b="1" spc="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自分だけじゃない。</a:t>
            </a:r>
          </a:p>
        </p:txBody>
      </p:sp>
      <p:cxnSp>
        <p:nvCxnSpPr>
          <p:cNvPr id="24" name="Line"/>
          <p:cNvCxnSpPr/>
          <p:nvPr/>
        </p:nvCxnSpPr>
        <p:spPr>
          <a:xfrm>
            <a:off x="3800640" y="5349240"/>
            <a:ext cx="384048" cy="914"/>
          </a:xfrm>
          <a:prstGeom prst="line">
            <a:avLst/>
          </a:prstGeom>
          <a:ln w="22225" cap="rnd">
            <a:solidFill>
              <a:srgbClr val="8A2BE2"/>
            </a:solidFill>
            <a:headEnd type="none"/>
            <a:tailEnd type="triangle" w="med" len="med"/>
          </a:ln>
        </p:spPr>
      </p:cxnSp>
      <p:sp>
        <p:nvSpPr>
          <p:cNvPr id="25" name="Chip"/>
          <p:cNvSpPr/>
          <p:nvPr/>
        </p:nvSpPr>
        <p:spPr>
          <a:xfrm>
            <a:off x="4276128" y="5138928"/>
            <a:ext cx="3142272" cy="420624"/>
          </a:xfrm>
          <a:prstGeom prst="roundRect">
            <a:avLst>
              <a:gd name="adj" fmla="val 50000"/>
            </a:avLst>
          </a:prstGeom>
          <a:solidFill>
            <a:srgbClr val="8A2BE2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Box"/>
          <p:cNvSpPr txBox="1"/>
          <p:nvPr/>
        </p:nvSpPr>
        <p:spPr>
          <a:xfrm>
            <a:off x="4276128" y="5138928"/>
            <a:ext cx="3142272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1150" b="1" spc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知らない選択肢を知ることはできる。</a:t>
            </a:r>
          </a:p>
        </p:txBody>
      </p:sp>
      <p:sp>
        <p:nvSpPr>
          <p:cNvPr id="27" name="TextBox"/>
          <p:cNvSpPr txBox="1"/>
          <p:nvPr/>
        </p:nvSpPr>
        <p:spPr>
          <a:xfrm>
            <a:off x="8079675" y="5111496"/>
            <a:ext cx="3526804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40000"/>
              </a:lnSpc>
            </a:pPr>
            <a:r>
              <a:rPr lang="ja-JP" sz="100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広告的な成功談ではなく、等身大の感情の動きを届ける。</a:t>
            </a:r>
          </a:p>
        </p:txBody>
      </p:sp>
      <p:cxnSp>
        <p:nvCxnSpPr>
          <p:cNvPr id="28" name="Line"/>
          <p:cNvCxnSpPr/>
          <p:nvPr/>
        </p:nvCxnSpPr>
        <p:spPr>
          <a:xfrm>
            <a:off x="585216" y="6455664"/>
            <a:ext cx="11021263" cy="914"/>
          </a:xfrm>
          <a:prstGeom prst="line">
            <a:avLst/>
          </a:prstGeom>
          <a:ln w="12700" cap="rnd">
            <a:solidFill>
              <a:srgbClr val="8A2BE2"/>
            </a:solidFill>
            <a:headEnd type="none"/>
            <a:tailEnd type="none"/>
          </a:ln>
        </p:spPr>
      </p:cxnSp>
      <p:sp>
        <p:nvSpPr>
          <p:cNvPr id="29" name="TextBox"/>
          <p:cNvSpPr txBox="1"/>
          <p:nvPr/>
        </p:nvSpPr>
        <p:spPr>
          <a:xfrm>
            <a:off x="585216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850" spc="1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JINJIB ― 高卒採用・進路選択マーケティング戦略提案   /   TikTok 案3 現実・葛藤型</a:t>
            </a:r>
          </a:p>
        </p:txBody>
      </p:sp>
      <p:sp>
        <p:nvSpPr>
          <p:cNvPr id="30" name="TextBox"/>
          <p:cNvSpPr txBox="1"/>
          <p:nvPr/>
        </p:nvSpPr>
        <p:spPr>
          <a:xfrm>
            <a:off x="10326319" y="6473952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r"/>
            <a:r>
              <a:rPr lang="ja-JP" sz="1300" b="1" spc="20" dirty="0">
                <a:solidFill>
                  <a:srgbClr val="8A2BE2"/>
                </a:solidFill>
                <a:latin typeface="Montserrat"/>
                <a:ea typeface="Montserrat"/>
                <a:cs typeface="Montserrat"/>
              </a:rPr>
              <a:t>10</a:t>
            </a:r>
            <a:r>
              <a:rPr lang="ja-JP" sz="1000" dirty="0">
                <a:solidFill>
                  <a:srgbClr val="1A1A1A"/>
                </a:solidFill>
                <a:latin typeface="Montserrat"/>
                <a:ea typeface="Montserrat"/>
                <a:cs typeface="Montserrat"/>
              </a:rPr>
              <a:t> / 22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GrpSp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Kicker Tick"/>
          <p:cNvSpPr/>
          <p:nvPr/>
        </p:nvSpPr>
        <p:spPr>
          <a:xfrm>
            <a:off x="585216" y="457200"/>
            <a:ext cx="292608" cy="64008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"/>
          <p:cNvSpPr txBox="1"/>
          <p:nvPr/>
        </p:nvSpPr>
        <p:spPr>
          <a:xfrm>
            <a:off x="969264" y="365760"/>
            <a:ext cx="7315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1250" b="1" spc="60" dirty="0">
                <a:solidFill>
                  <a:srgbClr val="8A2BE2"/>
                </a:solidFill>
                <a:latin typeface="Montserrat"/>
                <a:ea typeface="Montserrat"/>
                <a:cs typeface="Montserrat"/>
              </a:rPr>
              <a:t>TIKTOK CASE 03  </a:t>
            </a:r>
            <a:r>
              <a:rPr lang="ja-JP" sz="1100" b="1" spc="2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現実・葛藤型 ／ 勝つためのコンテンツ定義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585216" y="8229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</a:pPr>
            <a:r>
              <a:rPr lang="ja-JP" sz="220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勝つためのコンテンツ定義</a:t>
            </a:r>
          </a:p>
        </p:txBody>
      </p:sp>
      <p:sp>
        <p:nvSpPr>
          <p:cNvPr id="6" name="Subhead Mark"/>
          <p:cNvSpPr/>
          <p:nvPr/>
        </p:nvSpPr>
        <p:spPr>
          <a:xfrm>
            <a:off x="585216" y="1600200"/>
            <a:ext cx="146304" cy="146304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"/>
          <p:cNvSpPr txBox="1"/>
          <p:nvPr/>
        </p:nvSpPr>
        <p:spPr>
          <a:xfrm>
            <a:off x="804672" y="1554480"/>
            <a:ext cx="10801807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1100" b="1" spc="30" dirty="0">
                <a:solidFill>
                  <a:srgbClr val="8A2BE2"/>
                </a:solidFill>
                <a:latin typeface="Montserrat"/>
                <a:ea typeface="Montserrat"/>
                <a:cs typeface="Montserrat"/>
              </a:rPr>
              <a:t>STRUCTURE  </a:t>
            </a:r>
            <a:r>
              <a:rPr lang="ja-JP" sz="130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構造</a:t>
            </a:r>
          </a:p>
        </p:txBody>
      </p:sp>
      <p:sp>
        <p:nvSpPr>
          <p:cNvPr id="8" name="Step0"/>
          <p:cNvSpPr/>
          <p:nvPr/>
        </p:nvSpPr>
        <p:spPr>
          <a:xfrm>
            <a:off x="585216" y="1965960"/>
            <a:ext cx="2693594" cy="566928"/>
          </a:xfrm>
          <a:prstGeom prst="chevron">
            <a:avLst>
              <a:gd name="adj1" fmla="val 50000"/>
              <a:gd name="adj2" fmla="val 45000"/>
            </a:avLst>
          </a:prstGeom>
          <a:solidFill>
            <a:srgbClr val="1A1A1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Box"/>
          <p:cNvSpPr txBox="1"/>
          <p:nvPr/>
        </p:nvSpPr>
        <p:spPr>
          <a:xfrm>
            <a:off x="585216" y="1965960"/>
            <a:ext cx="2693594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1100" b="1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焦り</a:t>
            </a:r>
          </a:p>
        </p:txBody>
      </p:sp>
      <p:sp>
        <p:nvSpPr>
          <p:cNvPr id="10" name="Step1"/>
          <p:cNvSpPr/>
          <p:nvPr/>
        </p:nvSpPr>
        <p:spPr>
          <a:xfrm>
            <a:off x="3361106" y="1965960"/>
            <a:ext cx="2693594" cy="566928"/>
          </a:xfrm>
          <a:prstGeom prst="chevron">
            <a:avLst>
              <a:gd name="adj1" fmla="val 50000"/>
              <a:gd name="adj2" fmla="val 45000"/>
            </a:avLst>
          </a:prstGeom>
          <a:solidFill>
            <a:srgbClr val="1A1A1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Box"/>
          <p:cNvSpPr txBox="1"/>
          <p:nvPr/>
        </p:nvSpPr>
        <p:spPr>
          <a:xfrm>
            <a:off x="3361106" y="1965960"/>
            <a:ext cx="2693594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1100" b="1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共感</a:t>
            </a:r>
          </a:p>
        </p:txBody>
      </p:sp>
      <p:sp>
        <p:nvSpPr>
          <p:cNvPr id="12" name="Step2"/>
          <p:cNvSpPr/>
          <p:nvPr/>
        </p:nvSpPr>
        <p:spPr>
          <a:xfrm>
            <a:off x="6136996" y="1965960"/>
            <a:ext cx="2693594" cy="566928"/>
          </a:xfrm>
          <a:prstGeom prst="chevron">
            <a:avLst>
              <a:gd name="adj1" fmla="val 50000"/>
              <a:gd name="adj2" fmla="val 45000"/>
            </a:avLst>
          </a:prstGeom>
          <a:solidFill>
            <a:srgbClr val="1A1A1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Box"/>
          <p:cNvSpPr txBox="1"/>
          <p:nvPr/>
        </p:nvSpPr>
        <p:spPr>
          <a:xfrm>
            <a:off x="6136996" y="1965960"/>
            <a:ext cx="2693594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1100" b="1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発見</a:t>
            </a:r>
          </a:p>
        </p:txBody>
      </p:sp>
      <p:sp>
        <p:nvSpPr>
          <p:cNvPr id="14" name="Step3"/>
          <p:cNvSpPr/>
          <p:nvPr/>
        </p:nvSpPr>
        <p:spPr>
          <a:xfrm>
            <a:off x="8912885" y="1965960"/>
            <a:ext cx="2693594" cy="566928"/>
          </a:xfrm>
          <a:prstGeom prst="chevron">
            <a:avLst>
              <a:gd name="adj1" fmla="val 50000"/>
              <a:gd name="adj2" fmla="val 45000"/>
            </a:avLst>
          </a:prstGeom>
          <a:solidFill>
            <a:srgbClr val="8A2B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extBox"/>
          <p:cNvSpPr txBox="1"/>
          <p:nvPr/>
        </p:nvSpPr>
        <p:spPr>
          <a:xfrm>
            <a:off x="8912885" y="1965960"/>
            <a:ext cx="2693594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1100" b="1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小さな変化</a:t>
            </a:r>
          </a:p>
        </p:txBody>
      </p:sp>
      <p:sp>
        <p:nvSpPr>
          <p:cNvPr id="16" name="TextBox"/>
          <p:cNvSpPr txBox="1"/>
          <p:nvPr/>
        </p:nvSpPr>
        <p:spPr>
          <a:xfrm>
            <a:off x="585216" y="2624328"/>
            <a:ext cx="11021263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10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大成功を作りすぎない。主役は小さな感情の変化。</a:t>
            </a:r>
          </a:p>
        </p:txBody>
      </p:sp>
      <p:sp>
        <p:nvSpPr>
          <p:cNvPr id="17" name="Subhead Mark"/>
          <p:cNvSpPr/>
          <p:nvPr/>
        </p:nvSpPr>
        <p:spPr>
          <a:xfrm>
            <a:off x="585216" y="3246120"/>
            <a:ext cx="146304" cy="146304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TextBox"/>
          <p:cNvSpPr txBox="1"/>
          <p:nvPr/>
        </p:nvSpPr>
        <p:spPr>
          <a:xfrm>
            <a:off x="804672" y="3200400"/>
            <a:ext cx="10801807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1100" b="1" spc="30" dirty="0">
                <a:solidFill>
                  <a:srgbClr val="8A2BE2"/>
                </a:solidFill>
                <a:latin typeface="Montserrat"/>
                <a:ea typeface="Montserrat"/>
                <a:cs typeface="Montserrat"/>
              </a:rPr>
              <a:t>EXAMPLES  </a:t>
            </a:r>
            <a:r>
              <a:rPr lang="ja-JP" sz="130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企画例</a:t>
            </a:r>
          </a:p>
        </p:txBody>
      </p:sp>
      <p:sp>
        <p:nvSpPr>
          <p:cNvPr id="19" name="Quote Mark"/>
          <p:cNvSpPr/>
          <p:nvPr/>
        </p:nvSpPr>
        <p:spPr>
          <a:xfrm>
            <a:off x="585216" y="3621024"/>
            <a:ext cx="54864" cy="475488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Box"/>
          <p:cNvSpPr txBox="1"/>
          <p:nvPr/>
        </p:nvSpPr>
        <p:spPr>
          <a:xfrm>
            <a:off x="768096" y="3566160"/>
            <a:ext cx="6650303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28000"/>
              </a:lnSpc>
            </a:pPr>
            <a:r>
              <a:rPr lang="ja-JP" sz="11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夢がないって言ったら、先生に困った顔をされた。</a:t>
            </a:r>
          </a:p>
        </p:txBody>
      </p:sp>
      <p:sp>
        <p:nvSpPr>
          <p:cNvPr id="21" name="Quote Mark"/>
          <p:cNvSpPr/>
          <p:nvPr/>
        </p:nvSpPr>
        <p:spPr>
          <a:xfrm>
            <a:off x="585216" y="4279392"/>
            <a:ext cx="54864" cy="475488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TextBox"/>
          <p:cNvSpPr txBox="1"/>
          <p:nvPr/>
        </p:nvSpPr>
        <p:spPr>
          <a:xfrm>
            <a:off x="768096" y="4224528"/>
            <a:ext cx="6650303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28000"/>
              </a:lnSpc>
            </a:pPr>
            <a:r>
              <a:rPr lang="ja-JP" sz="11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大学に行く理由を聞かれて、答えられなかった。</a:t>
            </a:r>
          </a:p>
        </p:txBody>
      </p:sp>
      <p:sp>
        <p:nvSpPr>
          <p:cNvPr id="23" name="Quote Mark"/>
          <p:cNvSpPr/>
          <p:nvPr/>
        </p:nvSpPr>
        <p:spPr>
          <a:xfrm>
            <a:off x="585216" y="4937760"/>
            <a:ext cx="54864" cy="475488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TextBox"/>
          <p:cNvSpPr txBox="1"/>
          <p:nvPr/>
        </p:nvSpPr>
        <p:spPr>
          <a:xfrm>
            <a:off x="768096" y="4882896"/>
            <a:ext cx="6650303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28000"/>
              </a:lnSpc>
            </a:pPr>
            <a:r>
              <a:rPr lang="ja-JP" sz="11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やりたいことがない僕が、初めて「ちょっと面白そう」と思った仕事。</a:t>
            </a:r>
          </a:p>
        </p:txBody>
      </p:sp>
      <p:sp>
        <p:nvSpPr>
          <p:cNvPr id="25" name="Quote Mark"/>
          <p:cNvSpPr/>
          <p:nvPr/>
        </p:nvSpPr>
        <p:spPr>
          <a:xfrm>
            <a:off x="585216" y="5596128"/>
            <a:ext cx="54864" cy="475488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Box"/>
          <p:cNvSpPr txBox="1"/>
          <p:nvPr/>
        </p:nvSpPr>
        <p:spPr>
          <a:xfrm>
            <a:off x="768096" y="5541264"/>
            <a:ext cx="6650303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28000"/>
              </a:lnSpc>
            </a:pPr>
            <a:r>
              <a:rPr lang="ja-JP" sz="11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みんな将来が決まってるように見えた。</a:t>
            </a:r>
          </a:p>
        </p:txBody>
      </p:sp>
      <p:sp>
        <p:nvSpPr>
          <p:cNvPr id="27" name="Photo Frame 7"/>
          <p:cNvSpPr/>
          <p:nvPr/>
        </p:nvSpPr>
        <p:spPr>
          <a:xfrm>
            <a:off x="8079675" y="3566160"/>
            <a:ext cx="3526804" cy="2651760"/>
          </a:xfrm>
          <a:prstGeom prst="rect">
            <a:avLst/>
          </a:prstGeom>
          <a:solidFill>
            <a:srgbClr val="FFFFFF"/>
          </a:solidFill>
          <a:ln w="15875" cap="flat">
            <a:solidFill>
              <a:srgbClr val="8A2BE2"/>
            </a:solidFill>
            <a:round/>
          </a:ln>
        </p:spPr>
        <p:txBody>
          <a:bodyPr/>
          <a:lstStyle/>
          <a:p/>
        </p:txBody>
      </p:sp>
      <p:cxnSp>
        <p:nvCxnSpPr>
          <p:cNvPr id="28" name="Line"/>
          <p:cNvCxnSpPr/>
          <p:nvPr/>
        </p:nvCxnSpPr>
        <p:spPr>
          <a:xfrm>
            <a:off x="8207691" y="5815584"/>
            <a:ext cx="3270772" cy="914"/>
          </a:xfrm>
          <a:prstGeom prst="line">
            <a:avLst/>
          </a:prstGeom>
          <a:ln w="9525" cap="rnd">
            <a:solidFill>
              <a:srgbClr val="8A2BE2"/>
            </a:solidFill>
            <a:headEnd type="none"/>
            <a:tailEnd type="none"/>
          </a:ln>
        </p:spPr>
      </p:cxnSp>
      <p:sp>
        <p:nvSpPr>
          <p:cNvPr id="29" name="TextBox"/>
          <p:cNvSpPr txBox="1"/>
          <p:nvPr/>
        </p:nvSpPr>
        <p:spPr>
          <a:xfrm>
            <a:off x="8207691" y="4361688"/>
            <a:ext cx="3270772" cy="954634"/>
          </a:xfrm>
          <a:prstGeom prst="rect">
            <a:avLst/>
          </a:prstGeom>
          <a:noFill/>
          <a:ln>
            <a:noFill/>
          </a:ln>
        </p:spPr>
        <p:txBody>
          <a:bodyPr wrap="square" anchor="b" lIns="45720" rIns="45720" tIns="27432" bIns="27432"/>
          <a:lstStyle/>
          <a:p>
            <a:pPr algn="ctr"/>
            <a:r>
              <a:rPr lang="ja-JP" sz="2000" b="1" spc="40" dirty="0">
                <a:solidFill>
                  <a:srgbClr val="8A2BE2"/>
                </a:solidFill>
                <a:latin typeface="Montserrat"/>
                <a:ea typeface="Montserrat"/>
                <a:cs typeface="Montserrat"/>
              </a:rPr>
              <a:t>PHOTO 07</a:t>
            </a:r>
          </a:p>
        </p:txBody>
      </p:sp>
      <p:sp>
        <p:nvSpPr>
          <p:cNvPr id="30" name="TextBox"/>
          <p:cNvSpPr txBox="1"/>
          <p:nvPr/>
        </p:nvSpPr>
        <p:spPr>
          <a:xfrm>
            <a:off x="8207691" y="5852160"/>
            <a:ext cx="3270772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進路面談 / 家庭</a:t>
            </a:r>
          </a:p>
        </p:txBody>
      </p:sp>
      <p:cxnSp>
        <p:nvCxnSpPr>
          <p:cNvPr id="31" name="Line"/>
          <p:cNvCxnSpPr/>
          <p:nvPr/>
        </p:nvCxnSpPr>
        <p:spPr>
          <a:xfrm>
            <a:off x="585216" y="6455664"/>
            <a:ext cx="11021263" cy="914"/>
          </a:xfrm>
          <a:prstGeom prst="line">
            <a:avLst/>
          </a:prstGeom>
          <a:ln w="12700" cap="rnd">
            <a:solidFill>
              <a:srgbClr val="8A2BE2"/>
            </a:solidFill>
            <a:headEnd type="none"/>
            <a:tailEnd type="none"/>
          </a:ln>
        </p:spPr>
      </p:cxnSp>
      <p:sp>
        <p:nvSpPr>
          <p:cNvPr id="32" name="TextBox"/>
          <p:cNvSpPr txBox="1"/>
          <p:nvPr/>
        </p:nvSpPr>
        <p:spPr>
          <a:xfrm>
            <a:off x="585216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850" spc="1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JINJIB ― 高卒採用・進路選択マーケティング戦略提案   /   TikTok 案3 現実・葛藤型</a:t>
            </a:r>
          </a:p>
        </p:txBody>
      </p:sp>
      <p:sp>
        <p:nvSpPr>
          <p:cNvPr id="33" name="TextBox"/>
          <p:cNvSpPr txBox="1"/>
          <p:nvPr/>
        </p:nvSpPr>
        <p:spPr>
          <a:xfrm>
            <a:off x="10326319" y="6473952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r"/>
            <a:r>
              <a:rPr lang="ja-JP" sz="1300" b="1" spc="20" dirty="0">
                <a:solidFill>
                  <a:srgbClr val="8A2BE2"/>
                </a:solidFill>
                <a:latin typeface="Montserrat"/>
                <a:ea typeface="Montserrat"/>
                <a:cs typeface="Montserrat"/>
              </a:rPr>
              <a:t>11</a:t>
            </a:r>
            <a:r>
              <a:rPr lang="ja-JP" sz="1000" dirty="0">
                <a:solidFill>
                  <a:srgbClr val="1A1A1A"/>
                </a:solidFill>
                <a:latin typeface="Montserrat"/>
                <a:ea typeface="Montserrat"/>
                <a:cs typeface="Montserrat"/>
              </a:rPr>
              <a:t> / 22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GrpSp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Kicker Tick"/>
          <p:cNvSpPr/>
          <p:nvPr/>
        </p:nvSpPr>
        <p:spPr>
          <a:xfrm>
            <a:off x="585216" y="457200"/>
            <a:ext cx="292608" cy="64008"/>
          </a:xfrm>
          <a:prstGeom prst="rect">
            <a:avLst/>
          </a:prstGeom>
          <a:solidFill>
            <a:srgbClr val="FF3D8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"/>
          <p:cNvSpPr txBox="1"/>
          <p:nvPr/>
        </p:nvSpPr>
        <p:spPr>
          <a:xfrm>
            <a:off x="969264" y="365760"/>
            <a:ext cx="7315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1250" b="1" spc="60" dirty="0">
                <a:solidFill>
                  <a:srgbClr val="FF3D8A"/>
                </a:solidFill>
                <a:latin typeface="Montserrat"/>
                <a:ea typeface="Montserrat"/>
                <a:cs typeface="Montserrat"/>
              </a:rPr>
              <a:t>INSTAGRAM  </a:t>
            </a:r>
            <a:r>
              <a:rPr lang="ja-JP" sz="1100" b="1" spc="2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アカウント設計・全体コンセプト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585216" y="822960"/>
            <a:ext cx="64008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</a:pPr>
            <a:r>
              <a:rPr lang="ja-JP" sz="300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18歳の、その後。</a:t>
            </a:r>
          </a:p>
        </p:txBody>
      </p:sp>
      <p:sp>
        <p:nvSpPr>
          <p:cNvPr id="6" name="Chip"/>
          <p:cNvSpPr/>
          <p:nvPr/>
        </p:nvSpPr>
        <p:spPr>
          <a:xfrm>
            <a:off x="585216" y="1783080"/>
            <a:ext cx="2628900" cy="420624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"/>
          <p:cNvSpPr txBox="1"/>
          <p:nvPr/>
        </p:nvSpPr>
        <p:spPr>
          <a:xfrm>
            <a:off x="585216" y="1783080"/>
            <a:ext cx="2628900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1200" b="1" spc="2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TikTok ／ フィクション</a:t>
            </a:r>
          </a:p>
        </p:txBody>
      </p:sp>
      <p:sp>
        <p:nvSpPr>
          <p:cNvPr id="8" name="Chip"/>
          <p:cNvSpPr/>
          <p:nvPr/>
        </p:nvSpPr>
        <p:spPr>
          <a:xfrm>
            <a:off x="3259836" y="1783080"/>
            <a:ext cx="411480" cy="420624"/>
          </a:xfrm>
          <a:prstGeom prst="roundRect">
            <a:avLst>
              <a:gd name="adj" fmla="val 50000"/>
            </a:avLst>
          </a:prstGeom>
          <a:solidFill>
            <a:srgbClr val="FF3D8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Box"/>
          <p:cNvSpPr txBox="1"/>
          <p:nvPr/>
        </p:nvSpPr>
        <p:spPr>
          <a:xfrm>
            <a:off x="3259836" y="1783080"/>
            <a:ext cx="411480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1500" b="1" spc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≠</a:t>
            </a:r>
          </a:p>
        </p:txBody>
      </p:sp>
      <p:sp>
        <p:nvSpPr>
          <p:cNvPr id="10" name="Chip"/>
          <p:cNvSpPr/>
          <p:nvPr/>
        </p:nvSpPr>
        <p:spPr>
          <a:xfrm>
            <a:off x="3717036" y="1783080"/>
            <a:ext cx="2628900" cy="420624"/>
          </a:xfrm>
          <a:prstGeom prst="roundRect">
            <a:avLst>
              <a:gd name="adj" fmla="val 50000"/>
            </a:avLst>
          </a:prstGeom>
          <a:solidFill>
            <a:srgbClr val="FF3D8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Box"/>
          <p:cNvSpPr txBox="1"/>
          <p:nvPr/>
        </p:nvSpPr>
        <p:spPr>
          <a:xfrm>
            <a:off x="3717036" y="1783080"/>
            <a:ext cx="2628900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1200" b="1" spc="2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Instagram ／ リアル</a:t>
            </a:r>
          </a:p>
        </p:txBody>
      </p:sp>
      <p:sp>
        <p:nvSpPr>
          <p:cNvPr id="12" name="Subhead Mark"/>
          <p:cNvSpPr/>
          <p:nvPr/>
        </p:nvSpPr>
        <p:spPr>
          <a:xfrm>
            <a:off x="585216" y="2514600"/>
            <a:ext cx="146304" cy="146304"/>
          </a:xfrm>
          <a:prstGeom prst="rect">
            <a:avLst/>
          </a:prstGeom>
          <a:solidFill>
            <a:srgbClr val="FF3D8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Box"/>
          <p:cNvSpPr txBox="1"/>
          <p:nvPr/>
        </p:nvSpPr>
        <p:spPr>
          <a:xfrm>
            <a:off x="804672" y="2468880"/>
            <a:ext cx="554126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1100" b="1" spc="30" dirty="0">
                <a:solidFill>
                  <a:srgbClr val="FF3D8A"/>
                </a:solidFill>
                <a:latin typeface="Montserrat"/>
                <a:ea typeface="Montserrat"/>
                <a:cs typeface="Montserrat"/>
              </a:rPr>
              <a:t>CAST  </a:t>
            </a:r>
            <a:r>
              <a:rPr lang="ja-JP" sz="130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主役にする5人</a:t>
            </a:r>
          </a:p>
        </p:txBody>
      </p:sp>
      <p:sp>
        <p:nvSpPr>
          <p:cNvPr id="14" name="Chip"/>
          <p:cNvSpPr/>
          <p:nvPr/>
        </p:nvSpPr>
        <p:spPr>
          <a:xfrm>
            <a:off x="585216" y="2816352"/>
            <a:ext cx="107899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 cap="flat">
            <a:solidFill>
              <a:srgbClr val="FF3D8A"/>
            </a:solidFill>
            <a:round/>
          </a:ln>
        </p:spPr>
        <p:txBody>
          <a:bodyPr/>
          <a:lstStyle/>
          <a:p/>
        </p:txBody>
      </p:sp>
      <p:sp>
        <p:nvSpPr>
          <p:cNvPr id="15" name="TextBox"/>
          <p:cNvSpPr txBox="1"/>
          <p:nvPr/>
        </p:nvSpPr>
        <p:spPr>
          <a:xfrm>
            <a:off x="585216" y="2816352"/>
            <a:ext cx="107899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50" b="1" spc="0" dirty="0">
                <a:solidFill>
                  <a:srgbClr val="FF3D8A"/>
                </a:solidFill>
                <a:latin typeface="Noto Sans JP"/>
                <a:ea typeface="Noto Sans JP"/>
                <a:cs typeface="Noto Sans JP"/>
              </a:rPr>
              <a:t>高校生</a:t>
            </a:r>
          </a:p>
        </p:txBody>
      </p:sp>
      <p:sp>
        <p:nvSpPr>
          <p:cNvPr id="16" name="Chip"/>
          <p:cNvSpPr/>
          <p:nvPr/>
        </p:nvSpPr>
        <p:spPr>
          <a:xfrm>
            <a:off x="1755648" y="2816352"/>
            <a:ext cx="107899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 cap="flat">
            <a:solidFill>
              <a:srgbClr val="FF3D8A"/>
            </a:solidFill>
            <a:round/>
          </a:ln>
        </p:spPr>
        <p:txBody>
          <a:bodyPr/>
          <a:lstStyle/>
          <a:p/>
        </p:txBody>
      </p:sp>
      <p:sp>
        <p:nvSpPr>
          <p:cNvPr id="17" name="TextBox"/>
          <p:cNvSpPr txBox="1"/>
          <p:nvPr/>
        </p:nvSpPr>
        <p:spPr>
          <a:xfrm>
            <a:off x="1755648" y="2816352"/>
            <a:ext cx="107899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50" b="1" spc="0" dirty="0">
                <a:solidFill>
                  <a:srgbClr val="FF3D8A"/>
                </a:solidFill>
                <a:latin typeface="Noto Sans JP"/>
                <a:ea typeface="Noto Sans JP"/>
                <a:cs typeface="Noto Sans JP"/>
              </a:rPr>
              <a:t>高卒1年目</a:t>
            </a:r>
          </a:p>
        </p:txBody>
      </p:sp>
      <p:sp>
        <p:nvSpPr>
          <p:cNvPr id="18" name="Chip"/>
          <p:cNvSpPr/>
          <p:nvPr/>
        </p:nvSpPr>
        <p:spPr>
          <a:xfrm>
            <a:off x="2926080" y="2816352"/>
            <a:ext cx="107899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 cap="flat">
            <a:solidFill>
              <a:srgbClr val="FF3D8A"/>
            </a:solidFill>
            <a:round/>
          </a:ln>
        </p:spPr>
        <p:txBody>
          <a:bodyPr/>
          <a:lstStyle/>
          <a:p/>
        </p:txBody>
      </p:sp>
      <p:sp>
        <p:nvSpPr>
          <p:cNvPr id="19" name="TextBox"/>
          <p:cNvSpPr txBox="1"/>
          <p:nvPr/>
        </p:nvSpPr>
        <p:spPr>
          <a:xfrm>
            <a:off x="2926080" y="2816352"/>
            <a:ext cx="107899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50" b="1" spc="0" dirty="0">
                <a:solidFill>
                  <a:srgbClr val="FF3D8A"/>
                </a:solidFill>
                <a:latin typeface="Noto Sans JP"/>
                <a:ea typeface="Noto Sans JP"/>
                <a:cs typeface="Noto Sans JP"/>
              </a:rPr>
              <a:t>高卒3年目</a:t>
            </a:r>
          </a:p>
        </p:txBody>
      </p:sp>
      <p:sp>
        <p:nvSpPr>
          <p:cNvPr id="20" name="Chip"/>
          <p:cNvSpPr/>
          <p:nvPr/>
        </p:nvSpPr>
        <p:spPr>
          <a:xfrm>
            <a:off x="4096512" y="2816352"/>
            <a:ext cx="107899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 cap="flat">
            <a:solidFill>
              <a:srgbClr val="FF3D8A"/>
            </a:solidFill>
            <a:round/>
          </a:ln>
        </p:spPr>
        <p:txBody>
          <a:bodyPr/>
          <a:lstStyle/>
          <a:p/>
        </p:txBody>
      </p:sp>
      <p:sp>
        <p:nvSpPr>
          <p:cNvPr id="21" name="TextBox"/>
          <p:cNvSpPr txBox="1"/>
          <p:nvPr/>
        </p:nvSpPr>
        <p:spPr>
          <a:xfrm>
            <a:off x="4096512" y="2816352"/>
            <a:ext cx="107899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50" b="1" spc="0" dirty="0">
                <a:solidFill>
                  <a:srgbClr val="FF3D8A"/>
                </a:solidFill>
                <a:latin typeface="Noto Sans JP"/>
                <a:ea typeface="Noto Sans JP"/>
                <a:cs typeface="Noto Sans JP"/>
              </a:rPr>
              <a:t>大学生</a:t>
            </a:r>
          </a:p>
        </p:txBody>
      </p:sp>
      <p:sp>
        <p:nvSpPr>
          <p:cNvPr id="22" name="Chip"/>
          <p:cNvSpPr/>
          <p:nvPr/>
        </p:nvSpPr>
        <p:spPr>
          <a:xfrm>
            <a:off x="5266944" y="2816352"/>
            <a:ext cx="107899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 cap="flat">
            <a:solidFill>
              <a:srgbClr val="FF3D8A"/>
            </a:solidFill>
            <a:round/>
          </a:ln>
        </p:spPr>
        <p:txBody>
          <a:bodyPr/>
          <a:lstStyle/>
          <a:p/>
        </p:txBody>
      </p:sp>
      <p:sp>
        <p:nvSpPr>
          <p:cNvPr id="23" name="TextBox"/>
          <p:cNvSpPr txBox="1"/>
          <p:nvPr/>
        </p:nvSpPr>
        <p:spPr>
          <a:xfrm>
            <a:off x="5266944" y="2816352"/>
            <a:ext cx="107899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50" b="1" spc="0" dirty="0">
                <a:solidFill>
                  <a:srgbClr val="FF3D8A"/>
                </a:solidFill>
                <a:latin typeface="Noto Sans JP"/>
                <a:ea typeface="Noto Sans JP"/>
                <a:cs typeface="Noto Sans JP"/>
              </a:rPr>
              <a:t>専門学生</a:t>
            </a:r>
          </a:p>
        </p:txBody>
      </p:sp>
      <p:sp>
        <p:nvSpPr>
          <p:cNvPr id="24" name="Subhead Mark"/>
          <p:cNvSpPr/>
          <p:nvPr/>
        </p:nvSpPr>
        <p:spPr>
          <a:xfrm>
            <a:off x="585216" y="3520440"/>
            <a:ext cx="146304" cy="146304"/>
          </a:xfrm>
          <a:prstGeom prst="rect">
            <a:avLst/>
          </a:prstGeom>
          <a:solidFill>
            <a:srgbClr val="FF3D8A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TextBox"/>
          <p:cNvSpPr txBox="1"/>
          <p:nvPr/>
        </p:nvSpPr>
        <p:spPr>
          <a:xfrm>
            <a:off x="804672" y="3474720"/>
            <a:ext cx="554126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1100" b="1" spc="30" dirty="0">
                <a:solidFill>
                  <a:srgbClr val="FF3D8A"/>
                </a:solidFill>
                <a:latin typeface="Montserrat"/>
                <a:ea typeface="Montserrat"/>
                <a:cs typeface="Montserrat"/>
              </a:rPr>
              <a:t>CONCEPT  </a:t>
            </a:r>
            <a:r>
              <a:rPr lang="ja-JP" sz="130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全体コンセプト</a:t>
            </a:r>
          </a:p>
        </p:txBody>
      </p:sp>
      <p:sp>
        <p:nvSpPr>
          <p:cNvPr id="26" name="TextBox"/>
          <p:cNvSpPr txBox="1"/>
          <p:nvPr/>
        </p:nvSpPr>
        <p:spPr>
          <a:xfrm>
            <a:off x="585216" y="3822192"/>
            <a:ext cx="576072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55000"/>
              </a:lnSpc>
            </a:pPr>
            <a:r>
              <a:rPr lang="ja-JP" sz="120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TikTokで描いた「こんな人生もあるかもしれない」を、実在する若者へ接続する。</a:t>
            </a:r>
          </a:p>
          <a:p>
            <a:pPr algn="l">
              <a:lnSpc>
                <a:spcPct val="155000"/>
              </a:lnSpc>
            </a:pPr>
            <a:r>
              <a:rPr lang="ja-JP" sz="120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進路を、選んだ瞬間ではなく「その後」から見る。</a:t>
            </a:r>
          </a:p>
        </p:txBody>
      </p:sp>
      <p:sp>
        <p:nvSpPr>
          <p:cNvPr id="27" name="NoteBox"/>
          <p:cNvSpPr/>
          <p:nvPr/>
        </p:nvSpPr>
        <p:spPr>
          <a:xfrm>
            <a:off x="585216" y="4892040"/>
            <a:ext cx="5760720" cy="1051560"/>
          </a:xfrm>
          <a:prstGeom prst="rect">
            <a:avLst/>
          </a:prstGeom>
          <a:noFill/>
          <a:ln w="15875" cap="flat">
            <a:solidFill>
              <a:srgbClr val="FF3D8A"/>
            </a:solidFill>
            <a:round/>
          </a:ln>
        </p:spPr>
        <p:txBody>
          <a:bodyPr/>
          <a:lstStyle/>
          <a:p/>
        </p:txBody>
      </p:sp>
      <p:sp>
        <p:nvSpPr>
          <p:cNvPr id="28" name="NoteAccent"/>
          <p:cNvSpPr/>
          <p:nvPr/>
        </p:nvSpPr>
        <p:spPr>
          <a:xfrm>
            <a:off x="585216" y="4892040"/>
            <a:ext cx="73152" cy="1051560"/>
          </a:xfrm>
          <a:prstGeom prst="rect">
            <a:avLst/>
          </a:prstGeom>
          <a:solidFill>
            <a:srgbClr val="FF3D8A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TextBox"/>
          <p:cNvSpPr txBox="1"/>
          <p:nvPr/>
        </p:nvSpPr>
        <p:spPr>
          <a:xfrm>
            <a:off x="841248" y="4892040"/>
            <a:ext cx="5303520" cy="10515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>
              <a:lnSpc>
                <a:spcPct val="155000"/>
              </a:lnSpc>
            </a:pPr>
            <a:r>
              <a:rPr lang="ja-JP" sz="11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TikTokで生まれた「まだ違う場所を知らないだけかもしれない」という違和感を、Instagramでは実在する先輩の日常として深掘りする。</a:t>
            </a:r>
          </a:p>
        </p:txBody>
      </p:sp>
      <p:sp>
        <p:nvSpPr>
          <p:cNvPr id="30" name="Phone 15"/>
          <p:cNvSpPr/>
          <p:nvPr/>
        </p:nvSpPr>
        <p:spPr>
          <a:xfrm>
            <a:off x="8363560" y="868680"/>
            <a:ext cx="1554480" cy="3200400"/>
          </a:xfrm>
          <a:prstGeom prst="roundRect">
            <a:avLst>
              <a:gd name="adj" fmla="val 11000"/>
            </a:avLst>
          </a:prstGeom>
          <a:solidFill>
            <a:srgbClr val="1A1A1A"/>
          </a:solidFill>
          <a:ln w="15875" cap="flat">
            <a:solidFill>
              <a:srgbClr val="FF3D8A"/>
            </a:solidFill>
            <a:round/>
          </a:ln>
        </p:spPr>
        <p:txBody>
          <a:bodyPr/>
          <a:lstStyle/>
          <a:p/>
        </p:txBody>
      </p:sp>
      <p:sp>
        <p:nvSpPr>
          <p:cNvPr id="31" name="Screen"/>
          <p:cNvSpPr/>
          <p:nvPr/>
        </p:nvSpPr>
        <p:spPr>
          <a:xfrm>
            <a:off x="8432140" y="985266"/>
            <a:ext cx="1417320" cy="29946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Notch"/>
          <p:cNvSpPr/>
          <p:nvPr/>
        </p:nvSpPr>
        <p:spPr>
          <a:xfrm>
            <a:off x="8985352" y="906399"/>
            <a:ext cx="310896" cy="41148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Home Indicator"/>
          <p:cNvSpPr/>
          <p:nvPr/>
        </p:nvSpPr>
        <p:spPr>
          <a:xfrm>
            <a:off x="8994496" y="3993642"/>
            <a:ext cx="292608" cy="27432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App Bar"/>
          <p:cNvSpPr/>
          <p:nvPr/>
        </p:nvSpPr>
        <p:spPr>
          <a:xfrm>
            <a:off x="8432140" y="985266"/>
            <a:ext cx="1417320" cy="146304"/>
          </a:xfrm>
          <a:prstGeom prst="rect">
            <a:avLst/>
          </a:prstGeom>
          <a:solidFill>
            <a:srgbClr val="FF3D8A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TextBox"/>
          <p:cNvSpPr txBox="1"/>
          <p:nvPr/>
        </p:nvSpPr>
        <p:spPr>
          <a:xfrm>
            <a:off x="8432140" y="985266"/>
            <a:ext cx="1417320" cy="146304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750" b="1" spc="3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INSTAGRAM</a:t>
            </a:r>
          </a:p>
        </p:txBody>
      </p:sp>
      <p:sp>
        <p:nvSpPr>
          <p:cNvPr id="36" name="TextBox"/>
          <p:cNvSpPr txBox="1"/>
          <p:nvPr/>
        </p:nvSpPr>
        <p:spPr>
          <a:xfrm>
            <a:off x="8487004" y="1131570"/>
            <a:ext cx="1307592" cy="2848356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1240" b="1" spc="20" dirty="0">
                <a:solidFill>
                  <a:srgbClr val="FF3D8A"/>
                </a:solidFill>
                <a:latin typeface="Montserrat"/>
                <a:ea typeface="Montserrat"/>
                <a:cs typeface="Montserrat"/>
              </a:rPr>
              <a:t>IMAGE 15</a:t>
            </a:r>
          </a:p>
        </p:txBody>
      </p:sp>
      <p:sp>
        <p:nvSpPr>
          <p:cNvPr id="37" name="TextBox"/>
          <p:cNvSpPr txBox="1"/>
          <p:nvPr/>
        </p:nvSpPr>
        <p:spPr>
          <a:xfrm>
            <a:off x="8363560" y="4114800"/>
            <a:ext cx="15544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ctr"/>
            <a:r>
              <a:rPr lang="ja-JP" sz="8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プロフィール</a:t>
            </a:r>
          </a:p>
        </p:txBody>
      </p:sp>
      <p:sp>
        <p:nvSpPr>
          <p:cNvPr id="38" name="Photo Frame 10"/>
          <p:cNvSpPr/>
          <p:nvPr/>
        </p:nvSpPr>
        <p:spPr>
          <a:xfrm>
            <a:off x="6675120" y="4526280"/>
            <a:ext cx="2383384" cy="1417320"/>
          </a:xfrm>
          <a:prstGeom prst="rect">
            <a:avLst/>
          </a:prstGeom>
          <a:solidFill>
            <a:srgbClr val="FFFFFF"/>
          </a:solidFill>
          <a:ln w="15875" cap="flat">
            <a:solidFill>
              <a:srgbClr val="FF3D8A"/>
            </a:solidFill>
            <a:round/>
          </a:ln>
        </p:spPr>
        <p:txBody>
          <a:bodyPr/>
          <a:lstStyle/>
          <a:p/>
        </p:txBody>
      </p:sp>
      <p:cxnSp>
        <p:nvCxnSpPr>
          <p:cNvPr id="39" name="Line"/>
          <p:cNvCxnSpPr/>
          <p:nvPr/>
        </p:nvCxnSpPr>
        <p:spPr>
          <a:xfrm>
            <a:off x="6803136" y="5541264"/>
            <a:ext cx="2127352" cy="914"/>
          </a:xfrm>
          <a:prstGeom prst="line">
            <a:avLst/>
          </a:prstGeom>
          <a:ln w="9525" cap="rnd">
            <a:solidFill>
              <a:srgbClr val="FF3D8A"/>
            </a:solidFill>
            <a:headEnd type="none"/>
            <a:tailEnd type="none"/>
          </a:ln>
        </p:spPr>
      </p:cxnSp>
      <p:sp>
        <p:nvSpPr>
          <p:cNvPr id="40" name="TextBox"/>
          <p:cNvSpPr txBox="1"/>
          <p:nvPr/>
        </p:nvSpPr>
        <p:spPr>
          <a:xfrm>
            <a:off x="6803136" y="4951476"/>
            <a:ext cx="2127352" cy="510235"/>
          </a:xfrm>
          <a:prstGeom prst="rect">
            <a:avLst/>
          </a:prstGeom>
          <a:noFill/>
          <a:ln>
            <a:noFill/>
          </a:ln>
        </p:spPr>
        <p:txBody>
          <a:bodyPr wrap="square" anchor="b" lIns="45720" rIns="45720" tIns="27432" bIns="27432"/>
          <a:lstStyle/>
          <a:p>
            <a:pPr algn="ctr"/>
            <a:r>
              <a:rPr lang="ja-JP" sz="1395" b="1" spc="40" dirty="0">
                <a:solidFill>
                  <a:srgbClr val="FF3D8A"/>
                </a:solidFill>
                <a:latin typeface="Montserrat"/>
                <a:ea typeface="Montserrat"/>
                <a:cs typeface="Montserrat"/>
              </a:rPr>
              <a:t>PHOTO 10</a:t>
            </a:r>
          </a:p>
        </p:txBody>
      </p:sp>
      <p:sp>
        <p:nvSpPr>
          <p:cNvPr id="41" name="TextBox"/>
          <p:cNvSpPr txBox="1"/>
          <p:nvPr/>
        </p:nvSpPr>
        <p:spPr>
          <a:xfrm>
            <a:off x="6803136" y="5577840"/>
            <a:ext cx="2127352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高卒1年目 / 職場</a:t>
            </a:r>
          </a:p>
        </p:txBody>
      </p:sp>
      <p:sp>
        <p:nvSpPr>
          <p:cNvPr id="42" name="Photo Frame 11"/>
          <p:cNvSpPr/>
          <p:nvPr/>
        </p:nvSpPr>
        <p:spPr>
          <a:xfrm>
            <a:off x="9223096" y="4526280"/>
            <a:ext cx="2383384" cy="1417320"/>
          </a:xfrm>
          <a:prstGeom prst="rect">
            <a:avLst/>
          </a:prstGeom>
          <a:solidFill>
            <a:srgbClr val="FFFFFF"/>
          </a:solidFill>
          <a:ln w="15875" cap="flat">
            <a:solidFill>
              <a:srgbClr val="FF3D8A"/>
            </a:solidFill>
            <a:round/>
          </a:ln>
        </p:spPr>
        <p:txBody>
          <a:bodyPr/>
          <a:lstStyle/>
          <a:p/>
        </p:txBody>
      </p:sp>
      <p:cxnSp>
        <p:nvCxnSpPr>
          <p:cNvPr id="43" name="Line"/>
          <p:cNvCxnSpPr/>
          <p:nvPr/>
        </p:nvCxnSpPr>
        <p:spPr>
          <a:xfrm>
            <a:off x="9351112" y="5541264"/>
            <a:ext cx="2127352" cy="914"/>
          </a:xfrm>
          <a:prstGeom prst="line">
            <a:avLst/>
          </a:prstGeom>
          <a:ln w="9525" cap="rnd">
            <a:solidFill>
              <a:srgbClr val="FF3D8A"/>
            </a:solidFill>
            <a:headEnd type="none"/>
            <a:tailEnd type="none"/>
          </a:ln>
        </p:spPr>
      </p:cxnSp>
      <p:sp>
        <p:nvSpPr>
          <p:cNvPr id="44" name="TextBox"/>
          <p:cNvSpPr txBox="1"/>
          <p:nvPr/>
        </p:nvSpPr>
        <p:spPr>
          <a:xfrm>
            <a:off x="9351112" y="4951476"/>
            <a:ext cx="2127352" cy="510235"/>
          </a:xfrm>
          <a:prstGeom prst="rect">
            <a:avLst/>
          </a:prstGeom>
          <a:noFill/>
          <a:ln>
            <a:noFill/>
          </a:ln>
        </p:spPr>
        <p:txBody>
          <a:bodyPr wrap="square" anchor="b" lIns="45720" rIns="45720" tIns="27432" bIns="27432"/>
          <a:lstStyle/>
          <a:p>
            <a:pPr algn="ctr"/>
            <a:r>
              <a:rPr lang="ja-JP" sz="1395" b="1" spc="40" dirty="0">
                <a:solidFill>
                  <a:srgbClr val="FF3D8A"/>
                </a:solidFill>
                <a:latin typeface="Montserrat"/>
                <a:ea typeface="Montserrat"/>
                <a:cs typeface="Montserrat"/>
              </a:rPr>
              <a:t>PHOTO 11</a:t>
            </a:r>
          </a:p>
        </p:txBody>
      </p:sp>
      <p:sp>
        <p:nvSpPr>
          <p:cNvPr id="45" name="TextBox"/>
          <p:cNvSpPr txBox="1"/>
          <p:nvPr/>
        </p:nvSpPr>
        <p:spPr>
          <a:xfrm>
            <a:off x="9351112" y="5577840"/>
            <a:ext cx="2127352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休日 / 友達と</a:t>
            </a:r>
          </a:p>
        </p:txBody>
      </p:sp>
      <p:cxnSp>
        <p:nvCxnSpPr>
          <p:cNvPr id="46" name="Line"/>
          <p:cNvCxnSpPr/>
          <p:nvPr/>
        </p:nvCxnSpPr>
        <p:spPr>
          <a:xfrm>
            <a:off x="585216" y="6455664"/>
            <a:ext cx="11021263" cy="914"/>
          </a:xfrm>
          <a:prstGeom prst="line">
            <a:avLst/>
          </a:prstGeom>
          <a:ln w="12700" cap="rnd">
            <a:solidFill>
              <a:srgbClr val="FF3D8A"/>
            </a:solidFill>
            <a:headEnd type="none"/>
            <a:tailEnd type="none"/>
          </a:ln>
        </p:spPr>
      </p:cxnSp>
      <p:sp>
        <p:nvSpPr>
          <p:cNvPr id="47" name="TextBox"/>
          <p:cNvSpPr txBox="1"/>
          <p:nvPr/>
        </p:nvSpPr>
        <p:spPr>
          <a:xfrm>
            <a:off x="585216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850" spc="1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JINJIB ― 高卒採用・進路選択マーケティング戦略提案   /   Instagram ／ 共感・自分事化</a:t>
            </a:r>
          </a:p>
        </p:txBody>
      </p:sp>
      <p:sp>
        <p:nvSpPr>
          <p:cNvPr id="48" name="TextBox"/>
          <p:cNvSpPr txBox="1"/>
          <p:nvPr/>
        </p:nvSpPr>
        <p:spPr>
          <a:xfrm>
            <a:off x="10326319" y="6473952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r"/>
            <a:r>
              <a:rPr lang="ja-JP" sz="1300" b="1" spc="20" dirty="0">
                <a:solidFill>
                  <a:srgbClr val="FF3D8A"/>
                </a:solidFill>
                <a:latin typeface="Montserrat"/>
                <a:ea typeface="Montserrat"/>
                <a:cs typeface="Montserrat"/>
              </a:rPr>
              <a:t>12</a:t>
            </a:r>
            <a:r>
              <a:rPr lang="ja-JP" sz="1000" dirty="0">
                <a:solidFill>
                  <a:srgbClr val="1A1A1A"/>
                </a:solidFill>
                <a:latin typeface="Montserrat"/>
                <a:ea typeface="Montserrat"/>
                <a:cs typeface="Montserrat"/>
              </a:rPr>
              <a:t> / 22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GrpSp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Kicker Tick"/>
          <p:cNvSpPr/>
          <p:nvPr/>
        </p:nvSpPr>
        <p:spPr>
          <a:xfrm>
            <a:off x="585216" y="457200"/>
            <a:ext cx="292608" cy="64008"/>
          </a:xfrm>
          <a:prstGeom prst="rect">
            <a:avLst/>
          </a:prstGeom>
          <a:solidFill>
            <a:srgbClr val="FF3D8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"/>
          <p:cNvSpPr txBox="1"/>
          <p:nvPr/>
        </p:nvSpPr>
        <p:spPr>
          <a:xfrm>
            <a:off x="969264" y="365760"/>
            <a:ext cx="7315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1250" b="1" spc="60" dirty="0">
                <a:solidFill>
                  <a:srgbClr val="FF3D8A"/>
                </a:solidFill>
                <a:latin typeface="Montserrat"/>
                <a:ea typeface="Montserrat"/>
                <a:cs typeface="Montserrat"/>
              </a:rPr>
              <a:t>INSTAGRAM  </a:t>
            </a:r>
            <a:r>
              <a:rPr lang="ja-JP" sz="1100" b="1" spc="2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世界観・価値訴求ポイント</a:t>
            </a:r>
          </a:p>
        </p:txBody>
      </p:sp>
      <p:sp>
        <p:nvSpPr>
          <p:cNvPr id="5" name="Subhead Mark"/>
          <p:cNvSpPr/>
          <p:nvPr/>
        </p:nvSpPr>
        <p:spPr>
          <a:xfrm>
            <a:off x="585216" y="896112"/>
            <a:ext cx="146304" cy="146304"/>
          </a:xfrm>
          <a:prstGeom prst="rect">
            <a:avLst/>
          </a:prstGeom>
          <a:solidFill>
            <a:srgbClr val="FF3D8A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extBox"/>
          <p:cNvSpPr txBox="1"/>
          <p:nvPr/>
        </p:nvSpPr>
        <p:spPr>
          <a:xfrm>
            <a:off x="804672" y="850392"/>
            <a:ext cx="10801807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1100" b="1" spc="30" dirty="0">
                <a:solidFill>
                  <a:srgbClr val="FF3D8A"/>
                </a:solidFill>
                <a:latin typeface="Montserrat"/>
                <a:ea typeface="Montserrat"/>
                <a:cs typeface="Montserrat"/>
              </a:rPr>
              <a:t>WORLDVIEW  </a:t>
            </a:r>
            <a:r>
              <a:rPr lang="ja-JP" sz="130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世界観 ― 広告的な成功談は禁止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585216" y="1188720"/>
            <a:ext cx="11021263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50000"/>
              </a:lnSpc>
            </a:pPr>
            <a:r>
              <a:rPr lang="ja-JP" sz="11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仕事・休日・給与・友達・人間関係・後悔・成長。等身大のリアルだけを見せる。</a:t>
            </a:r>
          </a:p>
        </p:txBody>
      </p:sp>
      <p:sp>
        <p:nvSpPr>
          <p:cNvPr id="8" name="Photo Frame 12"/>
          <p:cNvSpPr/>
          <p:nvPr/>
        </p:nvSpPr>
        <p:spPr>
          <a:xfrm>
            <a:off x="585216" y="1828800"/>
            <a:ext cx="3003658" cy="3017520"/>
          </a:xfrm>
          <a:prstGeom prst="rect">
            <a:avLst/>
          </a:prstGeom>
          <a:solidFill>
            <a:srgbClr val="FFFFFF"/>
          </a:solidFill>
          <a:ln w="15875" cap="flat">
            <a:solidFill>
              <a:srgbClr val="FF3D8A"/>
            </a:solidFill>
            <a:round/>
          </a:ln>
        </p:spPr>
        <p:txBody>
          <a:bodyPr/>
          <a:lstStyle/>
          <a:p/>
        </p:txBody>
      </p:sp>
      <p:cxnSp>
        <p:nvCxnSpPr>
          <p:cNvPr id="9" name="Line"/>
          <p:cNvCxnSpPr/>
          <p:nvPr/>
        </p:nvCxnSpPr>
        <p:spPr>
          <a:xfrm>
            <a:off x="713232" y="4443984"/>
            <a:ext cx="2747626" cy="914"/>
          </a:xfrm>
          <a:prstGeom prst="line">
            <a:avLst/>
          </a:prstGeom>
          <a:ln w="9525" cap="rnd">
            <a:solidFill>
              <a:srgbClr val="FF3D8A"/>
            </a:solidFill>
            <a:headEnd type="none"/>
            <a:tailEnd type="none"/>
          </a:ln>
        </p:spPr>
      </p:cxnSp>
      <p:sp>
        <p:nvSpPr>
          <p:cNvPr id="10" name="TextBox"/>
          <p:cNvSpPr txBox="1"/>
          <p:nvPr/>
        </p:nvSpPr>
        <p:spPr>
          <a:xfrm>
            <a:off x="713232" y="2734056"/>
            <a:ext cx="2747626" cy="1086307"/>
          </a:xfrm>
          <a:prstGeom prst="rect">
            <a:avLst/>
          </a:prstGeom>
          <a:noFill/>
          <a:ln>
            <a:noFill/>
          </a:ln>
        </p:spPr>
        <p:txBody>
          <a:bodyPr wrap="square" anchor="b" lIns="45720" rIns="45720" tIns="27432" bIns="27432"/>
          <a:lstStyle/>
          <a:p>
            <a:pPr algn="ctr"/>
            <a:r>
              <a:rPr lang="ja-JP" sz="2000" b="1" spc="40" dirty="0">
                <a:solidFill>
                  <a:srgbClr val="FF3D8A"/>
                </a:solidFill>
                <a:latin typeface="Montserrat"/>
                <a:ea typeface="Montserrat"/>
                <a:cs typeface="Montserrat"/>
              </a:rPr>
              <a:t>PHOTO 12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713232" y="4480560"/>
            <a:ext cx="274762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初任給 / 家族と食事</a:t>
            </a:r>
          </a:p>
        </p:txBody>
      </p:sp>
      <p:sp>
        <p:nvSpPr>
          <p:cNvPr id="12" name="Photo Frame 13"/>
          <p:cNvSpPr/>
          <p:nvPr/>
        </p:nvSpPr>
        <p:spPr>
          <a:xfrm>
            <a:off x="3753466" y="1828800"/>
            <a:ext cx="3003658" cy="3017520"/>
          </a:xfrm>
          <a:prstGeom prst="rect">
            <a:avLst/>
          </a:prstGeom>
          <a:solidFill>
            <a:srgbClr val="FFFFFF"/>
          </a:solidFill>
          <a:ln w="15875" cap="flat">
            <a:solidFill>
              <a:srgbClr val="FF3D8A"/>
            </a:solidFill>
            <a:round/>
          </a:ln>
        </p:spPr>
        <p:txBody>
          <a:bodyPr/>
          <a:lstStyle/>
          <a:p/>
        </p:txBody>
      </p:sp>
      <p:cxnSp>
        <p:nvCxnSpPr>
          <p:cNvPr id="13" name="Line"/>
          <p:cNvCxnSpPr/>
          <p:nvPr/>
        </p:nvCxnSpPr>
        <p:spPr>
          <a:xfrm>
            <a:off x="3881482" y="4443984"/>
            <a:ext cx="2747626" cy="914"/>
          </a:xfrm>
          <a:prstGeom prst="line">
            <a:avLst/>
          </a:prstGeom>
          <a:ln w="9525" cap="rnd">
            <a:solidFill>
              <a:srgbClr val="FF3D8A"/>
            </a:solidFill>
            <a:headEnd type="none"/>
            <a:tailEnd type="none"/>
          </a:ln>
        </p:spPr>
      </p:cxnSp>
      <p:sp>
        <p:nvSpPr>
          <p:cNvPr id="14" name="TextBox"/>
          <p:cNvSpPr txBox="1"/>
          <p:nvPr/>
        </p:nvSpPr>
        <p:spPr>
          <a:xfrm>
            <a:off x="3881482" y="2734056"/>
            <a:ext cx="2747626" cy="1086307"/>
          </a:xfrm>
          <a:prstGeom prst="rect">
            <a:avLst/>
          </a:prstGeom>
          <a:noFill/>
          <a:ln>
            <a:noFill/>
          </a:ln>
        </p:spPr>
        <p:txBody>
          <a:bodyPr wrap="square" anchor="b" lIns="45720" rIns="45720" tIns="27432" bIns="27432"/>
          <a:lstStyle/>
          <a:p>
            <a:pPr algn="ctr"/>
            <a:r>
              <a:rPr lang="ja-JP" sz="2000" b="1" spc="40" dirty="0">
                <a:solidFill>
                  <a:srgbClr val="FF3D8A"/>
                </a:solidFill>
                <a:latin typeface="Montserrat"/>
                <a:ea typeface="Montserrat"/>
                <a:cs typeface="Montserrat"/>
              </a:rPr>
              <a:t>PHOTO 13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3881482" y="4480560"/>
            <a:ext cx="274762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職場 / 先輩と休憩</a:t>
            </a:r>
          </a:p>
        </p:txBody>
      </p:sp>
      <p:sp>
        <p:nvSpPr>
          <p:cNvPr id="16" name="Subhead Mark"/>
          <p:cNvSpPr/>
          <p:nvPr/>
        </p:nvSpPr>
        <p:spPr>
          <a:xfrm>
            <a:off x="7031443" y="1810512"/>
            <a:ext cx="146304" cy="146304"/>
          </a:xfrm>
          <a:prstGeom prst="rect">
            <a:avLst/>
          </a:prstGeom>
          <a:solidFill>
            <a:srgbClr val="FF3D8A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Box"/>
          <p:cNvSpPr txBox="1"/>
          <p:nvPr/>
        </p:nvSpPr>
        <p:spPr>
          <a:xfrm>
            <a:off x="7250899" y="1764792"/>
            <a:ext cx="43555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1100" b="1" spc="30" dirty="0">
                <a:solidFill>
                  <a:srgbClr val="FF3D8A"/>
                </a:solidFill>
                <a:latin typeface="Montserrat"/>
                <a:ea typeface="Montserrat"/>
                <a:cs typeface="Montserrat"/>
              </a:rPr>
              <a:t>VOICE  </a:t>
            </a:r>
            <a:r>
              <a:rPr lang="ja-JP" sz="130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リアルな声</a:t>
            </a:r>
          </a:p>
        </p:txBody>
      </p:sp>
      <p:sp>
        <p:nvSpPr>
          <p:cNvPr id="18" name="Quote Mark"/>
          <p:cNvSpPr/>
          <p:nvPr/>
        </p:nvSpPr>
        <p:spPr>
          <a:xfrm>
            <a:off x="7031443" y="2203704"/>
            <a:ext cx="54864" cy="530352"/>
          </a:xfrm>
          <a:prstGeom prst="rect">
            <a:avLst/>
          </a:prstGeom>
          <a:solidFill>
            <a:srgbClr val="FF3D8A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TextBox"/>
          <p:cNvSpPr txBox="1"/>
          <p:nvPr/>
        </p:nvSpPr>
        <p:spPr>
          <a:xfrm>
            <a:off x="7214323" y="2148840"/>
            <a:ext cx="4392156" cy="713232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28000"/>
              </a:lnSpc>
            </a:pPr>
            <a:r>
              <a:rPr lang="ja-JP" sz="11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大学に行った友達が羨ましかった。</a:t>
            </a:r>
          </a:p>
        </p:txBody>
      </p:sp>
      <p:sp>
        <p:nvSpPr>
          <p:cNvPr id="20" name="Quote Mark"/>
          <p:cNvSpPr/>
          <p:nvPr/>
        </p:nvSpPr>
        <p:spPr>
          <a:xfrm>
            <a:off x="7031443" y="2916936"/>
            <a:ext cx="54864" cy="530352"/>
          </a:xfrm>
          <a:prstGeom prst="rect">
            <a:avLst/>
          </a:prstGeom>
          <a:solidFill>
            <a:srgbClr val="FF3D8A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TextBox"/>
          <p:cNvSpPr txBox="1"/>
          <p:nvPr/>
        </p:nvSpPr>
        <p:spPr>
          <a:xfrm>
            <a:off x="7214323" y="2862072"/>
            <a:ext cx="4392156" cy="713232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28000"/>
              </a:lnSpc>
            </a:pPr>
            <a:r>
              <a:rPr lang="ja-JP" sz="11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最初の半年は辞めたかった。</a:t>
            </a:r>
          </a:p>
        </p:txBody>
      </p:sp>
      <p:sp>
        <p:nvSpPr>
          <p:cNvPr id="22" name="Quote Mark"/>
          <p:cNvSpPr/>
          <p:nvPr/>
        </p:nvSpPr>
        <p:spPr>
          <a:xfrm>
            <a:off x="7031443" y="3630168"/>
            <a:ext cx="54864" cy="530352"/>
          </a:xfrm>
          <a:prstGeom prst="rect">
            <a:avLst/>
          </a:prstGeom>
          <a:solidFill>
            <a:srgbClr val="FF3D8A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Box"/>
          <p:cNvSpPr txBox="1"/>
          <p:nvPr/>
        </p:nvSpPr>
        <p:spPr>
          <a:xfrm>
            <a:off x="7214323" y="3575304"/>
            <a:ext cx="4392156" cy="713232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28000"/>
              </a:lnSpc>
            </a:pPr>
            <a:r>
              <a:rPr lang="ja-JP" sz="11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初任給で親にご飯を奢った。</a:t>
            </a:r>
          </a:p>
        </p:txBody>
      </p:sp>
      <p:sp>
        <p:nvSpPr>
          <p:cNvPr id="24" name="Quote Mark"/>
          <p:cNvSpPr/>
          <p:nvPr/>
        </p:nvSpPr>
        <p:spPr>
          <a:xfrm>
            <a:off x="7031443" y="4343400"/>
            <a:ext cx="54864" cy="530352"/>
          </a:xfrm>
          <a:prstGeom prst="rect">
            <a:avLst/>
          </a:prstGeom>
          <a:solidFill>
            <a:srgbClr val="FF3D8A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TextBox"/>
          <p:cNvSpPr txBox="1"/>
          <p:nvPr/>
        </p:nvSpPr>
        <p:spPr>
          <a:xfrm>
            <a:off x="7214323" y="4288536"/>
            <a:ext cx="4392156" cy="713232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28000"/>
              </a:lnSpc>
            </a:pPr>
            <a:r>
              <a:rPr lang="ja-JP" sz="11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高校生に戻っても同じ進路を選ぶ。</a:t>
            </a:r>
          </a:p>
        </p:txBody>
      </p:sp>
      <p:sp>
        <p:nvSpPr>
          <p:cNvPr id="26" name="Subhead Mark"/>
          <p:cNvSpPr/>
          <p:nvPr/>
        </p:nvSpPr>
        <p:spPr>
          <a:xfrm>
            <a:off x="585216" y="5074920"/>
            <a:ext cx="146304" cy="146304"/>
          </a:xfrm>
          <a:prstGeom prst="rect">
            <a:avLst/>
          </a:prstGeom>
          <a:solidFill>
            <a:srgbClr val="FF3D8A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TextBox"/>
          <p:cNvSpPr txBox="1"/>
          <p:nvPr/>
        </p:nvSpPr>
        <p:spPr>
          <a:xfrm>
            <a:off x="804672" y="5029200"/>
            <a:ext cx="10801807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1100" b="1" spc="30" dirty="0">
                <a:solidFill>
                  <a:srgbClr val="FF3D8A"/>
                </a:solidFill>
                <a:latin typeface="Montserrat"/>
                <a:ea typeface="Montserrat"/>
                <a:cs typeface="Montserrat"/>
              </a:rPr>
              <a:t>VALUE POINT  </a:t>
            </a:r>
            <a:r>
              <a:rPr lang="ja-JP" sz="130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価値訴求ポイント</a:t>
            </a:r>
          </a:p>
        </p:txBody>
      </p:sp>
      <p:sp>
        <p:nvSpPr>
          <p:cNvPr id="28" name="ValueBox"/>
          <p:cNvSpPr/>
          <p:nvPr/>
        </p:nvSpPr>
        <p:spPr>
          <a:xfrm>
            <a:off x="585216" y="5394960"/>
            <a:ext cx="11021263" cy="777240"/>
          </a:xfrm>
          <a:prstGeom prst="rect">
            <a:avLst/>
          </a:prstGeom>
          <a:noFill/>
          <a:ln w="15875" cap="flat">
            <a:solidFill>
              <a:srgbClr val="FF3D8A"/>
            </a:solidFill>
            <a:round/>
          </a:ln>
        </p:spPr>
        <p:txBody>
          <a:bodyPr/>
          <a:lstStyle/>
          <a:p/>
        </p:txBody>
      </p:sp>
      <p:sp>
        <p:nvSpPr>
          <p:cNvPr id="29" name="ValueAccent"/>
          <p:cNvSpPr/>
          <p:nvPr/>
        </p:nvSpPr>
        <p:spPr>
          <a:xfrm>
            <a:off x="585216" y="5394960"/>
            <a:ext cx="73152" cy="777240"/>
          </a:xfrm>
          <a:prstGeom prst="rect">
            <a:avLst/>
          </a:prstGeom>
          <a:solidFill>
            <a:srgbClr val="FF3D8A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TextBox"/>
          <p:cNvSpPr txBox="1"/>
          <p:nvPr/>
        </p:nvSpPr>
        <p:spPr>
          <a:xfrm>
            <a:off x="859536" y="5394960"/>
            <a:ext cx="10472623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>
              <a:lnSpc>
                <a:spcPct val="150000"/>
              </a:lnSpc>
            </a:pPr>
            <a:r>
              <a:rPr lang="ja-JP" sz="140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制度の説明ではなく、「自分と数歳しか違わない人が、どう生きているか」を見せる。</a:t>
            </a:r>
          </a:p>
        </p:txBody>
      </p:sp>
      <p:cxnSp>
        <p:nvCxnSpPr>
          <p:cNvPr id="31" name="Line"/>
          <p:cNvCxnSpPr/>
          <p:nvPr/>
        </p:nvCxnSpPr>
        <p:spPr>
          <a:xfrm>
            <a:off x="585216" y="6455664"/>
            <a:ext cx="11021263" cy="914"/>
          </a:xfrm>
          <a:prstGeom prst="line">
            <a:avLst/>
          </a:prstGeom>
          <a:ln w="12700" cap="rnd">
            <a:solidFill>
              <a:srgbClr val="FF3D8A"/>
            </a:solidFill>
            <a:headEnd type="none"/>
            <a:tailEnd type="none"/>
          </a:ln>
        </p:spPr>
      </p:cxnSp>
      <p:sp>
        <p:nvSpPr>
          <p:cNvPr id="32" name="TextBox"/>
          <p:cNvSpPr txBox="1"/>
          <p:nvPr/>
        </p:nvSpPr>
        <p:spPr>
          <a:xfrm>
            <a:off x="585216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850" spc="1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JINJIB ― 高卒採用・進路選択マーケティング戦略提案   /   Instagram ／ 共感・自分事化</a:t>
            </a:r>
          </a:p>
        </p:txBody>
      </p:sp>
      <p:sp>
        <p:nvSpPr>
          <p:cNvPr id="33" name="TextBox"/>
          <p:cNvSpPr txBox="1"/>
          <p:nvPr/>
        </p:nvSpPr>
        <p:spPr>
          <a:xfrm>
            <a:off x="10326319" y="6473952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r"/>
            <a:r>
              <a:rPr lang="ja-JP" sz="1300" b="1" spc="20" dirty="0">
                <a:solidFill>
                  <a:srgbClr val="FF3D8A"/>
                </a:solidFill>
                <a:latin typeface="Montserrat"/>
                <a:ea typeface="Montserrat"/>
                <a:cs typeface="Montserrat"/>
              </a:rPr>
              <a:t>13</a:t>
            </a:r>
            <a:r>
              <a:rPr lang="ja-JP" sz="1000" dirty="0">
                <a:solidFill>
                  <a:srgbClr val="1A1A1A"/>
                </a:solidFill>
                <a:latin typeface="Montserrat"/>
                <a:ea typeface="Montserrat"/>
                <a:cs typeface="Montserrat"/>
              </a:rPr>
              <a:t> / 22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GrpSp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Kicker Tick"/>
          <p:cNvSpPr/>
          <p:nvPr/>
        </p:nvSpPr>
        <p:spPr>
          <a:xfrm>
            <a:off x="585216" y="457200"/>
            <a:ext cx="292608" cy="64008"/>
          </a:xfrm>
          <a:prstGeom prst="rect">
            <a:avLst/>
          </a:prstGeom>
          <a:solidFill>
            <a:srgbClr val="FF3D8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"/>
          <p:cNvSpPr txBox="1"/>
          <p:nvPr/>
        </p:nvSpPr>
        <p:spPr>
          <a:xfrm>
            <a:off x="969264" y="365760"/>
            <a:ext cx="7315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1250" b="1" spc="60" dirty="0">
                <a:solidFill>
                  <a:srgbClr val="FF3D8A"/>
                </a:solidFill>
                <a:latin typeface="Montserrat"/>
                <a:ea typeface="Montserrat"/>
                <a:cs typeface="Montserrat"/>
              </a:rPr>
              <a:t>INSTAGRAM  </a:t>
            </a:r>
            <a:r>
              <a:rPr lang="ja-JP" sz="1100" b="1" spc="2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勝つためのコンテンツ定義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585216" y="8229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</a:pPr>
            <a:r>
              <a:rPr lang="ja-JP" sz="200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Reels / Feed / Stories の使い分け</a:t>
            </a:r>
          </a:p>
        </p:txBody>
      </p:sp>
      <p:sp>
        <p:nvSpPr>
          <p:cNvPr id="6" name="Col0"/>
          <p:cNvSpPr/>
          <p:nvPr/>
        </p:nvSpPr>
        <p:spPr>
          <a:xfrm>
            <a:off x="585216" y="1600200"/>
            <a:ext cx="3490874" cy="1417320"/>
          </a:xfrm>
          <a:prstGeom prst="rect">
            <a:avLst/>
          </a:prstGeom>
          <a:solidFill>
            <a:srgbClr val="FFFFFF"/>
          </a:solidFill>
          <a:ln w="15875" cap="flat">
            <a:solidFill>
              <a:srgbClr val="FF3D8A"/>
            </a:solidFill>
            <a:round/>
          </a:ln>
        </p:spPr>
        <p:txBody>
          <a:bodyPr/>
          <a:lstStyle/>
          <a:p/>
        </p:txBody>
      </p:sp>
      <p:sp>
        <p:nvSpPr>
          <p:cNvPr id="7" name="ColHead0"/>
          <p:cNvSpPr/>
          <p:nvPr/>
        </p:nvSpPr>
        <p:spPr>
          <a:xfrm>
            <a:off x="585216" y="1600200"/>
            <a:ext cx="3490874" cy="384048"/>
          </a:xfrm>
          <a:prstGeom prst="rect">
            <a:avLst/>
          </a:prstGeom>
          <a:solidFill>
            <a:srgbClr val="FF3D8A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extBox"/>
          <p:cNvSpPr txBox="1"/>
          <p:nvPr/>
        </p:nvSpPr>
        <p:spPr>
          <a:xfrm>
            <a:off x="585216" y="1600200"/>
            <a:ext cx="3490874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1300" b="1" spc="3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REELS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713232" y="2057400"/>
            <a:ext cx="323484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120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人物との出会い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713232" y="2350008"/>
            <a:ext cx="3234842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38000"/>
              </a:lnSpc>
            </a:pPr>
            <a:r>
              <a:rPr lang="ja-JP" sz="9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新しい人物・仕事との</a:t>
            </a:r>
          </a:p>
          <a:p>
            <a:pPr algn="l">
              <a:lnSpc>
                <a:spcPct val="138000"/>
              </a:lnSpc>
            </a:pPr>
            <a:r>
              <a:rPr lang="ja-JP" sz="9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出会いを届ける入口</a:t>
            </a:r>
          </a:p>
        </p:txBody>
      </p:sp>
      <p:sp>
        <p:nvSpPr>
          <p:cNvPr id="11" name="Col1"/>
          <p:cNvSpPr/>
          <p:nvPr/>
        </p:nvSpPr>
        <p:spPr>
          <a:xfrm>
            <a:off x="4350410" y="1600200"/>
            <a:ext cx="3490874" cy="1417320"/>
          </a:xfrm>
          <a:prstGeom prst="rect">
            <a:avLst/>
          </a:prstGeom>
          <a:solidFill>
            <a:srgbClr val="FFFFFF"/>
          </a:solidFill>
          <a:ln w="15875" cap="flat">
            <a:solidFill>
              <a:srgbClr val="FF3D8A"/>
            </a:solidFill>
            <a:round/>
          </a:ln>
        </p:spPr>
        <p:txBody>
          <a:bodyPr/>
          <a:lstStyle/>
          <a:p/>
        </p:txBody>
      </p:sp>
      <p:sp>
        <p:nvSpPr>
          <p:cNvPr id="12" name="ColHead1"/>
          <p:cNvSpPr/>
          <p:nvPr/>
        </p:nvSpPr>
        <p:spPr>
          <a:xfrm>
            <a:off x="4350410" y="1600200"/>
            <a:ext cx="3490874" cy="384048"/>
          </a:xfrm>
          <a:prstGeom prst="rect">
            <a:avLst/>
          </a:prstGeom>
          <a:solidFill>
            <a:srgbClr val="FF3D8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Box"/>
          <p:cNvSpPr txBox="1"/>
          <p:nvPr/>
        </p:nvSpPr>
        <p:spPr>
          <a:xfrm>
            <a:off x="4350410" y="1600200"/>
            <a:ext cx="3490874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1300" b="1" spc="3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FEED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4478426" y="2057400"/>
            <a:ext cx="323484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120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プロフィール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4478426" y="2350008"/>
            <a:ext cx="3234842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38000"/>
              </a:lnSpc>
            </a:pPr>
            <a:r>
              <a:rPr lang="ja-JP" sz="9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当時の悩み・選択・</a:t>
            </a:r>
          </a:p>
          <a:p>
            <a:pPr algn="l">
              <a:lnSpc>
                <a:spcPct val="138000"/>
              </a:lnSpc>
            </a:pPr>
            <a:r>
              <a:rPr lang="ja-JP" sz="9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現在を1投稿で見せる</a:t>
            </a:r>
          </a:p>
        </p:txBody>
      </p:sp>
      <p:sp>
        <p:nvSpPr>
          <p:cNvPr id="16" name="Col2"/>
          <p:cNvSpPr/>
          <p:nvPr/>
        </p:nvSpPr>
        <p:spPr>
          <a:xfrm>
            <a:off x="8115605" y="1600200"/>
            <a:ext cx="3490874" cy="1417320"/>
          </a:xfrm>
          <a:prstGeom prst="rect">
            <a:avLst/>
          </a:prstGeom>
          <a:solidFill>
            <a:srgbClr val="FFFFFF"/>
          </a:solidFill>
          <a:ln w="15875" cap="flat">
            <a:solidFill>
              <a:srgbClr val="FF3D8A"/>
            </a:solidFill>
            <a:round/>
          </a:ln>
        </p:spPr>
        <p:txBody>
          <a:bodyPr/>
          <a:lstStyle/>
          <a:p/>
        </p:txBody>
      </p:sp>
      <p:sp>
        <p:nvSpPr>
          <p:cNvPr id="17" name="ColHead2"/>
          <p:cNvSpPr/>
          <p:nvPr/>
        </p:nvSpPr>
        <p:spPr>
          <a:xfrm>
            <a:off x="8115605" y="1600200"/>
            <a:ext cx="3490874" cy="384048"/>
          </a:xfrm>
          <a:prstGeom prst="rect">
            <a:avLst/>
          </a:prstGeom>
          <a:solidFill>
            <a:srgbClr val="FF3D8A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TextBox"/>
          <p:cNvSpPr txBox="1"/>
          <p:nvPr/>
        </p:nvSpPr>
        <p:spPr>
          <a:xfrm>
            <a:off x="8115605" y="1600200"/>
            <a:ext cx="3490874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1300" b="1" spc="3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STORIES</a:t>
            </a:r>
          </a:p>
        </p:txBody>
      </p:sp>
      <p:sp>
        <p:nvSpPr>
          <p:cNvPr id="19" name="TextBox"/>
          <p:cNvSpPr txBox="1"/>
          <p:nvPr/>
        </p:nvSpPr>
        <p:spPr>
          <a:xfrm>
            <a:off x="8243621" y="2057400"/>
            <a:ext cx="323484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120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視聴者参加</a:t>
            </a:r>
          </a:p>
        </p:txBody>
      </p:sp>
      <p:sp>
        <p:nvSpPr>
          <p:cNvPr id="20" name="TextBox"/>
          <p:cNvSpPr txBox="1"/>
          <p:nvPr/>
        </p:nvSpPr>
        <p:spPr>
          <a:xfrm>
            <a:off x="8243621" y="2350008"/>
            <a:ext cx="3234842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38000"/>
              </a:lnSpc>
            </a:pPr>
            <a:r>
              <a:rPr lang="ja-JP" sz="9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質問・投票で</a:t>
            </a:r>
          </a:p>
          <a:p>
            <a:pPr algn="l">
              <a:lnSpc>
                <a:spcPct val="138000"/>
              </a:lnSpc>
            </a:pPr>
            <a:r>
              <a:rPr lang="ja-JP" sz="9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視聴者を巻き込む</a:t>
            </a:r>
          </a:p>
        </p:txBody>
      </p:sp>
      <p:sp>
        <p:nvSpPr>
          <p:cNvPr id="21" name="Subhead Mark"/>
          <p:cNvSpPr/>
          <p:nvPr/>
        </p:nvSpPr>
        <p:spPr>
          <a:xfrm>
            <a:off x="585216" y="3291840"/>
            <a:ext cx="146304" cy="146304"/>
          </a:xfrm>
          <a:prstGeom prst="rect">
            <a:avLst/>
          </a:prstGeom>
          <a:solidFill>
            <a:srgbClr val="FF3D8A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TextBox"/>
          <p:cNvSpPr txBox="1"/>
          <p:nvPr/>
        </p:nvSpPr>
        <p:spPr>
          <a:xfrm>
            <a:off x="804672" y="3246120"/>
            <a:ext cx="10801807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1100" b="1" spc="30" dirty="0">
                <a:solidFill>
                  <a:srgbClr val="FF3D8A"/>
                </a:solidFill>
                <a:latin typeface="Montserrat"/>
                <a:ea typeface="Montserrat"/>
                <a:cs typeface="Montserrat"/>
              </a:rPr>
              <a:t>SERIES  </a:t>
            </a:r>
            <a:r>
              <a:rPr lang="ja-JP" sz="130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シリーズ企画</a:t>
            </a:r>
          </a:p>
        </p:txBody>
      </p:sp>
      <p:sp>
        <p:nvSpPr>
          <p:cNvPr id="23" name="Chip"/>
          <p:cNvSpPr/>
          <p:nvPr/>
        </p:nvSpPr>
        <p:spPr>
          <a:xfrm>
            <a:off x="585216" y="3593592"/>
            <a:ext cx="2652446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 cap="flat">
            <a:solidFill>
              <a:srgbClr val="FF3D8A"/>
            </a:solidFill>
            <a:round/>
          </a:ln>
        </p:spPr>
        <p:txBody>
          <a:bodyPr/>
          <a:lstStyle/>
          <a:p/>
        </p:txBody>
      </p:sp>
      <p:sp>
        <p:nvSpPr>
          <p:cNvPr id="24" name="TextBox"/>
          <p:cNvSpPr txBox="1"/>
          <p:nvPr/>
        </p:nvSpPr>
        <p:spPr>
          <a:xfrm>
            <a:off x="585216" y="3593592"/>
            <a:ext cx="2652446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50" b="1" spc="0" dirty="0">
                <a:solidFill>
                  <a:srgbClr val="FF3D8A"/>
                </a:solidFill>
                <a:latin typeface="Noto Sans JP"/>
                <a:ea typeface="Noto Sans JP"/>
                <a:cs typeface="Noto Sans JP"/>
              </a:rPr>
              <a:t>18歳、その後。</a:t>
            </a:r>
          </a:p>
        </p:txBody>
      </p:sp>
      <p:sp>
        <p:nvSpPr>
          <p:cNvPr id="25" name="Chip"/>
          <p:cNvSpPr/>
          <p:nvPr/>
        </p:nvSpPr>
        <p:spPr>
          <a:xfrm>
            <a:off x="3374822" y="3593592"/>
            <a:ext cx="2652446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 cap="flat">
            <a:solidFill>
              <a:srgbClr val="FF3D8A"/>
            </a:solidFill>
            <a:round/>
          </a:ln>
        </p:spPr>
        <p:txBody>
          <a:bodyPr/>
          <a:lstStyle/>
          <a:p/>
        </p:txBody>
      </p:sp>
      <p:sp>
        <p:nvSpPr>
          <p:cNvPr id="26" name="TextBox"/>
          <p:cNvSpPr txBox="1"/>
          <p:nvPr/>
        </p:nvSpPr>
        <p:spPr>
          <a:xfrm>
            <a:off x="3374822" y="3593592"/>
            <a:ext cx="2652446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50" b="1" spc="0" dirty="0">
                <a:solidFill>
                  <a:srgbClr val="FF3D8A"/>
                </a:solidFill>
                <a:latin typeface="Noto Sans JP"/>
                <a:ea typeface="Noto Sans JP"/>
                <a:cs typeface="Noto Sans JP"/>
              </a:rPr>
              <a:t>18歳の本音。</a:t>
            </a:r>
          </a:p>
        </p:txBody>
      </p:sp>
      <p:sp>
        <p:nvSpPr>
          <p:cNvPr id="27" name="Chip"/>
          <p:cNvSpPr/>
          <p:nvPr/>
        </p:nvSpPr>
        <p:spPr>
          <a:xfrm>
            <a:off x="6164428" y="3593592"/>
            <a:ext cx="2652446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 cap="flat">
            <a:solidFill>
              <a:srgbClr val="FF3D8A"/>
            </a:solidFill>
            <a:round/>
          </a:ln>
        </p:spPr>
        <p:txBody>
          <a:bodyPr/>
          <a:lstStyle/>
          <a:p/>
        </p:txBody>
      </p:sp>
      <p:sp>
        <p:nvSpPr>
          <p:cNvPr id="28" name="TextBox"/>
          <p:cNvSpPr txBox="1"/>
          <p:nvPr/>
        </p:nvSpPr>
        <p:spPr>
          <a:xfrm>
            <a:off x="6164428" y="3593592"/>
            <a:ext cx="2652446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50" b="1" spc="0" dirty="0">
                <a:solidFill>
                  <a:srgbClr val="FF3D8A"/>
                </a:solidFill>
                <a:latin typeface="Noto Sans JP"/>
                <a:ea typeface="Noto Sans JP"/>
                <a:cs typeface="Noto Sans JP"/>
              </a:rPr>
              <a:t>高校生の自分に言いたいこと。</a:t>
            </a:r>
          </a:p>
        </p:txBody>
      </p:sp>
      <p:sp>
        <p:nvSpPr>
          <p:cNvPr id="29" name="Chip"/>
          <p:cNvSpPr/>
          <p:nvPr/>
        </p:nvSpPr>
        <p:spPr>
          <a:xfrm>
            <a:off x="8954033" y="3593592"/>
            <a:ext cx="2652446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 cap="flat">
            <a:solidFill>
              <a:srgbClr val="FF3D8A"/>
            </a:solidFill>
            <a:round/>
          </a:ln>
        </p:spPr>
        <p:txBody>
          <a:bodyPr/>
          <a:lstStyle/>
          <a:p/>
        </p:txBody>
      </p:sp>
      <p:sp>
        <p:nvSpPr>
          <p:cNvPr id="30" name="TextBox"/>
          <p:cNvSpPr txBox="1"/>
          <p:nvPr/>
        </p:nvSpPr>
        <p:spPr>
          <a:xfrm>
            <a:off x="8954033" y="3593592"/>
            <a:ext cx="2652446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50" b="1" spc="0" dirty="0">
                <a:solidFill>
                  <a:srgbClr val="FF3D8A"/>
                </a:solidFill>
                <a:latin typeface="Noto Sans JP"/>
                <a:ea typeface="Noto Sans JP"/>
                <a:cs typeface="Noto Sans JP"/>
              </a:rPr>
              <a:t>進学した友達／就職した自分。</a:t>
            </a:r>
          </a:p>
        </p:txBody>
      </p:sp>
      <p:sp>
        <p:nvSpPr>
          <p:cNvPr id="31" name="Phone 15"/>
          <p:cNvSpPr/>
          <p:nvPr/>
        </p:nvSpPr>
        <p:spPr>
          <a:xfrm>
            <a:off x="4373580" y="4343400"/>
            <a:ext cx="843379" cy="1737360"/>
          </a:xfrm>
          <a:prstGeom prst="roundRect">
            <a:avLst>
              <a:gd name="adj" fmla="val 11000"/>
            </a:avLst>
          </a:prstGeom>
          <a:solidFill>
            <a:srgbClr val="1A1A1A"/>
          </a:solidFill>
          <a:ln w="15875" cap="flat">
            <a:solidFill>
              <a:srgbClr val="FF3D8A"/>
            </a:solidFill>
            <a:round/>
          </a:ln>
        </p:spPr>
        <p:txBody>
          <a:bodyPr/>
          <a:lstStyle/>
          <a:p/>
        </p:txBody>
      </p:sp>
      <p:sp>
        <p:nvSpPr>
          <p:cNvPr id="32" name="Screen"/>
          <p:cNvSpPr/>
          <p:nvPr/>
        </p:nvSpPr>
        <p:spPr>
          <a:xfrm>
            <a:off x="4442160" y="4459986"/>
            <a:ext cx="706219" cy="15316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Notch"/>
          <p:cNvSpPr/>
          <p:nvPr/>
        </p:nvSpPr>
        <p:spPr>
          <a:xfrm>
            <a:off x="4639821" y="4381119"/>
            <a:ext cx="310896" cy="41148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Home Indicator"/>
          <p:cNvSpPr/>
          <p:nvPr/>
        </p:nvSpPr>
        <p:spPr>
          <a:xfrm>
            <a:off x="4648965" y="6005322"/>
            <a:ext cx="292608" cy="27432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App Bar"/>
          <p:cNvSpPr/>
          <p:nvPr/>
        </p:nvSpPr>
        <p:spPr>
          <a:xfrm>
            <a:off x="4442160" y="4459986"/>
            <a:ext cx="706219" cy="146304"/>
          </a:xfrm>
          <a:prstGeom prst="rect">
            <a:avLst/>
          </a:prstGeom>
          <a:solidFill>
            <a:srgbClr val="FF3D8A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TextBox"/>
          <p:cNvSpPr txBox="1"/>
          <p:nvPr/>
        </p:nvSpPr>
        <p:spPr>
          <a:xfrm>
            <a:off x="4442160" y="4459986"/>
            <a:ext cx="706219" cy="146304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750" b="1" spc="3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INSTAGRAM</a:t>
            </a:r>
          </a:p>
        </p:txBody>
      </p:sp>
      <p:sp>
        <p:nvSpPr>
          <p:cNvPr id="37" name="TextBox"/>
          <p:cNvSpPr txBox="1"/>
          <p:nvPr/>
        </p:nvSpPr>
        <p:spPr>
          <a:xfrm>
            <a:off x="4497024" y="4606290"/>
            <a:ext cx="596491" cy="1385316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618" b="1" spc="20" dirty="0">
                <a:solidFill>
                  <a:srgbClr val="FF3D8A"/>
                </a:solidFill>
                <a:latin typeface="Montserrat"/>
                <a:ea typeface="Montserrat"/>
                <a:cs typeface="Montserrat"/>
              </a:rPr>
              <a:t>IMAGE 15</a:t>
            </a:r>
          </a:p>
        </p:txBody>
      </p:sp>
      <p:sp>
        <p:nvSpPr>
          <p:cNvPr id="38" name="Phone 16"/>
          <p:cNvSpPr/>
          <p:nvPr/>
        </p:nvSpPr>
        <p:spPr>
          <a:xfrm>
            <a:off x="5674158" y="4343400"/>
            <a:ext cx="843379" cy="1737360"/>
          </a:xfrm>
          <a:prstGeom prst="roundRect">
            <a:avLst>
              <a:gd name="adj" fmla="val 11000"/>
            </a:avLst>
          </a:prstGeom>
          <a:solidFill>
            <a:srgbClr val="1A1A1A"/>
          </a:solidFill>
          <a:ln w="15875" cap="flat">
            <a:solidFill>
              <a:srgbClr val="FF3D8A"/>
            </a:solidFill>
            <a:round/>
          </a:ln>
        </p:spPr>
        <p:txBody>
          <a:bodyPr/>
          <a:lstStyle/>
          <a:p/>
        </p:txBody>
      </p:sp>
      <p:sp>
        <p:nvSpPr>
          <p:cNvPr id="39" name="Screen"/>
          <p:cNvSpPr/>
          <p:nvPr/>
        </p:nvSpPr>
        <p:spPr>
          <a:xfrm>
            <a:off x="5742738" y="4459986"/>
            <a:ext cx="706219" cy="15316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Notch"/>
          <p:cNvSpPr/>
          <p:nvPr/>
        </p:nvSpPr>
        <p:spPr>
          <a:xfrm>
            <a:off x="5940400" y="4381119"/>
            <a:ext cx="310896" cy="41148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Home Indicator"/>
          <p:cNvSpPr/>
          <p:nvPr/>
        </p:nvSpPr>
        <p:spPr>
          <a:xfrm>
            <a:off x="5949544" y="6005322"/>
            <a:ext cx="292608" cy="27432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App Bar"/>
          <p:cNvSpPr/>
          <p:nvPr/>
        </p:nvSpPr>
        <p:spPr>
          <a:xfrm>
            <a:off x="5742738" y="4459986"/>
            <a:ext cx="706219" cy="146304"/>
          </a:xfrm>
          <a:prstGeom prst="rect">
            <a:avLst/>
          </a:prstGeom>
          <a:solidFill>
            <a:srgbClr val="FF3D8A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TextBox"/>
          <p:cNvSpPr txBox="1"/>
          <p:nvPr/>
        </p:nvSpPr>
        <p:spPr>
          <a:xfrm>
            <a:off x="5742738" y="4459986"/>
            <a:ext cx="706219" cy="146304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750" b="1" spc="3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INSTAGRAM</a:t>
            </a:r>
          </a:p>
        </p:txBody>
      </p:sp>
      <p:sp>
        <p:nvSpPr>
          <p:cNvPr id="44" name="TextBox"/>
          <p:cNvSpPr txBox="1"/>
          <p:nvPr/>
        </p:nvSpPr>
        <p:spPr>
          <a:xfrm>
            <a:off x="5797602" y="4606290"/>
            <a:ext cx="596491" cy="1385316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618" b="1" spc="20" dirty="0">
                <a:solidFill>
                  <a:srgbClr val="FF3D8A"/>
                </a:solidFill>
                <a:latin typeface="Montserrat"/>
                <a:ea typeface="Montserrat"/>
                <a:cs typeface="Montserrat"/>
              </a:rPr>
              <a:t>IMAGE 16</a:t>
            </a:r>
          </a:p>
        </p:txBody>
      </p:sp>
      <p:sp>
        <p:nvSpPr>
          <p:cNvPr id="45" name="Phone 17"/>
          <p:cNvSpPr/>
          <p:nvPr/>
        </p:nvSpPr>
        <p:spPr>
          <a:xfrm>
            <a:off x="6974737" y="4343400"/>
            <a:ext cx="843379" cy="1737360"/>
          </a:xfrm>
          <a:prstGeom prst="roundRect">
            <a:avLst>
              <a:gd name="adj" fmla="val 11000"/>
            </a:avLst>
          </a:prstGeom>
          <a:solidFill>
            <a:srgbClr val="1A1A1A"/>
          </a:solidFill>
          <a:ln w="15875" cap="flat">
            <a:solidFill>
              <a:srgbClr val="FF3D8A"/>
            </a:solidFill>
            <a:round/>
          </a:ln>
        </p:spPr>
        <p:txBody>
          <a:bodyPr/>
          <a:lstStyle/>
          <a:p/>
        </p:txBody>
      </p:sp>
      <p:sp>
        <p:nvSpPr>
          <p:cNvPr id="46" name="Screen"/>
          <p:cNvSpPr/>
          <p:nvPr/>
        </p:nvSpPr>
        <p:spPr>
          <a:xfrm>
            <a:off x="7043317" y="4459986"/>
            <a:ext cx="706219" cy="15316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Notch"/>
          <p:cNvSpPr/>
          <p:nvPr/>
        </p:nvSpPr>
        <p:spPr>
          <a:xfrm>
            <a:off x="7240978" y="4381119"/>
            <a:ext cx="310896" cy="41148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Home Indicator"/>
          <p:cNvSpPr/>
          <p:nvPr/>
        </p:nvSpPr>
        <p:spPr>
          <a:xfrm>
            <a:off x="7250122" y="6005322"/>
            <a:ext cx="292608" cy="27432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App Bar"/>
          <p:cNvSpPr/>
          <p:nvPr/>
        </p:nvSpPr>
        <p:spPr>
          <a:xfrm>
            <a:off x="7043317" y="4459986"/>
            <a:ext cx="706219" cy="146304"/>
          </a:xfrm>
          <a:prstGeom prst="rect">
            <a:avLst/>
          </a:prstGeom>
          <a:solidFill>
            <a:srgbClr val="FF3D8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Box"/>
          <p:cNvSpPr txBox="1"/>
          <p:nvPr/>
        </p:nvSpPr>
        <p:spPr>
          <a:xfrm>
            <a:off x="7043317" y="4459986"/>
            <a:ext cx="706219" cy="146304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750" b="1" spc="3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INSTAGRAM</a:t>
            </a:r>
          </a:p>
        </p:txBody>
      </p:sp>
      <p:sp>
        <p:nvSpPr>
          <p:cNvPr id="51" name="TextBox"/>
          <p:cNvSpPr txBox="1"/>
          <p:nvPr/>
        </p:nvSpPr>
        <p:spPr>
          <a:xfrm>
            <a:off x="7098181" y="4606290"/>
            <a:ext cx="596491" cy="1385316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618" b="1" spc="20" dirty="0">
                <a:solidFill>
                  <a:srgbClr val="FF3D8A"/>
                </a:solidFill>
                <a:latin typeface="Montserrat"/>
                <a:ea typeface="Montserrat"/>
                <a:cs typeface="Montserrat"/>
              </a:rPr>
              <a:t>IMAGE 17</a:t>
            </a:r>
          </a:p>
        </p:txBody>
      </p:sp>
      <p:cxnSp>
        <p:nvCxnSpPr>
          <p:cNvPr id="52" name="Line"/>
          <p:cNvCxnSpPr/>
          <p:nvPr/>
        </p:nvCxnSpPr>
        <p:spPr>
          <a:xfrm>
            <a:off x="585216" y="6455664"/>
            <a:ext cx="11021263" cy="914"/>
          </a:xfrm>
          <a:prstGeom prst="line">
            <a:avLst/>
          </a:prstGeom>
          <a:ln w="12700" cap="rnd">
            <a:solidFill>
              <a:srgbClr val="FF3D8A"/>
            </a:solidFill>
            <a:headEnd type="none"/>
            <a:tailEnd type="none"/>
          </a:ln>
        </p:spPr>
      </p:cxnSp>
      <p:sp>
        <p:nvSpPr>
          <p:cNvPr id="53" name="TextBox"/>
          <p:cNvSpPr txBox="1"/>
          <p:nvPr/>
        </p:nvSpPr>
        <p:spPr>
          <a:xfrm>
            <a:off x="585216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850" spc="1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JINJIB ― 高卒採用・進路選択マーケティング戦略提案   /   Instagram ／ 共感・自分事化</a:t>
            </a:r>
          </a:p>
        </p:txBody>
      </p:sp>
      <p:sp>
        <p:nvSpPr>
          <p:cNvPr id="54" name="TextBox"/>
          <p:cNvSpPr txBox="1"/>
          <p:nvPr/>
        </p:nvSpPr>
        <p:spPr>
          <a:xfrm>
            <a:off x="10326319" y="6473952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r"/>
            <a:r>
              <a:rPr lang="ja-JP" sz="1300" b="1" spc="20" dirty="0">
                <a:solidFill>
                  <a:srgbClr val="FF3D8A"/>
                </a:solidFill>
                <a:latin typeface="Montserrat"/>
                <a:ea typeface="Montserrat"/>
                <a:cs typeface="Montserrat"/>
              </a:rPr>
              <a:t>14</a:t>
            </a:r>
            <a:r>
              <a:rPr lang="ja-JP" sz="1000" dirty="0">
                <a:solidFill>
                  <a:srgbClr val="1A1A1A"/>
                </a:solidFill>
                <a:latin typeface="Montserrat"/>
                <a:ea typeface="Montserrat"/>
                <a:cs typeface="Montserrat"/>
              </a:rPr>
              <a:t> / 22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GrpSp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Kicker Tick"/>
          <p:cNvSpPr/>
          <p:nvPr/>
        </p:nvSpPr>
        <p:spPr>
          <a:xfrm>
            <a:off x="585216" y="457200"/>
            <a:ext cx="292608" cy="64008"/>
          </a:xfrm>
          <a:prstGeom prst="rect">
            <a:avLst/>
          </a:prstGeom>
          <a:solidFill>
            <a:srgbClr val="2A5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"/>
          <p:cNvSpPr txBox="1"/>
          <p:nvPr/>
        </p:nvSpPr>
        <p:spPr>
          <a:xfrm>
            <a:off x="969264" y="365760"/>
            <a:ext cx="7315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1250" b="1" spc="60" dirty="0">
                <a:solidFill>
                  <a:srgbClr val="2A5CFF"/>
                </a:solidFill>
                <a:latin typeface="Montserrat"/>
                <a:ea typeface="Montserrat"/>
                <a:cs typeface="Montserrat"/>
              </a:rPr>
              <a:t>YOUTUBE  </a:t>
            </a:r>
            <a:r>
              <a:rPr lang="ja-JP" sz="1100" b="1" spc="2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アカウント設計・全体コンセプト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585216" y="822960"/>
            <a:ext cx="6035040" cy="13716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22000"/>
              </a:lnSpc>
            </a:pPr>
            <a:r>
              <a:rPr lang="ja-JP" sz="270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18歳から始まる、</a:t>
            </a:r>
          </a:p>
          <a:p>
            <a:pPr algn="l">
              <a:lnSpc>
                <a:spcPct val="122000"/>
              </a:lnSpc>
            </a:pPr>
            <a:r>
              <a:rPr lang="ja-JP" sz="270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仕事のリアル。</a:t>
            </a:r>
          </a:p>
        </p:txBody>
      </p:sp>
      <p:sp>
        <p:nvSpPr>
          <p:cNvPr id="6" name="Subhead Mark"/>
          <p:cNvSpPr/>
          <p:nvPr/>
        </p:nvSpPr>
        <p:spPr>
          <a:xfrm>
            <a:off x="585216" y="2331720"/>
            <a:ext cx="146304" cy="146304"/>
          </a:xfrm>
          <a:prstGeom prst="rect">
            <a:avLst/>
          </a:prstGeom>
          <a:solidFill>
            <a:srgbClr val="2A5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"/>
          <p:cNvSpPr txBox="1"/>
          <p:nvPr/>
        </p:nvSpPr>
        <p:spPr>
          <a:xfrm>
            <a:off x="804672" y="2286000"/>
            <a:ext cx="554126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1100" b="1" spc="30" dirty="0">
                <a:solidFill>
                  <a:srgbClr val="2A5CFF"/>
                </a:solidFill>
                <a:latin typeface="Montserrat"/>
                <a:ea typeface="Montserrat"/>
                <a:cs typeface="Montserrat"/>
              </a:rPr>
              <a:t>ACCOUNT DESIGN  </a:t>
            </a:r>
            <a:r>
              <a:rPr lang="ja-JP" sz="130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アカウント設計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585216" y="2633472"/>
            <a:ext cx="576072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50000"/>
              </a:lnSpc>
            </a:pPr>
            <a:r>
              <a:rPr lang="ja-JP" sz="120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高校生が普段見られない「仕事・会社・働く人」を見せる。</a:t>
            </a:r>
          </a:p>
          <a:p>
            <a:pPr algn="l">
              <a:lnSpc>
                <a:spcPct val="150000"/>
              </a:lnSpc>
            </a:pPr>
            <a:r>
              <a:rPr lang="ja-JP" sz="120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主役は採用担当者ではなく、若手社員と高校生、現場の人。</a:t>
            </a:r>
          </a:p>
        </p:txBody>
      </p:sp>
      <p:sp>
        <p:nvSpPr>
          <p:cNvPr id="9" name="Subhead Mark"/>
          <p:cNvSpPr/>
          <p:nvPr/>
        </p:nvSpPr>
        <p:spPr>
          <a:xfrm>
            <a:off x="585216" y="3794760"/>
            <a:ext cx="146304" cy="146304"/>
          </a:xfrm>
          <a:prstGeom prst="rect">
            <a:avLst/>
          </a:prstGeom>
          <a:solidFill>
            <a:srgbClr val="2A5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Box"/>
          <p:cNvSpPr txBox="1"/>
          <p:nvPr/>
        </p:nvSpPr>
        <p:spPr>
          <a:xfrm>
            <a:off x="804672" y="3749040"/>
            <a:ext cx="554126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1100" b="1" spc="30" dirty="0">
                <a:solidFill>
                  <a:srgbClr val="2A5CFF"/>
                </a:solidFill>
                <a:latin typeface="Montserrat"/>
                <a:ea typeface="Montserrat"/>
                <a:cs typeface="Montserrat"/>
              </a:rPr>
              <a:t>CONCEPT  </a:t>
            </a:r>
            <a:r>
              <a:rPr lang="ja-JP" sz="130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全体コンセプト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585216" y="4096512"/>
            <a:ext cx="576072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50000"/>
              </a:lnSpc>
            </a:pPr>
            <a:r>
              <a:rPr lang="ja-JP" sz="150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会社を知る前に、そこで働く人を知る。</a:t>
            </a:r>
          </a:p>
        </p:txBody>
      </p:sp>
      <p:sp>
        <p:nvSpPr>
          <p:cNvPr id="12" name="Subhead Mark"/>
          <p:cNvSpPr/>
          <p:nvPr/>
        </p:nvSpPr>
        <p:spPr>
          <a:xfrm>
            <a:off x="585216" y="4892040"/>
            <a:ext cx="146304" cy="146304"/>
          </a:xfrm>
          <a:prstGeom prst="rect">
            <a:avLst/>
          </a:prstGeom>
          <a:solidFill>
            <a:srgbClr val="2A5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Box"/>
          <p:cNvSpPr txBox="1"/>
          <p:nvPr/>
        </p:nvSpPr>
        <p:spPr>
          <a:xfrm>
            <a:off x="804672" y="4846320"/>
            <a:ext cx="554126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1100" b="1" spc="30" dirty="0">
                <a:solidFill>
                  <a:srgbClr val="2A5CFF"/>
                </a:solidFill>
                <a:latin typeface="Montserrat"/>
                <a:ea typeface="Montserrat"/>
                <a:cs typeface="Montserrat"/>
              </a:rPr>
              <a:t>WHY YOUTUBE  </a:t>
            </a:r>
            <a:r>
              <a:rPr lang="ja-JP" sz="130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TikTok / Instagramとの違い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585216" y="5193792"/>
            <a:ext cx="576072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50000"/>
              </a:lnSpc>
            </a:pPr>
            <a:r>
              <a:rPr lang="ja-JP" sz="110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短尺で興味を引いたTikTok、実在の先輩に共感したInstagramの先に、</a:t>
            </a:r>
          </a:p>
          <a:p>
            <a:pPr algn="l">
              <a:lnSpc>
                <a:spcPct val="150000"/>
              </a:lnSpc>
            </a:pPr>
            <a:r>
              <a:rPr lang="ja-JP" sz="110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「10分間、じっくり見て理解する」場所を置く。採用担当者目線ではなく、</a:t>
            </a:r>
          </a:p>
          <a:p>
            <a:pPr algn="l">
              <a:lnSpc>
                <a:spcPct val="150000"/>
              </a:lnSpc>
            </a:pPr>
            <a:r>
              <a:rPr lang="ja-JP" sz="110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同じ目線の若手社員が案内するドキュメンタリー形式で見せる。</a:t>
            </a:r>
          </a:p>
        </p:txBody>
      </p:sp>
      <p:sp>
        <p:nvSpPr>
          <p:cNvPr id="15" name="PC 21"/>
          <p:cNvSpPr/>
          <p:nvPr/>
        </p:nvSpPr>
        <p:spPr>
          <a:xfrm>
            <a:off x="6720840" y="868680"/>
            <a:ext cx="4885639" cy="2833671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5875" cap="flat">
            <a:solidFill>
              <a:srgbClr val="2A5CFF"/>
            </a:solidFill>
            <a:round/>
          </a:ln>
        </p:spPr>
        <p:txBody>
          <a:bodyPr/>
          <a:lstStyle/>
          <a:p/>
        </p:txBody>
      </p:sp>
      <p:sp>
        <p:nvSpPr>
          <p:cNvPr id="16" name="Screen"/>
          <p:cNvSpPr/>
          <p:nvPr/>
        </p:nvSpPr>
        <p:spPr>
          <a:xfrm>
            <a:off x="6803136" y="950976"/>
            <a:ext cx="4721047" cy="26690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Stand Neck"/>
          <p:cNvSpPr/>
          <p:nvPr/>
        </p:nvSpPr>
        <p:spPr>
          <a:xfrm>
            <a:off x="8772808" y="3702351"/>
            <a:ext cx="781702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Stand Base"/>
          <p:cNvSpPr/>
          <p:nvPr/>
        </p:nvSpPr>
        <p:spPr>
          <a:xfrm>
            <a:off x="8039963" y="3848655"/>
            <a:ext cx="2247394" cy="54864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TextBox"/>
          <p:cNvSpPr txBox="1"/>
          <p:nvPr/>
        </p:nvSpPr>
        <p:spPr>
          <a:xfrm>
            <a:off x="6876288" y="1005840"/>
            <a:ext cx="4574743" cy="2522775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ctr"/>
            <a:r>
              <a:rPr lang="ja-JP" sz="1652" b="1" spc="20" dirty="0">
                <a:solidFill>
                  <a:srgbClr val="2A5CFF"/>
                </a:solidFill>
                <a:latin typeface="Montserrat"/>
                <a:ea typeface="Montserrat"/>
                <a:cs typeface="Montserrat"/>
              </a:rPr>
              <a:t>IMAGE 21</a:t>
            </a:r>
          </a:p>
        </p:txBody>
      </p:sp>
      <p:sp>
        <p:nvSpPr>
          <p:cNvPr id="20" name="Play Button"/>
          <p:cNvSpPr/>
          <p:nvPr/>
        </p:nvSpPr>
        <p:spPr>
          <a:xfrm>
            <a:off x="8880196" y="2093491"/>
            <a:ext cx="566928" cy="384048"/>
          </a:xfrm>
          <a:prstGeom prst="roundRect">
            <a:avLst>
              <a:gd name="adj" fmla="val 28000"/>
            </a:avLst>
          </a:prstGeom>
          <a:solidFill>
            <a:srgbClr val="2A5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Play Triangle"/>
          <p:cNvSpPr/>
          <p:nvPr/>
        </p:nvSpPr>
        <p:spPr>
          <a:xfrm rot="5400000">
            <a:off x="9084290" y="2201025"/>
            <a:ext cx="181417" cy="168981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TextBox"/>
          <p:cNvSpPr txBox="1"/>
          <p:nvPr/>
        </p:nvSpPr>
        <p:spPr>
          <a:xfrm>
            <a:off x="6720840" y="3976671"/>
            <a:ext cx="4885639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ctr"/>
            <a:r>
              <a:rPr lang="ja-JP" sz="8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若手社員ドキュメンタリー</a:t>
            </a:r>
          </a:p>
        </p:txBody>
      </p:sp>
      <p:sp>
        <p:nvSpPr>
          <p:cNvPr id="23" name="Photo Frame 14"/>
          <p:cNvSpPr/>
          <p:nvPr/>
        </p:nvSpPr>
        <p:spPr>
          <a:xfrm>
            <a:off x="6720840" y="4205271"/>
            <a:ext cx="4885639" cy="1417320"/>
          </a:xfrm>
          <a:prstGeom prst="rect">
            <a:avLst/>
          </a:prstGeom>
          <a:solidFill>
            <a:srgbClr val="FFFFFF"/>
          </a:solidFill>
          <a:ln w="15875" cap="flat">
            <a:solidFill>
              <a:srgbClr val="2A5CFF"/>
            </a:solidFill>
            <a:round/>
          </a:ln>
        </p:spPr>
        <p:txBody>
          <a:bodyPr/>
          <a:lstStyle/>
          <a:p/>
        </p:txBody>
      </p:sp>
      <p:cxnSp>
        <p:nvCxnSpPr>
          <p:cNvPr id="24" name="Line"/>
          <p:cNvCxnSpPr/>
          <p:nvPr/>
        </p:nvCxnSpPr>
        <p:spPr>
          <a:xfrm>
            <a:off x="6848856" y="5220255"/>
            <a:ext cx="4629607" cy="914"/>
          </a:xfrm>
          <a:prstGeom prst="line">
            <a:avLst/>
          </a:prstGeom>
          <a:ln w="9525" cap="rnd">
            <a:solidFill>
              <a:srgbClr val="2A5CFF"/>
            </a:solidFill>
            <a:headEnd type="none"/>
            <a:tailEnd type="none"/>
          </a:ln>
        </p:spPr>
      </p:cxnSp>
      <p:sp>
        <p:nvSpPr>
          <p:cNvPr id="25" name="TextBox"/>
          <p:cNvSpPr txBox="1"/>
          <p:nvPr/>
        </p:nvSpPr>
        <p:spPr>
          <a:xfrm>
            <a:off x="6848856" y="4630467"/>
            <a:ext cx="4629607" cy="510235"/>
          </a:xfrm>
          <a:prstGeom prst="rect">
            <a:avLst/>
          </a:prstGeom>
          <a:noFill/>
          <a:ln>
            <a:noFill/>
          </a:ln>
        </p:spPr>
        <p:txBody>
          <a:bodyPr wrap="square" anchor="b" lIns="45720" rIns="45720" tIns="27432" bIns="27432"/>
          <a:lstStyle/>
          <a:p>
            <a:pPr algn="ctr"/>
            <a:r>
              <a:rPr lang="ja-JP" sz="1395" b="1" spc="40" dirty="0">
                <a:solidFill>
                  <a:srgbClr val="2A5CFF"/>
                </a:solidFill>
                <a:latin typeface="Montserrat"/>
                <a:ea typeface="Montserrat"/>
                <a:cs typeface="Montserrat"/>
              </a:rPr>
              <a:t>PHOTO 14</a:t>
            </a:r>
          </a:p>
        </p:txBody>
      </p:sp>
      <p:sp>
        <p:nvSpPr>
          <p:cNvPr id="26" name="TextBox"/>
          <p:cNvSpPr txBox="1"/>
          <p:nvPr/>
        </p:nvSpPr>
        <p:spPr>
          <a:xfrm>
            <a:off x="6848856" y="5256831"/>
            <a:ext cx="4629607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現場 / 若手社員と先輩</a:t>
            </a:r>
          </a:p>
        </p:txBody>
      </p:sp>
      <p:cxnSp>
        <p:nvCxnSpPr>
          <p:cNvPr id="27" name="Line"/>
          <p:cNvCxnSpPr/>
          <p:nvPr/>
        </p:nvCxnSpPr>
        <p:spPr>
          <a:xfrm>
            <a:off x="585216" y="6455664"/>
            <a:ext cx="11021263" cy="914"/>
          </a:xfrm>
          <a:prstGeom prst="line">
            <a:avLst/>
          </a:prstGeom>
          <a:ln w="12700" cap="rnd">
            <a:solidFill>
              <a:srgbClr val="2A5CFF"/>
            </a:solidFill>
            <a:headEnd type="none"/>
            <a:tailEnd type="none"/>
          </a:ln>
        </p:spPr>
      </p:cxnSp>
      <p:sp>
        <p:nvSpPr>
          <p:cNvPr id="28" name="TextBox"/>
          <p:cNvSpPr txBox="1"/>
          <p:nvPr/>
        </p:nvSpPr>
        <p:spPr>
          <a:xfrm>
            <a:off x="585216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850" spc="1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JINJIB ― 高卒採用・進路選択マーケティング戦略提案   /   YouTube ／ 理解・深掘り</a:t>
            </a:r>
          </a:p>
        </p:txBody>
      </p:sp>
      <p:sp>
        <p:nvSpPr>
          <p:cNvPr id="29" name="TextBox"/>
          <p:cNvSpPr txBox="1"/>
          <p:nvPr/>
        </p:nvSpPr>
        <p:spPr>
          <a:xfrm>
            <a:off x="10326319" y="6473952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r"/>
            <a:r>
              <a:rPr lang="ja-JP" sz="1300" b="1" spc="20" dirty="0">
                <a:solidFill>
                  <a:srgbClr val="2A5CFF"/>
                </a:solidFill>
                <a:latin typeface="Montserrat"/>
                <a:ea typeface="Montserrat"/>
                <a:cs typeface="Montserrat"/>
              </a:rPr>
              <a:t>15</a:t>
            </a:r>
            <a:r>
              <a:rPr lang="ja-JP" sz="1000" dirty="0">
                <a:solidFill>
                  <a:srgbClr val="1A1A1A"/>
                </a:solidFill>
                <a:latin typeface="Montserrat"/>
                <a:ea typeface="Montserrat"/>
                <a:cs typeface="Montserrat"/>
              </a:rPr>
              <a:t> / 22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GrpSp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Kicker Tick"/>
          <p:cNvSpPr/>
          <p:nvPr/>
        </p:nvSpPr>
        <p:spPr>
          <a:xfrm>
            <a:off x="585216" y="457200"/>
            <a:ext cx="292608" cy="64008"/>
          </a:xfrm>
          <a:prstGeom prst="rect">
            <a:avLst/>
          </a:prstGeom>
          <a:solidFill>
            <a:srgbClr val="2A5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"/>
          <p:cNvSpPr txBox="1"/>
          <p:nvPr/>
        </p:nvSpPr>
        <p:spPr>
          <a:xfrm>
            <a:off x="969264" y="365760"/>
            <a:ext cx="7315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1250" b="1" spc="60" dirty="0">
                <a:solidFill>
                  <a:srgbClr val="2A5CFF"/>
                </a:solidFill>
                <a:latin typeface="Montserrat"/>
                <a:ea typeface="Montserrat"/>
                <a:cs typeface="Montserrat"/>
              </a:rPr>
              <a:t>YOUTUBE  </a:t>
            </a:r>
            <a:r>
              <a:rPr lang="ja-JP" sz="1100" b="1" spc="2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世界観・価値訴求ポイント</a:t>
            </a:r>
          </a:p>
        </p:txBody>
      </p:sp>
      <p:sp>
        <p:nvSpPr>
          <p:cNvPr id="5" name="Subhead Mark"/>
          <p:cNvSpPr/>
          <p:nvPr/>
        </p:nvSpPr>
        <p:spPr>
          <a:xfrm>
            <a:off x="585216" y="896112"/>
            <a:ext cx="146304" cy="146304"/>
          </a:xfrm>
          <a:prstGeom prst="rect">
            <a:avLst/>
          </a:prstGeom>
          <a:solidFill>
            <a:srgbClr val="2A5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extBox"/>
          <p:cNvSpPr txBox="1"/>
          <p:nvPr/>
        </p:nvSpPr>
        <p:spPr>
          <a:xfrm>
            <a:off x="804672" y="850392"/>
            <a:ext cx="10801807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1100" b="1" spc="30" dirty="0">
                <a:solidFill>
                  <a:srgbClr val="2A5CFF"/>
                </a:solidFill>
                <a:latin typeface="Montserrat"/>
                <a:ea typeface="Montserrat"/>
                <a:cs typeface="Montserrat"/>
              </a:rPr>
              <a:t>WORLDVIEW  </a:t>
            </a:r>
            <a:r>
              <a:rPr lang="ja-JP" sz="130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世界観 ― ドキュメンタリー</a:t>
            </a:r>
          </a:p>
        </p:txBody>
      </p:sp>
      <p:sp>
        <p:nvSpPr>
          <p:cNvPr id="7" name="Step0"/>
          <p:cNvSpPr/>
          <p:nvPr/>
        </p:nvSpPr>
        <p:spPr>
          <a:xfrm>
            <a:off x="585216" y="1280160"/>
            <a:ext cx="1496089" cy="457200"/>
          </a:xfrm>
          <a:prstGeom prst="roundRect">
            <a:avLst>
              <a:gd name="adj" fmla="val 50000"/>
            </a:avLst>
          </a:prstGeom>
          <a:solidFill>
            <a:srgbClr val="2A5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extBox"/>
          <p:cNvSpPr txBox="1"/>
          <p:nvPr/>
        </p:nvSpPr>
        <p:spPr>
          <a:xfrm>
            <a:off x="585216" y="1280160"/>
            <a:ext cx="1496089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00" b="1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出勤</a:t>
            </a:r>
          </a:p>
        </p:txBody>
      </p:sp>
      <p:cxnSp>
        <p:nvCxnSpPr>
          <p:cNvPr id="9" name="Line"/>
          <p:cNvCxnSpPr/>
          <p:nvPr/>
        </p:nvCxnSpPr>
        <p:spPr>
          <a:xfrm>
            <a:off x="2090449" y="1508760"/>
            <a:ext cx="73152" cy="914"/>
          </a:xfrm>
          <a:prstGeom prst="line">
            <a:avLst/>
          </a:prstGeom>
          <a:ln w="15875" cap="rnd">
            <a:solidFill>
              <a:srgbClr val="2A5CFF"/>
            </a:solidFill>
            <a:headEnd type="none"/>
            <a:tailEnd type="triangle" w="med" len="med"/>
          </a:ln>
        </p:spPr>
      </p:cxnSp>
      <p:sp>
        <p:nvSpPr>
          <p:cNvPr id="10" name="Step1"/>
          <p:cNvSpPr/>
          <p:nvPr/>
        </p:nvSpPr>
        <p:spPr>
          <a:xfrm>
            <a:off x="2172745" y="1280160"/>
            <a:ext cx="1496089" cy="457200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Box"/>
          <p:cNvSpPr txBox="1"/>
          <p:nvPr/>
        </p:nvSpPr>
        <p:spPr>
          <a:xfrm>
            <a:off x="2172745" y="1280160"/>
            <a:ext cx="1496089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00" b="1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仕事</a:t>
            </a:r>
          </a:p>
        </p:txBody>
      </p:sp>
      <p:cxnSp>
        <p:nvCxnSpPr>
          <p:cNvPr id="12" name="Line"/>
          <p:cNvCxnSpPr/>
          <p:nvPr/>
        </p:nvCxnSpPr>
        <p:spPr>
          <a:xfrm>
            <a:off x="3677978" y="1508760"/>
            <a:ext cx="73152" cy="914"/>
          </a:xfrm>
          <a:prstGeom prst="line">
            <a:avLst/>
          </a:prstGeom>
          <a:ln w="15875" cap="rnd">
            <a:solidFill>
              <a:srgbClr val="2A5CFF"/>
            </a:solidFill>
            <a:headEnd type="none"/>
            <a:tailEnd type="triangle" w="med" len="med"/>
          </a:ln>
        </p:spPr>
      </p:cxnSp>
      <p:sp>
        <p:nvSpPr>
          <p:cNvPr id="13" name="Step2"/>
          <p:cNvSpPr/>
          <p:nvPr/>
        </p:nvSpPr>
        <p:spPr>
          <a:xfrm>
            <a:off x="3760274" y="1280160"/>
            <a:ext cx="1496089" cy="457200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Box"/>
          <p:cNvSpPr txBox="1"/>
          <p:nvPr/>
        </p:nvSpPr>
        <p:spPr>
          <a:xfrm>
            <a:off x="3760274" y="1280160"/>
            <a:ext cx="1496089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00" b="1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先輩との会話</a:t>
            </a:r>
          </a:p>
        </p:txBody>
      </p:sp>
      <p:cxnSp>
        <p:nvCxnSpPr>
          <p:cNvPr id="15" name="Line"/>
          <p:cNvCxnSpPr/>
          <p:nvPr/>
        </p:nvCxnSpPr>
        <p:spPr>
          <a:xfrm>
            <a:off x="5265507" y="1508760"/>
            <a:ext cx="73152" cy="914"/>
          </a:xfrm>
          <a:prstGeom prst="line">
            <a:avLst/>
          </a:prstGeom>
          <a:ln w="15875" cap="rnd">
            <a:solidFill>
              <a:srgbClr val="2A5CFF"/>
            </a:solidFill>
            <a:headEnd type="none"/>
            <a:tailEnd type="triangle" w="med" len="med"/>
          </a:ln>
        </p:spPr>
      </p:cxnSp>
      <p:sp>
        <p:nvSpPr>
          <p:cNvPr id="16" name="Step3"/>
          <p:cNvSpPr/>
          <p:nvPr/>
        </p:nvSpPr>
        <p:spPr>
          <a:xfrm>
            <a:off x="5347803" y="1280160"/>
            <a:ext cx="1496089" cy="457200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Box"/>
          <p:cNvSpPr txBox="1"/>
          <p:nvPr/>
        </p:nvSpPr>
        <p:spPr>
          <a:xfrm>
            <a:off x="5347803" y="1280160"/>
            <a:ext cx="1496089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00" b="1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昼休み</a:t>
            </a:r>
          </a:p>
        </p:txBody>
      </p:sp>
      <p:cxnSp>
        <p:nvCxnSpPr>
          <p:cNvPr id="18" name="Line"/>
          <p:cNvCxnSpPr/>
          <p:nvPr/>
        </p:nvCxnSpPr>
        <p:spPr>
          <a:xfrm>
            <a:off x="6853036" y="1508760"/>
            <a:ext cx="73152" cy="914"/>
          </a:xfrm>
          <a:prstGeom prst="line">
            <a:avLst/>
          </a:prstGeom>
          <a:ln w="15875" cap="rnd">
            <a:solidFill>
              <a:srgbClr val="2A5CFF"/>
            </a:solidFill>
            <a:headEnd type="none"/>
            <a:tailEnd type="triangle" w="med" len="med"/>
          </a:ln>
        </p:spPr>
      </p:cxnSp>
      <p:sp>
        <p:nvSpPr>
          <p:cNvPr id="19" name="Step4"/>
          <p:cNvSpPr/>
          <p:nvPr/>
        </p:nvSpPr>
        <p:spPr>
          <a:xfrm>
            <a:off x="6935332" y="1280160"/>
            <a:ext cx="1496089" cy="457200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Box"/>
          <p:cNvSpPr txBox="1"/>
          <p:nvPr/>
        </p:nvSpPr>
        <p:spPr>
          <a:xfrm>
            <a:off x="6935332" y="1280160"/>
            <a:ext cx="1496089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00" b="1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失敗</a:t>
            </a:r>
          </a:p>
        </p:txBody>
      </p:sp>
      <p:cxnSp>
        <p:nvCxnSpPr>
          <p:cNvPr id="21" name="Line"/>
          <p:cNvCxnSpPr/>
          <p:nvPr/>
        </p:nvCxnSpPr>
        <p:spPr>
          <a:xfrm>
            <a:off x="8440565" y="1508760"/>
            <a:ext cx="73152" cy="914"/>
          </a:xfrm>
          <a:prstGeom prst="line">
            <a:avLst/>
          </a:prstGeom>
          <a:ln w="15875" cap="rnd">
            <a:solidFill>
              <a:srgbClr val="2A5CFF"/>
            </a:solidFill>
            <a:headEnd type="none"/>
            <a:tailEnd type="triangle" w="med" len="med"/>
          </a:ln>
        </p:spPr>
      </p:cxnSp>
      <p:sp>
        <p:nvSpPr>
          <p:cNvPr id="22" name="Step5"/>
          <p:cNvSpPr/>
          <p:nvPr/>
        </p:nvSpPr>
        <p:spPr>
          <a:xfrm>
            <a:off x="8522861" y="1280160"/>
            <a:ext cx="1496089" cy="457200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Box"/>
          <p:cNvSpPr txBox="1"/>
          <p:nvPr/>
        </p:nvSpPr>
        <p:spPr>
          <a:xfrm>
            <a:off x="8522861" y="1280160"/>
            <a:ext cx="1496089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00" b="1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疲れ</a:t>
            </a:r>
          </a:p>
        </p:txBody>
      </p:sp>
      <p:cxnSp>
        <p:nvCxnSpPr>
          <p:cNvPr id="24" name="Line"/>
          <p:cNvCxnSpPr/>
          <p:nvPr/>
        </p:nvCxnSpPr>
        <p:spPr>
          <a:xfrm>
            <a:off x="10028094" y="1508760"/>
            <a:ext cx="73152" cy="914"/>
          </a:xfrm>
          <a:prstGeom prst="line">
            <a:avLst/>
          </a:prstGeom>
          <a:ln w="15875" cap="rnd">
            <a:solidFill>
              <a:srgbClr val="2A5CFF"/>
            </a:solidFill>
            <a:headEnd type="none"/>
            <a:tailEnd type="triangle" w="med" len="med"/>
          </a:ln>
        </p:spPr>
      </p:cxnSp>
      <p:sp>
        <p:nvSpPr>
          <p:cNvPr id="25" name="Step6"/>
          <p:cNvSpPr/>
          <p:nvPr/>
        </p:nvSpPr>
        <p:spPr>
          <a:xfrm>
            <a:off x="10110390" y="1280160"/>
            <a:ext cx="1496089" cy="457200"/>
          </a:xfrm>
          <a:prstGeom prst="roundRect">
            <a:avLst>
              <a:gd name="adj" fmla="val 50000"/>
            </a:avLst>
          </a:prstGeom>
          <a:solidFill>
            <a:srgbClr val="2A5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Box"/>
          <p:cNvSpPr txBox="1"/>
          <p:nvPr/>
        </p:nvSpPr>
        <p:spPr>
          <a:xfrm>
            <a:off x="10110390" y="1280160"/>
            <a:ext cx="1496089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00" b="1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帰宅</a:t>
            </a:r>
          </a:p>
        </p:txBody>
      </p:sp>
      <p:sp>
        <p:nvSpPr>
          <p:cNvPr id="27" name="Subhead Mark"/>
          <p:cNvSpPr/>
          <p:nvPr/>
        </p:nvSpPr>
        <p:spPr>
          <a:xfrm>
            <a:off x="585216" y="2148840"/>
            <a:ext cx="146304" cy="146304"/>
          </a:xfrm>
          <a:prstGeom prst="rect">
            <a:avLst/>
          </a:prstGeom>
          <a:solidFill>
            <a:srgbClr val="2A5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TextBox"/>
          <p:cNvSpPr txBox="1"/>
          <p:nvPr/>
        </p:nvSpPr>
        <p:spPr>
          <a:xfrm>
            <a:off x="804672" y="2103120"/>
            <a:ext cx="5842239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1100" b="1" spc="30" dirty="0">
                <a:solidFill>
                  <a:srgbClr val="2A5CFF"/>
                </a:solidFill>
                <a:latin typeface="Montserrat"/>
                <a:ea typeface="Montserrat"/>
                <a:cs typeface="Montserrat"/>
              </a:rPr>
              <a:t>QUESTIONS  </a:t>
            </a:r>
            <a:r>
              <a:rPr lang="ja-JP" sz="130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聞きたい質問</a:t>
            </a:r>
          </a:p>
        </p:txBody>
      </p:sp>
      <p:sp>
        <p:nvSpPr>
          <p:cNvPr id="29" name="Quote Mark"/>
          <p:cNvSpPr/>
          <p:nvPr/>
        </p:nvSpPr>
        <p:spPr>
          <a:xfrm>
            <a:off x="585216" y="2505456"/>
            <a:ext cx="54864" cy="329184"/>
          </a:xfrm>
          <a:prstGeom prst="rect">
            <a:avLst/>
          </a:prstGeom>
          <a:solidFill>
            <a:srgbClr val="2A5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TextBox"/>
          <p:cNvSpPr txBox="1"/>
          <p:nvPr/>
        </p:nvSpPr>
        <p:spPr>
          <a:xfrm>
            <a:off x="768096" y="2450592"/>
            <a:ext cx="5878815" cy="512064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28000"/>
              </a:lnSpc>
            </a:pPr>
            <a:r>
              <a:rPr lang="ja-JP" sz="11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高卒と大卒って扱い違う？</a:t>
            </a:r>
          </a:p>
        </p:txBody>
      </p:sp>
      <p:sp>
        <p:nvSpPr>
          <p:cNvPr id="31" name="Quote Mark"/>
          <p:cNvSpPr/>
          <p:nvPr/>
        </p:nvSpPr>
        <p:spPr>
          <a:xfrm>
            <a:off x="585216" y="3017520"/>
            <a:ext cx="54864" cy="329184"/>
          </a:xfrm>
          <a:prstGeom prst="rect">
            <a:avLst/>
          </a:prstGeom>
          <a:solidFill>
            <a:srgbClr val="2A5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Box"/>
          <p:cNvSpPr txBox="1"/>
          <p:nvPr/>
        </p:nvSpPr>
        <p:spPr>
          <a:xfrm>
            <a:off x="768096" y="2962656"/>
            <a:ext cx="5878815" cy="512064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28000"/>
              </a:lnSpc>
            </a:pPr>
            <a:r>
              <a:rPr lang="ja-JP" sz="11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一番若い社員は何歳？</a:t>
            </a:r>
          </a:p>
        </p:txBody>
      </p:sp>
      <p:sp>
        <p:nvSpPr>
          <p:cNvPr id="33" name="Quote Mark"/>
          <p:cNvSpPr/>
          <p:nvPr/>
        </p:nvSpPr>
        <p:spPr>
          <a:xfrm>
            <a:off x="585216" y="3529584"/>
            <a:ext cx="54864" cy="329184"/>
          </a:xfrm>
          <a:prstGeom prst="rect">
            <a:avLst/>
          </a:prstGeom>
          <a:solidFill>
            <a:srgbClr val="2A5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TextBox"/>
          <p:cNvSpPr txBox="1"/>
          <p:nvPr/>
        </p:nvSpPr>
        <p:spPr>
          <a:xfrm>
            <a:off x="768096" y="3474720"/>
            <a:ext cx="5878815" cy="512064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28000"/>
              </a:lnSpc>
            </a:pPr>
            <a:r>
              <a:rPr lang="ja-JP" sz="11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初任給、何に使った？</a:t>
            </a:r>
          </a:p>
        </p:txBody>
      </p:sp>
      <p:sp>
        <p:nvSpPr>
          <p:cNvPr id="35" name="Quote Mark"/>
          <p:cNvSpPr/>
          <p:nvPr/>
        </p:nvSpPr>
        <p:spPr>
          <a:xfrm>
            <a:off x="585216" y="4041648"/>
            <a:ext cx="54864" cy="329184"/>
          </a:xfrm>
          <a:prstGeom prst="rect">
            <a:avLst/>
          </a:prstGeom>
          <a:solidFill>
            <a:srgbClr val="2A5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TextBox"/>
          <p:cNvSpPr txBox="1"/>
          <p:nvPr/>
        </p:nvSpPr>
        <p:spPr>
          <a:xfrm>
            <a:off x="768096" y="3986784"/>
            <a:ext cx="5878815" cy="512064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28000"/>
              </a:lnSpc>
            </a:pPr>
            <a:r>
              <a:rPr lang="ja-JP" sz="11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辞めたいと思ったことある？</a:t>
            </a:r>
          </a:p>
        </p:txBody>
      </p:sp>
      <p:sp>
        <p:nvSpPr>
          <p:cNvPr id="37" name="Quote Mark"/>
          <p:cNvSpPr/>
          <p:nvPr/>
        </p:nvSpPr>
        <p:spPr>
          <a:xfrm>
            <a:off x="585216" y="4553712"/>
            <a:ext cx="54864" cy="329184"/>
          </a:xfrm>
          <a:prstGeom prst="rect">
            <a:avLst/>
          </a:prstGeom>
          <a:solidFill>
            <a:srgbClr val="2A5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Box"/>
          <p:cNvSpPr txBox="1"/>
          <p:nvPr/>
        </p:nvSpPr>
        <p:spPr>
          <a:xfrm>
            <a:off x="768096" y="4498848"/>
            <a:ext cx="5878815" cy="512064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28000"/>
              </a:lnSpc>
            </a:pPr>
            <a:r>
              <a:rPr lang="ja-JP" sz="11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この仕事で一番きついことは？</a:t>
            </a:r>
          </a:p>
        </p:txBody>
      </p:sp>
      <p:sp>
        <p:nvSpPr>
          <p:cNvPr id="39" name="Photo Frame 15"/>
          <p:cNvSpPr/>
          <p:nvPr/>
        </p:nvSpPr>
        <p:spPr>
          <a:xfrm>
            <a:off x="6966951" y="2450592"/>
            <a:ext cx="4639528" cy="2377440"/>
          </a:xfrm>
          <a:prstGeom prst="rect">
            <a:avLst/>
          </a:prstGeom>
          <a:solidFill>
            <a:srgbClr val="FFFFFF"/>
          </a:solidFill>
          <a:ln w="15875" cap="flat">
            <a:solidFill>
              <a:srgbClr val="2A5CFF"/>
            </a:solidFill>
            <a:round/>
          </a:ln>
        </p:spPr>
        <p:txBody>
          <a:bodyPr/>
          <a:lstStyle/>
          <a:p/>
        </p:txBody>
      </p:sp>
      <p:cxnSp>
        <p:nvCxnSpPr>
          <p:cNvPr id="40" name="Line"/>
          <p:cNvCxnSpPr/>
          <p:nvPr/>
        </p:nvCxnSpPr>
        <p:spPr>
          <a:xfrm>
            <a:off x="7094967" y="4425696"/>
            <a:ext cx="4383496" cy="914"/>
          </a:xfrm>
          <a:prstGeom prst="line">
            <a:avLst/>
          </a:prstGeom>
          <a:ln w="9525" cap="rnd">
            <a:solidFill>
              <a:srgbClr val="2A5CFF"/>
            </a:solidFill>
            <a:headEnd type="none"/>
            <a:tailEnd type="none"/>
          </a:ln>
        </p:spPr>
      </p:cxnSp>
      <p:sp>
        <p:nvSpPr>
          <p:cNvPr id="41" name="TextBox"/>
          <p:cNvSpPr txBox="1"/>
          <p:nvPr/>
        </p:nvSpPr>
        <p:spPr>
          <a:xfrm>
            <a:off x="7094967" y="3163824"/>
            <a:ext cx="4383496" cy="855878"/>
          </a:xfrm>
          <a:prstGeom prst="rect">
            <a:avLst/>
          </a:prstGeom>
          <a:noFill/>
          <a:ln>
            <a:noFill/>
          </a:ln>
        </p:spPr>
        <p:txBody>
          <a:bodyPr wrap="square" anchor="b" lIns="45720" rIns="45720" tIns="27432" bIns="27432"/>
          <a:lstStyle/>
          <a:p>
            <a:pPr algn="ctr"/>
            <a:r>
              <a:rPr lang="ja-JP" sz="2000" b="1" spc="40" dirty="0">
                <a:solidFill>
                  <a:srgbClr val="2A5CFF"/>
                </a:solidFill>
                <a:latin typeface="Montserrat"/>
                <a:ea typeface="Montserrat"/>
                <a:cs typeface="Montserrat"/>
              </a:rPr>
              <a:t>PHOTO 15</a:t>
            </a:r>
          </a:p>
        </p:txBody>
      </p:sp>
      <p:sp>
        <p:nvSpPr>
          <p:cNvPr id="42" name="TextBox"/>
          <p:cNvSpPr txBox="1"/>
          <p:nvPr/>
        </p:nvSpPr>
        <p:spPr>
          <a:xfrm>
            <a:off x="7094967" y="4462272"/>
            <a:ext cx="438349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先輩との会話 / 昼休み</a:t>
            </a:r>
          </a:p>
        </p:txBody>
      </p:sp>
      <p:sp>
        <p:nvSpPr>
          <p:cNvPr id="43" name="Subhead Mark"/>
          <p:cNvSpPr/>
          <p:nvPr/>
        </p:nvSpPr>
        <p:spPr>
          <a:xfrm>
            <a:off x="585216" y="5349240"/>
            <a:ext cx="146304" cy="146304"/>
          </a:xfrm>
          <a:prstGeom prst="rect">
            <a:avLst/>
          </a:prstGeom>
          <a:solidFill>
            <a:srgbClr val="2A5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Box"/>
          <p:cNvSpPr txBox="1"/>
          <p:nvPr/>
        </p:nvSpPr>
        <p:spPr>
          <a:xfrm>
            <a:off x="804672" y="5303520"/>
            <a:ext cx="10801807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1100" b="1" spc="30" dirty="0">
                <a:solidFill>
                  <a:srgbClr val="2A5CFF"/>
                </a:solidFill>
                <a:latin typeface="Montserrat"/>
                <a:ea typeface="Montserrat"/>
                <a:cs typeface="Montserrat"/>
              </a:rPr>
              <a:t>VALUE POINT  </a:t>
            </a:r>
            <a:r>
              <a:rPr lang="ja-JP" sz="130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価値訴求ポイント</a:t>
            </a:r>
          </a:p>
        </p:txBody>
      </p:sp>
      <p:sp>
        <p:nvSpPr>
          <p:cNvPr id="45" name="TextBox"/>
          <p:cNvSpPr txBox="1"/>
          <p:nvPr/>
        </p:nvSpPr>
        <p:spPr>
          <a:xfrm>
            <a:off x="585216" y="5632704"/>
            <a:ext cx="11021263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50000"/>
              </a:lnSpc>
            </a:pPr>
            <a:r>
              <a:rPr lang="ja-JP" sz="130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「高卒就職」ではなく、「この仕事なら自分にもできるかもしれない」へ。</a:t>
            </a:r>
          </a:p>
        </p:txBody>
      </p:sp>
      <p:cxnSp>
        <p:nvCxnSpPr>
          <p:cNvPr id="46" name="Line"/>
          <p:cNvCxnSpPr/>
          <p:nvPr/>
        </p:nvCxnSpPr>
        <p:spPr>
          <a:xfrm>
            <a:off x="585216" y="6455664"/>
            <a:ext cx="11021263" cy="914"/>
          </a:xfrm>
          <a:prstGeom prst="line">
            <a:avLst/>
          </a:prstGeom>
          <a:ln w="12700" cap="rnd">
            <a:solidFill>
              <a:srgbClr val="2A5CFF"/>
            </a:solidFill>
            <a:headEnd type="none"/>
            <a:tailEnd type="none"/>
          </a:ln>
        </p:spPr>
      </p:cxnSp>
      <p:sp>
        <p:nvSpPr>
          <p:cNvPr id="47" name="TextBox"/>
          <p:cNvSpPr txBox="1"/>
          <p:nvPr/>
        </p:nvSpPr>
        <p:spPr>
          <a:xfrm>
            <a:off x="585216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850" spc="1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JINJIB ― 高卒採用・進路選択マーケティング戦略提案   /   YouTube ／ 理解・深掘り</a:t>
            </a:r>
          </a:p>
        </p:txBody>
      </p:sp>
      <p:sp>
        <p:nvSpPr>
          <p:cNvPr id="48" name="TextBox"/>
          <p:cNvSpPr txBox="1"/>
          <p:nvPr/>
        </p:nvSpPr>
        <p:spPr>
          <a:xfrm>
            <a:off x="10326319" y="6473952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r"/>
            <a:r>
              <a:rPr lang="ja-JP" sz="1300" b="1" spc="20" dirty="0">
                <a:solidFill>
                  <a:srgbClr val="2A5CFF"/>
                </a:solidFill>
                <a:latin typeface="Montserrat"/>
                <a:ea typeface="Montserrat"/>
                <a:cs typeface="Montserrat"/>
              </a:rPr>
              <a:t>16</a:t>
            </a:r>
            <a:r>
              <a:rPr lang="ja-JP" sz="1000" dirty="0">
                <a:solidFill>
                  <a:srgbClr val="1A1A1A"/>
                </a:solidFill>
                <a:latin typeface="Montserrat"/>
                <a:ea typeface="Montserrat"/>
                <a:cs typeface="Montserrat"/>
              </a:rPr>
              <a:t> / 22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GrpSp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Kicker Tick"/>
          <p:cNvSpPr/>
          <p:nvPr/>
        </p:nvSpPr>
        <p:spPr>
          <a:xfrm>
            <a:off x="585216" y="457200"/>
            <a:ext cx="292608" cy="64008"/>
          </a:xfrm>
          <a:prstGeom prst="rect">
            <a:avLst/>
          </a:prstGeom>
          <a:solidFill>
            <a:srgbClr val="2A5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"/>
          <p:cNvSpPr txBox="1"/>
          <p:nvPr/>
        </p:nvSpPr>
        <p:spPr>
          <a:xfrm>
            <a:off x="969264" y="365760"/>
            <a:ext cx="7315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1250" b="1" spc="60" dirty="0">
                <a:solidFill>
                  <a:srgbClr val="2A5CFF"/>
                </a:solidFill>
                <a:latin typeface="Montserrat"/>
                <a:ea typeface="Montserrat"/>
                <a:cs typeface="Montserrat"/>
              </a:rPr>
              <a:t>YOUTUBE  </a:t>
            </a:r>
            <a:r>
              <a:rPr lang="ja-JP" sz="1100" b="1" spc="2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勝つためのコンテンツ定義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585216" y="8229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</a:pPr>
            <a:r>
              <a:rPr lang="ja-JP" sz="190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企業PRではなく、仕事発見コンテンツ。</a:t>
            </a:r>
          </a:p>
        </p:txBody>
      </p:sp>
      <p:sp>
        <p:nvSpPr>
          <p:cNvPr id="6" name="Pillar0"/>
          <p:cNvSpPr/>
          <p:nvPr/>
        </p:nvSpPr>
        <p:spPr>
          <a:xfrm>
            <a:off x="585216" y="1508760"/>
            <a:ext cx="3521354" cy="777240"/>
          </a:xfrm>
          <a:prstGeom prst="rect">
            <a:avLst/>
          </a:prstGeom>
          <a:solidFill>
            <a:srgbClr val="FFFFFF"/>
          </a:solidFill>
          <a:ln w="15875" cap="flat">
            <a:solidFill>
              <a:srgbClr val="2A5CFF"/>
            </a:solidFill>
            <a:round/>
          </a:ln>
        </p:spPr>
        <p:txBody>
          <a:bodyPr/>
          <a:lstStyle/>
          <a:p/>
        </p:txBody>
      </p:sp>
      <p:sp>
        <p:nvSpPr>
          <p:cNvPr id="7" name="TextBox"/>
          <p:cNvSpPr txBox="1"/>
          <p:nvPr/>
        </p:nvSpPr>
        <p:spPr>
          <a:xfrm>
            <a:off x="731520" y="1508760"/>
            <a:ext cx="822960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2200" b="1" dirty="0">
                <a:solidFill>
                  <a:srgbClr val="2A5CFF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1453896" y="1508760"/>
            <a:ext cx="2561234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115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18歳から働く人に密着</a:t>
            </a:r>
          </a:p>
        </p:txBody>
      </p:sp>
      <p:sp>
        <p:nvSpPr>
          <p:cNvPr id="9" name="Pillar1"/>
          <p:cNvSpPr/>
          <p:nvPr/>
        </p:nvSpPr>
        <p:spPr>
          <a:xfrm>
            <a:off x="4335170" y="1508760"/>
            <a:ext cx="3521354" cy="777240"/>
          </a:xfrm>
          <a:prstGeom prst="rect">
            <a:avLst/>
          </a:prstGeom>
          <a:solidFill>
            <a:srgbClr val="FFFFFF"/>
          </a:solidFill>
          <a:ln w="15875" cap="flat">
            <a:solidFill>
              <a:srgbClr val="2A5CFF"/>
            </a:solidFill>
            <a:round/>
          </a:ln>
        </p:spPr>
        <p:txBody>
          <a:bodyPr/>
          <a:lstStyle/>
          <a:p/>
        </p:txBody>
      </p:sp>
      <p:sp>
        <p:nvSpPr>
          <p:cNvPr id="10" name="TextBox"/>
          <p:cNvSpPr txBox="1"/>
          <p:nvPr/>
        </p:nvSpPr>
        <p:spPr>
          <a:xfrm>
            <a:off x="4481474" y="1508760"/>
            <a:ext cx="822960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2200" b="1" dirty="0">
                <a:solidFill>
                  <a:srgbClr val="2A5CFF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5203850" y="1508760"/>
            <a:ext cx="2561234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115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高校生が会社に行ってみた</a:t>
            </a:r>
          </a:p>
        </p:txBody>
      </p:sp>
      <p:sp>
        <p:nvSpPr>
          <p:cNvPr id="12" name="Pillar2"/>
          <p:cNvSpPr/>
          <p:nvPr/>
        </p:nvSpPr>
        <p:spPr>
          <a:xfrm>
            <a:off x="8085125" y="1508760"/>
            <a:ext cx="3521354" cy="777240"/>
          </a:xfrm>
          <a:prstGeom prst="rect">
            <a:avLst/>
          </a:prstGeom>
          <a:solidFill>
            <a:srgbClr val="FFFFFF"/>
          </a:solidFill>
          <a:ln w="15875" cap="flat">
            <a:solidFill>
              <a:srgbClr val="2A5CFF"/>
            </a:solidFill>
            <a:round/>
          </a:ln>
        </p:spPr>
        <p:txBody>
          <a:bodyPr/>
          <a:lstStyle/>
          <a:p/>
        </p:txBody>
      </p:sp>
      <p:sp>
        <p:nvSpPr>
          <p:cNvPr id="13" name="TextBox"/>
          <p:cNvSpPr txBox="1"/>
          <p:nvPr/>
        </p:nvSpPr>
        <p:spPr>
          <a:xfrm>
            <a:off x="8231429" y="1508760"/>
            <a:ext cx="822960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2200" b="1" dirty="0">
                <a:solidFill>
                  <a:srgbClr val="2A5CFF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8953805" y="1508760"/>
            <a:ext cx="2561234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115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知らなかった仕事</a:t>
            </a:r>
          </a:p>
        </p:txBody>
      </p:sp>
      <p:sp>
        <p:nvSpPr>
          <p:cNvPr id="15" name="Subhead Mark"/>
          <p:cNvSpPr/>
          <p:nvPr/>
        </p:nvSpPr>
        <p:spPr>
          <a:xfrm>
            <a:off x="585216" y="2606040"/>
            <a:ext cx="146304" cy="146304"/>
          </a:xfrm>
          <a:prstGeom prst="rect">
            <a:avLst/>
          </a:prstGeom>
          <a:solidFill>
            <a:srgbClr val="2A5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Box"/>
          <p:cNvSpPr txBox="1"/>
          <p:nvPr/>
        </p:nvSpPr>
        <p:spPr>
          <a:xfrm>
            <a:off x="804672" y="2560320"/>
            <a:ext cx="10801807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1100" b="1" spc="30" dirty="0">
                <a:solidFill>
                  <a:srgbClr val="2A5CFF"/>
                </a:solidFill>
                <a:latin typeface="Montserrat"/>
                <a:ea typeface="Montserrat"/>
                <a:cs typeface="Montserrat"/>
              </a:rPr>
              <a:t>JOBS  </a:t>
            </a:r>
            <a:r>
              <a:rPr lang="ja-JP" sz="130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職種例</a:t>
            </a:r>
          </a:p>
        </p:txBody>
      </p:sp>
      <p:sp>
        <p:nvSpPr>
          <p:cNvPr id="17" name="Chip"/>
          <p:cNvSpPr/>
          <p:nvPr/>
        </p:nvSpPr>
        <p:spPr>
          <a:xfrm>
            <a:off x="585216" y="2907792"/>
            <a:ext cx="1480414" cy="384048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TextBox"/>
          <p:cNvSpPr txBox="1"/>
          <p:nvPr/>
        </p:nvSpPr>
        <p:spPr>
          <a:xfrm>
            <a:off x="585216" y="2907792"/>
            <a:ext cx="1480414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50" b="1" spc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施工管理</a:t>
            </a:r>
          </a:p>
        </p:txBody>
      </p:sp>
      <p:sp>
        <p:nvSpPr>
          <p:cNvPr id="19" name="Chip"/>
          <p:cNvSpPr/>
          <p:nvPr/>
        </p:nvSpPr>
        <p:spPr>
          <a:xfrm>
            <a:off x="2175358" y="2907792"/>
            <a:ext cx="1480414" cy="384048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Box"/>
          <p:cNvSpPr txBox="1"/>
          <p:nvPr/>
        </p:nvSpPr>
        <p:spPr>
          <a:xfrm>
            <a:off x="2175358" y="2907792"/>
            <a:ext cx="1480414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50" b="1" spc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営業</a:t>
            </a:r>
          </a:p>
        </p:txBody>
      </p:sp>
      <p:sp>
        <p:nvSpPr>
          <p:cNvPr id="21" name="Chip"/>
          <p:cNvSpPr/>
          <p:nvPr/>
        </p:nvSpPr>
        <p:spPr>
          <a:xfrm>
            <a:off x="3765499" y="2907792"/>
            <a:ext cx="1480414" cy="384048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TextBox"/>
          <p:cNvSpPr txBox="1"/>
          <p:nvPr/>
        </p:nvSpPr>
        <p:spPr>
          <a:xfrm>
            <a:off x="3765499" y="2907792"/>
            <a:ext cx="1480414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50" b="1" spc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物流</a:t>
            </a:r>
          </a:p>
        </p:txBody>
      </p:sp>
      <p:sp>
        <p:nvSpPr>
          <p:cNvPr id="23" name="Chip"/>
          <p:cNvSpPr/>
          <p:nvPr/>
        </p:nvSpPr>
        <p:spPr>
          <a:xfrm>
            <a:off x="5355641" y="2907792"/>
            <a:ext cx="1480414" cy="384048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TextBox"/>
          <p:cNvSpPr txBox="1"/>
          <p:nvPr/>
        </p:nvSpPr>
        <p:spPr>
          <a:xfrm>
            <a:off x="5355641" y="2907792"/>
            <a:ext cx="1480414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50" b="1" spc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製造</a:t>
            </a:r>
          </a:p>
        </p:txBody>
      </p:sp>
      <p:sp>
        <p:nvSpPr>
          <p:cNvPr id="25" name="Chip"/>
          <p:cNvSpPr/>
          <p:nvPr/>
        </p:nvSpPr>
        <p:spPr>
          <a:xfrm>
            <a:off x="6945782" y="2907792"/>
            <a:ext cx="1480414" cy="384048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Box"/>
          <p:cNvSpPr txBox="1"/>
          <p:nvPr/>
        </p:nvSpPr>
        <p:spPr>
          <a:xfrm>
            <a:off x="6945782" y="2907792"/>
            <a:ext cx="1480414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50" b="1" spc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IT</a:t>
            </a:r>
          </a:p>
        </p:txBody>
      </p:sp>
      <p:sp>
        <p:nvSpPr>
          <p:cNvPr id="27" name="Chip"/>
          <p:cNvSpPr/>
          <p:nvPr/>
        </p:nvSpPr>
        <p:spPr>
          <a:xfrm>
            <a:off x="8535924" y="2907792"/>
            <a:ext cx="1480414" cy="384048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TextBox"/>
          <p:cNvSpPr txBox="1"/>
          <p:nvPr/>
        </p:nvSpPr>
        <p:spPr>
          <a:xfrm>
            <a:off x="8535924" y="2907792"/>
            <a:ext cx="1480414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50" b="1" spc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ホテル</a:t>
            </a:r>
          </a:p>
        </p:txBody>
      </p:sp>
      <p:sp>
        <p:nvSpPr>
          <p:cNvPr id="29" name="Chip"/>
          <p:cNvSpPr/>
          <p:nvPr/>
        </p:nvSpPr>
        <p:spPr>
          <a:xfrm>
            <a:off x="10126066" y="2907792"/>
            <a:ext cx="1480414" cy="384048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TextBox"/>
          <p:cNvSpPr txBox="1"/>
          <p:nvPr/>
        </p:nvSpPr>
        <p:spPr>
          <a:xfrm>
            <a:off x="10126066" y="2907792"/>
            <a:ext cx="1480414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50" b="1" spc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インフラ</a:t>
            </a:r>
          </a:p>
        </p:txBody>
      </p:sp>
      <p:sp>
        <p:nvSpPr>
          <p:cNvPr id="31" name="PC 18"/>
          <p:cNvSpPr/>
          <p:nvPr/>
        </p:nvSpPr>
        <p:spPr>
          <a:xfrm>
            <a:off x="585216" y="3520440"/>
            <a:ext cx="2743200" cy="155448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5875" cap="flat">
            <a:solidFill>
              <a:srgbClr val="2A5CFF"/>
            </a:solidFill>
            <a:round/>
          </a:ln>
        </p:spPr>
        <p:txBody>
          <a:bodyPr/>
          <a:lstStyle/>
          <a:p/>
        </p:txBody>
      </p:sp>
      <p:sp>
        <p:nvSpPr>
          <p:cNvPr id="32" name="Screen"/>
          <p:cNvSpPr/>
          <p:nvPr/>
        </p:nvSpPr>
        <p:spPr>
          <a:xfrm>
            <a:off x="667512" y="3602736"/>
            <a:ext cx="2578608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Stand Neck"/>
          <p:cNvSpPr/>
          <p:nvPr/>
        </p:nvSpPr>
        <p:spPr>
          <a:xfrm>
            <a:off x="1737360" y="5074920"/>
            <a:ext cx="438912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Stand Base"/>
          <p:cNvSpPr/>
          <p:nvPr/>
        </p:nvSpPr>
        <p:spPr>
          <a:xfrm>
            <a:off x="1325880" y="5221224"/>
            <a:ext cx="1261872" cy="54864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TextBox"/>
          <p:cNvSpPr txBox="1"/>
          <p:nvPr/>
        </p:nvSpPr>
        <p:spPr>
          <a:xfrm>
            <a:off x="740664" y="3657600"/>
            <a:ext cx="2432304" cy="1243584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ctr"/>
            <a:r>
              <a:rPr lang="ja-JP" sz="902" b="1" spc="20" dirty="0">
                <a:solidFill>
                  <a:srgbClr val="2A5CFF"/>
                </a:solidFill>
                <a:latin typeface="Montserrat"/>
                <a:ea typeface="Montserrat"/>
                <a:cs typeface="Montserrat"/>
              </a:rPr>
              <a:t>IMAGE 18</a:t>
            </a:r>
          </a:p>
        </p:txBody>
      </p:sp>
      <p:sp>
        <p:nvSpPr>
          <p:cNvPr id="36" name="Play Button"/>
          <p:cNvSpPr/>
          <p:nvPr/>
        </p:nvSpPr>
        <p:spPr>
          <a:xfrm>
            <a:off x="1673352" y="4105656"/>
            <a:ext cx="566928" cy="384048"/>
          </a:xfrm>
          <a:prstGeom prst="roundRect">
            <a:avLst>
              <a:gd name="adj" fmla="val 28000"/>
            </a:avLst>
          </a:prstGeom>
          <a:solidFill>
            <a:srgbClr val="2A5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Play Triangle"/>
          <p:cNvSpPr/>
          <p:nvPr/>
        </p:nvSpPr>
        <p:spPr>
          <a:xfrm rot="5400000">
            <a:off x="1877446" y="4213189"/>
            <a:ext cx="181417" cy="168981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Box"/>
          <p:cNvSpPr txBox="1"/>
          <p:nvPr/>
        </p:nvSpPr>
        <p:spPr>
          <a:xfrm>
            <a:off x="585216" y="5349240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ctr"/>
            <a:r>
              <a:rPr lang="ja-JP" sz="8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密着ドキュメンタリー</a:t>
            </a:r>
          </a:p>
        </p:txBody>
      </p:sp>
      <p:sp>
        <p:nvSpPr>
          <p:cNvPr id="39" name="Phone 19"/>
          <p:cNvSpPr/>
          <p:nvPr/>
        </p:nvSpPr>
        <p:spPr>
          <a:xfrm>
            <a:off x="4014216" y="3520440"/>
            <a:ext cx="1106424" cy="2286000"/>
          </a:xfrm>
          <a:prstGeom prst="roundRect">
            <a:avLst>
              <a:gd name="adj" fmla="val 11000"/>
            </a:avLst>
          </a:prstGeom>
          <a:solidFill>
            <a:srgbClr val="1A1A1A"/>
          </a:solidFill>
          <a:ln w="15875" cap="flat">
            <a:solidFill>
              <a:srgbClr val="2A5CFF"/>
            </a:solidFill>
            <a:round/>
          </a:ln>
        </p:spPr>
        <p:txBody>
          <a:bodyPr/>
          <a:lstStyle/>
          <a:p/>
        </p:txBody>
      </p:sp>
      <p:sp>
        <p:nvSpPr>
          <p:cNvPr id="40" name="Screen"/>
          <p:cNvSpPr/>
          <p:nvPr/>
        </p:nvSpPr>
        <p:spPr>
          <a:xfrm>
            <a:off x="4082796" y="3637026"/>
            <a:ext cx="969264" cy="20802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Notch"/>
          <p:cNvSpPr/>
          <p:nvPr/>
        </p:nvSpPr>
        <p:spPr>
          <a:xfrm>
            <a:off x="4411980" y="3558159"/>
            <a:ext cx="310896" cy="41148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Home Indicator"/>
          <p:cNvSpPr/>
          <p:nvPr/>
        </p:nvSpPr>
        <p:spPr>
          <a:xfrm>
            <a:off x="4421124" y="5731002"/>
            <a:ext cx="292608" cy="27432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App Bar"/>
          <p:cNvSpPr/>
          <p:nvPr/>
        </p:nvSpPr>
        <p:spPr>
          <a:xfrm>
            <a:off x="4082796" y="3637026"/>
            <a:ext cx="969264" cy="146304"/>
          </a:xfrm>
          <a:prstGeom prst="rect">
            <a:avLst/>
          </a:prstGeom>
          <a:solidFill>
            <a:srgbClr val="2A5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Box"/>
          <p:cNvSpPr txBox="1"/>
          <p:nvPr/>
        </p:nvSpPr>
        <p:spPr>
          <a:xfrm>
            <a:off x="4082796" y="3637026"/>
            <a:ext cx="969264" cy="146304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750" b="1" spc="3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YOUTUBE</a:t>
            </a:r>
          </a:p>
        </p:txBody>
      </p:sp>
      <p:sp>
        <p:nvSpPr>
          <p:cNvPr id="45" name="TextBox"/>
          <p:cNvSpPr txBox="1"/>
          <p:nvPr/>
        </p:nvSpPr>
        <p:spPr>
          <a:xfrm>
            <a:off x="4137660" y="3783330"/>
            <a:ext cx="859536" cy="1933956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848" b="1" spc="20" dirty="0">
                <a:solidFill>
                  <a:srgbClr val="2A5CFF"/>
                </a:solidFill>
                <a:latin typeface="Montserrat"/>
                <a:ea typeface="Montserrat"/>
                <a:cs typeface="Montserrat"/>
              </a:rPr>
              <a:t>IMAGE 19</a:t>
            </a:r>
          </a:p>
        </p:txBody>
      </p:sp>
      <p:sp>
        <p:nvSpPr>
          <p:cNvPr id="46" name="TextBox"/>
          <p:cNvSpPr txBox="1"/>
          <p:nvPr/>
        </p:nvSpPr>
        <p:spPr>
          <a:xfrm>
            <a:off x="4014216" y="5852160"/>
            <a:ext cx="1106424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ctr"/>
            <a:r>
              <a:rPr lang="ja-JP" sz="8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ショート版</a:t>
            </a:r>
          </a:p>
        </p:txBody>
      </p:sp>
      <p:sp>
        <p:nvSpPr>
          <p:cNvPr id="47" name="Phone 20"/>
          <p:cNvSpPr/>
          <p:nvPr/>
        </p:nvSpPr>
        <p:spPr>
          <a:xfrm>
            <a:off x="5477256" y="3520440"/>
            <a:ext cx="1106424" cy="2286000"/>
          </a:xfrm>
          <a:prstGeom prst="roundRect">
            <a:avLst>
              <a:gd name="adj" fmla="val 11000"/>
            </a:avLst>
          </a:prstGeom>
          <a:solidFill>
            <a:srgbClr val="1A1A1A"/>
          </a:solidFill>
          <a:ln w="15875" cap="flat">
            <a:solidFill>
              <a:srgbClr val="2A5CFF"/>
            </a:solidFill>
            <a:round/>
          </a:ln>
        </p:spPr>
        <p:txBody>
          <a:bodyPr/>
          <a:lstStyle/>
          <a:p/>
        </p:txBody>
      </p:sp>
      <p:sp>
        <p:nvSpPr>
          <p:cNvPr id="48" name="Screen"/>
          <p:cNvSpPr/>
          <p:nvPr/>
        </p:nvSpPr>
        <p:spPr>
          <a:xfrm>
            <a:off x="5545836" y="3637026"/>
            <a:ext cx="969264" cy="20802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Notch"/>
          <p:cNvSpPr/>
          <p:nvPr/>
        </p:nvSpPr>
        <p:spPr>
          <a:xfrm>
            <a:off x="5875020" y="3558159"/>
            <a:ext cx="310896" cy="41148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Home Indicator"/>
          <p:cNvSpPr/>
          <p:nvPr/>
        </p:nvSpPr>
        <p:spPr>
          <a:xfrm>
            <a:off x="5884164" y="5731002"/>
            <a:ext cx="292608" cy="27432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App Bar"/>
          <p:cNvSpPr/>
          <p:nvPr/>
        </p:nvSpPr>
        <p:spPr>
          <a:xfrm>
            <a:off x="5545836" y="3637026"/>
            <a:ext cx="969264" cy="146304"/>
          </a:xfrm>
          <a:prstGeom prst="rect">
            <a:avLst/>
          </a:prstGeom>
          <a:solidFill>
            <a:srgbClr val="2A5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TextBox"/>
          <p:cNvSpPr txBox="1"/>
          <p:nvPr/>
        </p:nvSpPr>
        <p:spPr>
          <a:xfrm>
            <a:off x="5545836" y="3637026"/>
            <a:ext cx="969264" cy="146304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750" b="1" spc="3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YOUTUBE</a:t>
            </a:r>
          </a:p>
        </p:txBody>
      </p:sp>
      <p:sp>
        <p:nvSpPr>
          <p:cNvPr id="53" name="TextBox"/>
          <p:cNvSpPr txBox="1"/>
          <p:nvPr/>
        </p:nvSpPr>
        <p:spPr>
          <a:xfrm>
            <a:off x="5600700" y="3783330"/>
            <a:ext cx="859536" cy="1933956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848" b="1" spc="20" dirty="0">
                <a:solidFill>
                  <a:srgbClr val="2A5CFF"/>
                </a:solidFill>
                <a:latin typeface="Montserrat"/>
                <a:ea typeface="Montserrat"/>
                <a:cs typeface="Montserrat"/>
              </a:rPr>
              <a:t>IMAGE 20</a:t>
            </a:r>
          </a:p>
        </p:txBody>
      </p:sp>
      <p:sp>
        <p:nvSpPr>
          <p:cNvPr id="54" name="TextBox"/>
          <p:cNvSpPr txBox="1"/>
          <p:nvPr/>
        </p:nvSpPr>
        <p:spPr>
          <a:xfrm>
            <a:off x="5477256" y="5852160"/>
            <a:ext cx="1106424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ctr"/>
            <a:r>
              <a:rPr lang="ja-JP" sz="8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オフショット</a:t>
            </a:r>
          </a:p>
        </p:txBody>
      </p:sp>
      <p:sp>
        <p:nvSpPr>
          <p:cNvPr id="55" name="Photo Frame 16"/>
          <p:cNvSpPr/>
          <p:nvPr/>
        </p:nvSpPr>
        <p:spPr>
          <a:xfrm>
            <a:off x="6940296" y="3520440"/>
            <a:ext cx="4666183" cy="2743200"/>
          </a:xfrm>
          <a:prstGeom prst="rect">
            <a:avLst/>
          </a:prstGeom>
          <a:solidFill>
            <a:srgbClr val="FFFFFF"/>
          </a:solidFill>
          <a:ln w="15875" cap="flat">
            <a:solidFill>
              <a:srgbClr val="2A5CFF"/>
            </a:solidFill>
            <a:round/>
          </a:ln>
        </p:spPr>
        <p:txBody>
          <a:bodyPr/>
          <a:lstStyle/>
          <a:p/>
        </p:txBody>
      </p:sp>
      <p:cxnSp>
        <p:nvCxnSpPr>
          <p:cNvPr id="56" name="Line"/>
          <p:cNvCxnSpPr/>
          <p:nvPr/>
        </p:nvCxnSpPr>
        <p:spPr>
          <a:xfrm>
            <a:off x="7068312" y="5861304"/>
            <a:ext cx="4410151" cy="914"/>
          </a:xfrm>
          <a:prstGeom prst="line">
            <a:avLst/>
          </a:prstGeom>
          <a:ln w="9525" cap="rnd">
            <a:solidFill>
              <a:srgbClr val="2A5CFF"/>
            </a:solidFill>
            <a:headEnd type="none"/>
            <a:tailEnd type="none"/>
          </a:ln>
        </p:spPr>
      </p:cxnSp>
      <p:sp>
        <p:nvSpPr>
          <p:cNvPr id="57" name="TextBox"/>
          <p:cNvSpPr txBox="1"/>
          <p:nvPr/>
        </p:nvSpPr>
        <p:spPr>
          <a:xfrm>
            <a:off x="7068312" y="4343400"/>
            <a:ext cx="4410151" cy="987552"/>
          </a:xfrm>
          <a:prstGeom prst="rect">
            <a:avLst/>
          </a:prstGeom>
          <a:noFill/>
          <a:ln>
            <a:noFill/>
          </a:ln>
        </p:spPr>
        <p:txBody>
          <a:bodyPr wrap="square" anchor="b" lIns="45720" rIns="45720" tIns="27432" bIns="27432"/>
          <a:lstStyle/>
          <a:p>
            <a:pPr algn="ctr"/>
            <a:r>
              <a:rPr lang="ja-JP" sz="2000" b="1" spc="40" dirty="0">
                <a:solidFill>
                  <a:srgbClr val="2A5CFF"/>
                </a:solidFill>
                <a:latin typeface="Montserrat"/>
                <a:ea typeface="Montserrat"/>
                <a:cs typeface="Montserrat"/>
              </a:rPr>
              <a:t>PHOTO 16</a:t>
            </a:r>
          </a:p>
        </p:txBody>
      </p:sp>
      <p:sp>
        <p:nvSpPr>
          <p:cNvPr id="58" name="TextBox"/>
          <p:cNvSpPr txBox="1"/>
          <p:nvPr/>
        </p:nvSpPr>
        <p:spPr>
          <a:xfrm>
            <a:off x="7068312" y="5897880"/>
            <a:ext cx="4410151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会社見学 / 高校生と社員</a:t>
            </a:r>
          </a:p>
        </p:txBody>
      </p:sp>
      <p:cxnSp>
        <p:nvCxnSpPr>
          <p:cNvPr id="59" name="Line"/>
          <p:cNvCxnSpPr/>
          <p:nvPr/>
        </p:nvCxnSpPr>
        <p:spPr>
          <a:xfrm>
            <a:off x="585216" y="6455664"/>
            <a:ext cx="11021263" cy="914"/>
          </a:xfrm>
          <a:prstGeom prst="line">
            <a:avLst/>
          </a:prstGeom>
          <a:ln w="12700" cap="rnd">
            <a:solidFill>
              <a:srgbClr val="2A5CFF"/>
            </a:solidFill>
            <a:headEnd type="none"/>
            <a:tailEnd type="none"/>
          </a:ln>
        </p:spPr>
      </p:cxnSp>
      <p:sp>
        <p:nvSpPr>
          <p:cNvPr id="60" name="TextBox"/>
          <p:cNvSpPr txBox="1"/>
          <p:nvPr/>
        </p:nvSpPr>
        <p:spPr>
          <a:xfrm>
            <a:off x="585216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850" spc="1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JINJIB ― 高卒採用・進路選択マーケティング戦略提案   /   YouTube ／ 理解・深掘り</a:t>
            </a:r>
          </a:p>
        </p:txBody>
      </p:sp>
      <p:sp>
        <p:nvSpPr>
          <p:cNvPr id="61" name="TextBox"/>
          <p:cNvSpPr txBox="1"/>
          <p:nvPr/>
        </p:nvSpPr>
        <p:spPr>
          <a:xfrm>
            <a:off x="10326319" y="6473952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r"/>
            <a:r>
              <a:rPr lang="ja-JP" sz="1300" b="1" spc="20" dirty="0">
                <a:solidFill>
                  <a:srgbClr val="2A5CFF"/>
                </a:solidFill>
                <a:latin typeface="Montserrat"/>
                <a:ea typeface="Montserrat"/>
                <a:cs typeface="Montserrat"/>
              </a:rPr>
              <a:t>17</a:t>
            </a:r>
            <a:r>
              <a:rPr lang="ja-JP" sz="1000" dirty="0">
                <a:solidFill>
                  <a:srgbClr val="1A1A1A"/>
                </a:solidFill>
                <a:latin typeface="Montserrat"/>
                <a:ea typeface="Montserrat"/>
                <a:cs typeface="Montserrat"/>
              </a:rPr>
              <a:t> / 22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GrpSp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Kicker Tick"/>
          <p:cNvSpPr/>
          <p:nvPr/>
        </p:nvSpPr>
        <p:spPr>
          <a:xfrm>
            <a:off x="585216" y="457200"/>
            <a:ext cx="292608" cy="64008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"/>
          <p:cNvSpPr txBox="1"/>
          <p:nvPr/>
        </p:nvSpPr>
        <p:spPr>
          <a:xfrm>
            <a:off x="969264" y="365760"/>
            <a:ext cx="7315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1250" b="1" spc="60" dirty="0">
                <a:solidFill>
                  <a:srgbClr val="FF6A00"/>
                </a:solidFill>
                <a:latin typeface="Montserrat"/>
                <a:ea typeface="Montserrat"/>
                <a:cs typeface="Montserrat"/>
              </a:rPr>
              <a:t>PHASE 4  </a:t>
            </a:r>
            <a:r>
              <a:rPr lang="ja-JP" sz="1100" b="1" spc="2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Web / Real ／ Goal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585216" y="7772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</a:pPr>
            <a:r>
              <a:rPr lang="ja-JP" sz="220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知る・見るから、選ぶへ。</a:t>
            </a:r>
          </a:p>
        </p:txBody>
      </p:sp>
      <p:sp>
        <p:nvSpPr>
          <p:cNvPr id="6" name="P4Col0"/>
          <p:cNvSpPr/>
          <p:nvPr/>
        </p:nvSpPr>
        <p:spPr>
          <a:xfrm>
            <a:off x="585216" y="1508760"/>
            <a:ext cx="3368954" cy="4480560"/>
          </a:xfrm>
          <a:prstGeom prst="rect">
            <a:avLst/>
          </a:prstGeom>
          <a:solidFill>
            <a:srgbClr val="FFFFFF"/>
          </a:solidFill>
          <a:ln w="15875" cap="flat">
            <a:solidFill>
              <a:srgbClr val="00C2D1"/>
            </a:solidFill>
            <a:round/>
          </a:ln>
        </p:spPr>
        <p:txBody>
          <a:bodyPr/>
          <a:lstStyle/>
          <a:p/>
        </p:txBody>
      </p:sp>
      <p:sp>
        <p:nvSpPr>
          <p:cNvPr id="7" name="P4Head0"/>
          <p:cNvSpPr/>
          <p:nvPr/>
        </p:nvSpPr>
        <p:spPr>
          <a:xfrm>
            <a:off x="585216" y="1508760"/>
            <a:ext cx="3368954" cy="502920"/>
          </a:xfrm>
          <a:prstGeom prst="rect">
            <a:avLst/>
          </a:prstGeom>
          <a:solidFill>
            <a:srgbClr val="00C2D1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extBox"/>
          <p:cNvSpPr txBox="1"/>
          <p:nvPr/>
        </p:nvSpPr>
        <p:spPr>
          <a:xfrm>
            <a:off x="585216" y="1508760"/>
            <a:ext cx="3368954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1700" b="1" spc="4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WEB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585216" y="2103120"/>
            <a:ext cx="3368954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1300" b="1" dirty="0">
                <a:solidFill>
                  <a:srgbClr val="00C2D1"/>
                </a:solidFill>
                <a:latin typeface="Noto Sans JP"/>
                <a:ea typeface="Noto Sans JP"/>
                <a:cs typeface="Noto Sans JP"/>
              </a:rPr>
              <a:t>見る → 探す</a:t>
            </a:r>
          </a:p>
        </p:txBody>
      </p:sp>
      <p:sp>
        <p:nvSpPr>
          <p:cNvPr id="10" name="Bullet"/>
          <p:cNvSpPr/>
          <p:nvPr/>
        </p:nvSpPr>
        <p:spPr>
          <a:xfrm>
            <a:off x="841248" y="2779776"/>
            <a:ext cx="82296" cy="82296"/>
          </a:xfrm>
          <a:prstGeom prst="rect">
            <a:avLst/>
          </a:prstGeom>
          <a:solidFill>
            <a:srgbClr val="00C2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Box"/>
          <p:cNvSpPr txBox="1"/>
          <p:nvPr/>
        </p:nvSpPr>
        <p:spPr>
          <a:xfrm>
            <a:off x="1024128" y="2697480"/>
            <a:ext cx="2728874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50000"/>
              </a:lnSpc>
            </a:pPr>
            <a:r>
              <a:rPr lang="ja-JP" sz="11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18歳の仕事図鑑</a:t>
            </a:r>
          </a:p>
        </p:txBody>
      </p:sp>
      <p:sp>
        <p:nvSpPr>
          <p:cNvPr id="12" name="Bullet"/>
          <p:cNvSpPr/>
          <p:nvPr/>
        </p:nvSpPr>
        <p:spPr>
          <a:xfrm>
            <a:off x="841248" y="3346704"/>
            <a:ext cx="82296" cy="82296"/>
          </a:xfrm>
          <a:prstGeom prst="rect">
            <a:avLst/>
          </a:prstGeom>
          <a:solidFill>
            <a:srgbClr val="00C2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Box"/>
          <p:cNvSpPr txBox="1"/>
          <p:nvPr/>
        </p:nvSpPr>
        <p:spPr>
          <a:xfrm>
            <a:off x="1024128" y="3264408"/>
            <a:ext cx="2728874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50000"/>
              </a:lnSpc>
            </a:pPr>
            <a:r>
              <a:rPr lang="ja-JP" sz="11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先輩社員から会社を探す</a:t>
            </a:r>
          </a:p>
        </p:txBody>
      </p:sp>
      <p:sp>
        <p:nvSpPr>
          <p:cNvPr id="14" name="Bullet"/>
          <p:cNvSpPr/>
          <p:nvPr/>
        </p:nvSpPr>
        <p:spPr>
          <a:xfrm>
            <a:off x="841248" y="3913632"/>
            <a:ext cx="82296" cy="82296"/>
          </a:xfrm>
          <a:prstGeom prst="rect">
            <a:avLst/>
          </a:prstGeom>
          <a:solidFill>
            <a:srgbClr val="00C2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extBox"/>
          <p:cNvSpPr txBox="1"/>
          <p:nvPr/>
        </p:nvSpPr>
        <p:spPr>
          <a:xfrm>
            <a:off x="1024128" y="3831336"/>
            <a:ext cx="2728874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50000"/>
              </a:lnSpc>
            </a:pPr>
            <a:r>
              <a:rPr lang="ja-JP" sz="11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仕事・進路診断</a:t>
            </a:r>
          </a:p>
        </p:txBody>
      </p:sp>
      <p:sp>
        <p:nvSpPr>
          <p:cNvPr id="16" name="Bullet"/>
          <p:cNvSpPr/>
          <p:nvPr/>
        </p:nvSpPr>
        <p:spPr>
          <a:xfrm>
            <a:off x="841248" y="4480560"/>
            <a:ext cx="82296" cy="82296"/>
          </a:xfrm>
          <a:prstGeom prst="rect">
            <a:avLst/>
          </a:prstGeom>
          <a:solidFill>
            <a:srgbClr val="00C2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Box"/>
          <p:cNvSpPr txBox="1"/>
          <p:nvPr/>
        </p:nvSpPr>
        <p:spPr>
          <a:xfrm>
            <a:off x="1024128" y="4398264"/>
            <a:ext cx="2728874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50000"/>
              </a:lnSpc>
            </a:pPr>
            <a:r>
              <a:rPr lang="ja-JP" sz="11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動画から企業へ</a:t>
            </a:r>
          </a:p>
        </p:txBody>
      </p:sp>
      <p:cxnSp>
        <p:nvCxnSpPr>
          <p:cNvPr id="18" name="Line"/>
          <p:cNvCxnSpPr/>
          <p:nvPr/>
        </p:nvCxnSpPr>
        <p:spPr>
          <a:xfrm>
            <a:off x="4009034" y="3749040"/>
            <a:ext cx="347472" cy="914"/>
          </a:xfrm>
          <a:prstGeom prst="line">
            <a:avLst/>
          </a:prstGeom>
          <a:ln w="22225" cap="rnd">
            <a:solidFill>
              <a:srgbClr val="FF6A00"/>
            </a:solidFill>
            <a:headEnd type="none"/>
            <a:tailEnd type="triangle" w="med" len="med"/>
          </a:ln>
        </p:spPr>
      </p:cxnSp>
      <p:sp>
        <p:nvSpPr>
          <p:cNvPr id="19" name="P4Col1"/>
          <p:cNvSpPr/>
          <p:nvPr/>
        </p:nvSpPr>
        <p:spPr>
          <a:xfrm>
            <a:off x="4411370" y="1508760"/>
            <a:ext cx="3368954" cy="4480560"/>
          </a:xfrm>
          <a:prstGeom prst="rect">
            <a:avLst/>
          </a:prstGeom>
          <a:solidFill>
            <a:srgbClr val="FFFFFF"/>
          </a:solidFill>
          <a:ln w="15875" cap="flat">
            <a:solidFill>
              <a:srgbClr val="FF6A00"/>
            </a:solidFill>
            <a:round/>
          </a:ln>
        </p:spPr>
        <p:txBody>
          <a:bodyPr/>
          <a:lstStyle/>
          <a:p/>
        </p:txBody>
      </p:sp>
      <p:sp>
        <p:nvSpPr>
          <p:cNvPr id="20" name="P4Head1"/>
          <p:cNvSpPr/>
          <p:nvPr/>
        </p:nvSpPr>
        <p:spPr>
          <a:xfrm>
            <a:off x="4411370" y="1508760"/>
            <a:ext cx="3368954" cy="5029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TextBox"/>
          <p:cNvSpPr txBox="1"/>
          <p:nvPr/>
        </p:nvSpPr>
        <p:spPr>
          <a:xfrm>
            <a:off x="4411370" y="1508760"/>
            <a:ext cx="3368954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1700" b="1" spc="4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REAL</a:t>
            </a:r>
          </a:p>
        </p:txBody>
      </p:sp>
      <p:sp>
        <p:nvSpPr>
          <p:cNvPr id="22" name="TextBox"/>
          <p:cNvSpPr txBox="1"/>
          <p:nvPr/>
        </p:nvSpPr>
        <p:spPr>
          <a:xfrm>
            <a:off x="4411370" y="2103120"/>
            <a:ext cx="3368954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1300" b="1" dirty="0">
                <a:solidFill>
                  <a:srgbClr val="FF6A00"/>
                </a:solidFill>
                <a:latin typeface="Noto Sans JP"/>
                <a:ea typeface="Noto Sans JP"/>
                <a:cs typeface="Noto Sans JP"/>
              </a:rPr>
              <a:t>知る → 会う</a:t>
            </a:r>
          </a:p>
        </p:txBody>
      </p:sp>
      <p:sp>
        <p:nvSpPr>
          <p:cNvPr id="23" name="Bullet"/>
          <p:cNvSpPr/>
          <p:nvPr/>
        </p:nvSpPr>
        <p:spPr>
          <a:xfrm>
            <a:off x="4667402" y="2779776"/>
            <a:ext cx="82296" cy="82296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TextBox"/>
          <p:cNvSpPr txBox="1"/>
          <p:nvPr/>
        </p:nvSpPr>
        <p:spPr>
          <a:xfrm>
            <a:off x="4850282" y="2697480"/>
            <a:ext cx="2728874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50000"/>
              </a:lnSpc>
            </a:pPr>
            <a:r>
              <a:rPr lang="ja-JP" sz="11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放課後会社見学</a:t>
            </a:r>
          </a:p>
        </p:txBody>
      </p:sp>
      <p:sp>
        <p:nvSpPr>
          <p:cNvPr id="25" name="Bullet"/>
          <p:cNvSpPr/>
          <p:nvPr/>
        </p:nvSpPr>
        <p:spPr>
          <a:xfrm>
            <a:off x="4667402" y="3346704"/>
            <a:ext cx="82296" cy="82296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Box"/>
          <p:cNvSpPr txBox="1"/>
          <p:nvPr/>
        </p:nvSpPr>
        <p:spPr>
          <a:xfrm>
            <a:off x="4850282" y="3264408"/>
            <a:ext cx="2728874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50000"/>
              </a:lnSpc>
            </a:pPr>
            <a:r>
              <a:rPr lang="ja-JP" sz="11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18歳の社会見学</a:t>
            </a:r>
          </a:p>
        </p:txBody>
      </p:sp>
      <p:sp>
        <p:nvSpPr>
          <p:cNvPr id="27" name="Bullet"/>
          <p:cNvSpPr/>
          <p:nvPr/>
        </p:nvSpPr>
        <p:spPr>
          <a:xfrm>
            <a:off x="4667402" y="3913632"/>
            <a:ext cx="82296" cy="82296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TextBox"/>
          <p:cNvSpPr txBox="1"/>
          <p:nvPr/>
        </p:nvSpPr>
        <p:spPr>
          <a:xfrm>
            <a:off x="4850282" y="3831336"/>
            <a:ext cx="2728874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50000"/>
              </a:lnSpc>
            </a:pPr>
            <a:r>
              <a:rPr lang="ja-JP" sz="11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高校生×若手社員交流会</a:t>
            </a:r>
          </a:p>
        </p:txBody>
      </p:sp>
      <p:sp>
        <p:nvSpPr>
          <p:cNvPr id="29" name="Bullet"/>
          <p:cNvSpPr/>
          <p:nvPr/>
        </p:nvSpPr>
        <p:spPr>
          <a:xfrm>
            <a:off x="4667402" y="4480560"/>
            <a:ext cx="82296" cy="82296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TextBox"/>
          <p:cNvSpPr txBox="1"/>
          <p:nvPr/>
        </p:nvSpPr>
        <p:spPr>
          <a:xfrm>
            <a:off x="4850282" y="4398264"/>
            <a:ext cx="2728874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50000"/>
              </a:lnSpc>
            </a:pPr>
            <a:r>
              <a:rPr lang="ja-JP" sz="11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1日仕事体験</a:t>
            </a:r>
          </a:p>
        </p:txBody>
      </p:sp>
      <p:cxnSp>
        <p:nvCxnSpPr>
          <p:cNvPr id="31" name="Line"/>
          <p:cNvCxnSpPr/>
          <p:nvPr/>
        </p:nvCxnSpPr>
        <p:spPr>
          <a:xfrm>
            <a:off x="7835189" y="3749040"/>
            <a:ext cx="347472" cy="914"/>
          </a:xfrm>
          <a:prstGeom prst="line">
            <a:avLst/>
          </a:prstGeom>
          <a:ln w="22225" cap="rnd">
            <a:solidFill>
              <a:srgbClr val="FF6A00"/>
            </a:solidFill>
            <a:headEnd type="none"/>
            <a:tailEnd type="triangle" w="med" len="med"/>
          </a:ln>
        </p:spPr>
      </p:cxnSp>
      <p:sp>
        <p:nvSpPr>
          <p:cNvPr id="32" name="P4Col2"/>
          <p:cNvSpPr/>
          <p:nvPr/>
        </p:nvSpPr>
        <p:spPr>
          <a:xfrm>
            <a:off x="8237525" y="1508760"/>
            <a:ext cx="3368954" cy="4480560"/>
          </a:xfrm>
          <a:prstGeom prst="rect">
            <a:avLst/>
          </a:prstGeom>
          <a:solidFill>
            <a:srgbClr val="FFFFFF"/>
          </a:solidFill>
          <a:ln w="15875" cap="flat">
            <a:solidFill>
              <a:srgbClr val="1A1A1A"/>
            </a:solidFill>
            <a:round/>
          </a:ln>
        </p:spPr>
        <p:txBody>
          <a:bodyPr/>
          <a:lstStyle/>
          <a:p/>
        </p:txBody>
      </p:sp>
      <p:sp>
        <p:nvSpPr>
          <p:cNvPr id="33" name="P4Head2"/>
          <p:cNvSpPr/>
          <p:nvPr/>
        </p:nvSpPr>
        <p:spPr>
          <a:xfrm>
            <a:off x="8237525" y="1508760"/>
            <a:ext cx="3368954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TextBox"/>
          <p:cNvSpPr txBox="1"/>
          <p:nvPr/>
        </p:nvSpPr>
        <p:spPr>
          <a:xfrm>
            <a:off x="8237525" y="1508760"/>
            <a:ext cx="3368954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1700" b="1" spc="4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GOAL</a:t>
            </a:r>
          </a:p>
        </p:txBody>
      </p:sp>
      <p:sp>
        <p:nvSpPr>
          <p:cNvPr id="35" name="TextBox"/>
          <p:cNvSpPr txBox="1"/>
          <p:nvPr/>
        </p:nvSpPr>
        <p:spPr>
          <a:xfrm>
            <a:off x="8237525" y="2103120"/>
            <a:ext cx="3368954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130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選択肢 → 選ぶ</a:t>
            </a:r>
          </a:p>
        </p:txBody>
      </p:sp>
      <p:sp>
        <p:nvSpPr>
          <p:cNvPr id="36" name="TextBox"/>
          <p:cNvSpPr txBox="1"/>
          <p:nvPr/>
        </p:nvSpPr>
        <p:spPr>
          <a:xfrm>
            <a:off x="8466125" y="2971800"/>
            <a:ext cx="2911754" cy="2377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>
              <a:lnSpc>
                <a:spcPct val="132000"/>
              </a:lnSpc>
            </a:pPr>
            <a:r>
              <a:rPr lang="ja-JP" sz="160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知らなかった選択肢を、
自分で選べる選択肢へ。</a:t>
            </a:r>
          </a:p>
        </p:txBody>
      </p:sp>
      <p:cxnSp>
        <p:nvCxnSpPr>
          <p:cNvPr id="37" name="Line"/>
          <p:cNvCxnSpPr/>
          <p:nvPr/>
        </p:nvCxnSpPr>
        <p:spPr>
          <a:xfrm>
            <a:off x="585216" y="6455664"/>
            <a:ext cx="11021263" cy="914"/>
          </a:xfrm>
          <a:prstGeom prst="line">
            <a:avLst/>
          </a:prstGeom>
          <a:ln w="12700" cap="rnd">
            <a:solidFill>
              <a:srgbClr val="FF6A00"/>
            </a:solidFill>
            <a:headEnd type="none"/>
            <a:tailEnd type="none"/>
          </a:ln>
        </p:spPr>
      </p:cxnSp>
      <p:sp>
        <p:nvSpPr>
          <p:cNvPr id="38" name="TextBox"/>
          <p:cNvSpPr txBox="1"/>
          <p:nvPr/>
        </p:nvSpPr>
        <p:spPr>
          <a:xfrm>
            <a:off x="585216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850" spc="1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JINJIB ― 高卒採用・進路選択マーケティング戦略提案   /   Phase 4 ／ Goal</a:t>
            </a:r>
          </a:p>
        </p:txBody>
      </p:sp>
      <p:sp>
        <p:nvSpPr>
          <p:cNvPr id="39" name="TextBox"/>
          <p:cNvSpPr txBox="1"/>
          <p:nvPr/>
        </p:nvSpPr>
        <p:spPr>
          <a:xfrm>
            <a:off x="10326319" y="6473952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r"/>
            <a:r>
              <a:rPr lang="ja-JP" sz="1300" b="1" spc="20" dirty="0">
                <a:solidFill>
                  <a:srgbClr val="FF6A00"/>
                </a:solidFill>
                <a:latin typeface="Montserrat"/>
                <a:ea typeface="Montserrat"/>
                <a:cs typeface="Montserrat"/>
              </a:rPr>
              <a:t>18</a:t>
            </a:r>
            <a:r>
              <a:rPr lang="ja-JP" sz="1000" dirty="0">
                <a:solidFill>
                  <a:srgbClr val="1A1A1A"/>
                </a:solidFill>
                <a:latin typeface="Montserrat"/>
                <a:ea typeface="Montserrat"/>
                <a:cs typeface="Montserrat"/>
              </a:rPr>
              <a:t> / 22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GrpSp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Kicker Tick"/>
          <p:cNvSpPr/>
          <p:nvPr/>
        </p:nvSpPr>
        <p:spPr>
          <a:xfrm>
            <a:off x="585216" y="457200"/>
            <a:ext cx="292608" cy="64008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"/>
          <p:cNvSpPr txBox="1"/>
          <p:nvPr/>
        </p:nvSpPr>
        <p:spPr>
          <a:xfrm>
            <a:off x="969264" y="365760"/>
            <a:ext cx="7315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1250" b="1" spc="60" dirty="0">
                <a:solidFill>
                  <a:srgbClr val="FF6A00"/>
                </a:solidFill>
                <a:latin typeface="Montserrat"/>
                <a:ea typeface="Montserrat"/>
                <a:cs typeface="Montserrat"/>
              </a:rPr>
              <a:t>MARKETING ROADMAP  </a:t>
            </a:r>
            <a:r>
              <a:rPr lang="ja-JP" sz="1100" b="1" spc="2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認知から選択までの全体設計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585216" y="7772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</a:pPr>
            <a:r>
              <a:rPr lang="ja-JP" sz="200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6つの段階で、心理状態を動かす。</a:t>
            </a:r>
          </a:p>
        </p:txBody>
      </p:sp>
      <p:sp>
        <p:nvSpPr>
          <p:cNvPr id="6" name="Ch0"/>
          <p:cNvSpPr/>
          <p:nvPr/>
        </p:nvSpPr>
        <p:spPr>
          <a:xfrm>
            <a:off x="585216" y="1691640"/>
            <a:ext cx="1714957" cy="1051560"/>
          </a:xfrm>
          <a:prstGeom prst="roundRect">
            <a:avLst>
              <a:gd name="adj" fmla="val 6000"/>
            </a:avLst>
          </a:prstGeom>
          <a:solidFill>
            <a:srgbClr val="FF6A00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"/>
          <p:cNvSpPr txBox="1"/>
          <p:nvPr/>
        </p:nvSpPr>
        <p:spPr>
          <a:xfrm>
            <a:off x="676656" y="1801368"/>
            <a:ext cx="1532077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/>
            <a:r>
              <a:rPr lang="ja-JP" sz="1350" b="1" spc="1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TikTok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676656" y="2148840"/>
            <a:ext cx="1532077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/>
            <a:r>
              <a:rPr lang="ja-JP" sz="1000" b="1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認知・感情</a:t>
            </a:r>
          </a:p>
        </p:txBody>
      </p:sp>
      <p:cxnSp>
        <p:nvCxnSpPr>
          <p:cNvPr id="9" name="Line"/>
          <p:cNvCxnSpPr/>
          <p:nvPr/>
        </p:nvCxnSpPr>
        <p:spPr>
          <a:xfrm>
            <a:off x="2318461" y="2217420"/>
            <a:ext cx="109728" cy="914"/>
          </a:xfrm>
          <a:prstGeom prst="line">
            <a:avLst/>
          </a:prstGeom>
          <a:ln w="19050" cap="rnd">
            <a:solidFill>
              <a:srgbClr val="1A1A1A"/>
            </a:solidFill>
            <a:headEnd type="none"/>
            <a:tailEnd type="triangle" w="med" len="med"/>
          </a:ln>
        </p:spPr>
      </p:cxnSp>
      <p:sp>
        <p:nvSpPr>
          <p:cNvPr id="10" name="Ch1"/>
          <p:cNvSpPr/>
          <p:nvPr/>
        </p:nvSpPr>
        <p:spPr>
          <a:xfrm>
            <a:off x="2446477" y="1691640"/>
            <a:ext cx="1714957" cy="1051560"/>
          </a:xfrm>
          <a:prstGeom prst="roundRect">
            <a:avLst>
              <a:gd name="adj" fmla="val 6000"/>
            </a:avLst>
          </a:prstGeom>
          <a:solidFill>
            <a:srgbClr val="FF3D8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Box"/>
          <p:cNvSpPr txBox="1"/>
          <p:nvPr/>
        </p:nvSpPr>
        <p:spPr>
          <a:xfrm>
            <a:off x="2537917" y="1801368"/>
            <a:ext cx="1532077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/>
            <a:r>
              <a:rPr lang="ja-JP" sz="1350" b="1" spc="1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Instagram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2537917" y="2148840"/>
            <a:ext cx="1532077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/>
            <a:r>
              <a:rPr lang="ja-JP" sz="1000" b="1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共感・自分事化</a:t>
            </a:r>
          </a:p>
        </p:txBody>
      </p:sp>
      <p:cxnSp>
        <p:nvCxnSpPr>
          <p:cNvPr id="13" name="Line"/>
          <p:cNvCxnSpPr/>
          <p:nvPr/>
        </p:nvCxnSpPr>
        <p:spPr>
          <a:xfrm>
            <a:off x="4179722" y="2217420"/>
            <a:ext cx="109728" cy="914"/>
          </a:xfrm>
          <a:prstGeom prst="line">
            <a:avLst/>
          </a:prstGeom>
          <a:ln w="19050" cap="rnd">
            <a:solidFill>
              <a:srgbClr val="1A1A1A"/>
            </a:solidFill>
            <a:headEnd type="none"/>
            <a:tailEnd type="triangle" w="med" len="med"/>
          </a:ln>
        </p:spPr>
      </p:cxnSp>
      <p:sp>
        <p:nvSpPr>
          <p:cNvPr id="14" name="Ch2"/>
          <p:cNvSpPr/>
          <p:nvPr/>
        </p:nvSpPr>
        <p:spPr>
          <a:xfrm>
            <a:off x="4307738" y="1691640"/>
            <a:ext cx="1714957" cy="1051560"/>
          </a:xfrm>
          <a:prstGeom prst="roundRect">
            <a:avLst>
              <a:gd name="adj" fmla="val 6000"/>
            </a:avLst>
          </a:prstGeom>
          <a:solidFill>
            <a:srgbClr val="2A5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extBox"/>
          <p:cNvSpPr txBox="1"/>
          <p:nvPr/>
        </p:nvSpPr>
        <p:spPr>
          <a:xfrm>
            <a:off x="4399178" y="1801368"/>
            <a:ext cx="1532077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/>
            <a:r>
              <a:rPr lang="ja-JP" sz="1350" b="1" spc="1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YouTube</a:t>
            </a:r>
          </a:p>
        </p:txBody>
      </p:sp>
      <p:sp>
        <p:nvSpPr>
          <p:cNvPr id="16" name="TextBox"/>
          <p:cNvSpPr txBox="1"/>
          <p:nvPr/>
        </p:nvSpPr>
        <p:spPr>
          <a:xfrm>
            <a:off x="4399178" y="2148840"/>
            <a:ext cx="1532077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/>
            <a:r>
              <a:rPr lang="ja-JP" sz="1000" b="1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理解・深掘り</a:t>
            </a:r>
          </a:p>
        </p:txBody>
      </p:sp>
      <p:cxnSp>
        <p:nvCxnSpPr>
          <p:cNvPr id="17" name="Line"/>
          <p:cNvCxnSpPr/>
          <p:nvPr/>
        </p:nvCxnSpPr>
        <p:spPr>
          <a:xfrm>
            <a:off x="6040984" y="2217420"/>
            <a:ext cx="109728" cy="914"/>
          </a:xfrm>
          <a:prstGeom prst="line">
            <a:avLst/>
          </a:prstGeom>
          <a:ln w="19050" cap="rnd">
            <a:solidFill>
              <a:srgbClr val="1A1A1A"/>
            </a:solidFill>
            <a:headEnd type="none"/>
            <a:tailEnd type="triangle" w="med" len="med"/>
          </a:ln>
        </p:spPr>
      </p:cxnSp>
      <p:sp>
        <p:nvSpPr>
          <p:cNvPr id="18" name="Ch3"/>
          <p:cNvSpPr/>
          <p:nvPr/>
        </p:nvSpPr>
        <p:spPr>
          <a:xfrm>
            <a:off x="6169000" y="1691640"/>
            <a:ext cx="1714957" cy="1051560"/>
          </a:xfrm>
          <a:prstGeom prst="roundRect">
            <a:avLst>
              <a:gd name="adj" fmla="val 6000"/>
            </a:avLst>
          </a:prstGeom>
          <a:solidFill>
            <a:srgbClr val="00C2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TextBox"/>
          <p:cNvSpPr txBox="1"/>
          <p:nvPr/>
        </p:nvSpPr>
        <p:spPr>
          <a:xfrm>
            <a:off x="6260440" y="1801368"/>
            <a:ext cx="1532077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/>
            <a:r>
              <a:rPr lang="ja-JP" sz="1350" b="1" spc="1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Web</a:t>
            </a:r>
          </a:p>
        </p:txBody>
      </p:sp>
      <p:sp>
        <p:nvSpPr>
          <p:cNvPr id="20" name="TextBox"/>
          <p:cNvSpPr txBox="1"/>
          <p:nvPr/>
        </p:nvSpPr>
        <p:spPr>
          <a:xfrm>
            <a:off x="6260440" y="2148840"/>
            <a:ext cx="1532077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/>
            <a:r>
              <a:rPr lang="ja-JP" sz="1000" b="1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探索・比較</a:t>
            </a:r>
          </a:p>
        </p:txBody>
      </p:sp>
      <p:cxnSp>
        <p:nvCxnSpPr>
          <p:cNvPr id="21" name="Line"/>
          <p:cNvCxnSpPr/>
          <p:nvPr/>
        </p:nvCxnSpPr>
        <p:spPr>
          <a:xfrm>
            <a:off x="7902245" y="2217420"/>
            <a:ext cx="109728" cy="914"/>
          </a:xfrm>
          <a:prstGeom prst="line">
            <a:avLst/>
          </a:prstGeom>
          <a:ln w="19050" cap="rnd">
            <a:solidFill>
              <a:srgbClr val="1A1A1A"/>
            </a:solidFill>
            <a:headEnd type="none"/>
            <a:tailEnd type="triangle" w="med" len="med"/>
          </a:ln>
        </p:spPr>
      </p:cxnSp>
      <p:sp>
        <p:nvSpPr>
          <p:cNvPr id="22" name="Ch4"/>
          <p:cNvSpPr/>
          <p:nvPr/>
        </p:nvSpPr>
        <p:spPr>
          <a:xfrm>
            <a:off x="8030261" y="1691640"/>
            <a:ext cx="1714957" cy="1051560"/>
          </a:xfrm>
          <a:prstGeom prst="roundRect">
            <a:avLst>
              <a:gd name="adj" fmla="val 6000"/>
            </a:avLst>
          </a:prstGeom>
          <a:solidFill>
            <a:srgbClr val="9AD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Box"/>
          <p:cNvSpPr txBox="1"/>
          <p:nvPr/>
        </p:nvSpPr>
        <p:spPr>
          <a:xfrm>
            <a:off x="8121701" y="1801368"/>
            <a:ext cx="1532077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/>
            <a:r>
              <a:rPr lang="ja-JP" sz="1350" b="1" spc="1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Real</a:t>
            </a:r>
          </a:p>
        </p:txBody>
      </p:sp>
      <p:sp>
        <p:nvSpPr>
          <p:cNvPr id="24" name="TextBox"/>
          <p:cNvSpPr txBox="1"/>
          <p:nvPr/>
        </p:nvSpPr>
        <p:spPr>
          <a:xfrm>
            <a:off x="8121701" y="2148840"/>
            <a:ext cx="1532077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/>
            <a:r>
              <a:rPr lang="ja-JP" sz="1000" b="1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体験・接点</a:t>
            </a:r>
          </a:p>
        </p:txBody>
      </p:sp>
      <p:cxnSp>
        <p:nvCxnSpPr>
          <p:cNvPr id="25" name="Line"/>
          <p:cNvCxnSpPr/>
          <p:nvPr/>
        </p:nvCxnSpPr>
        <p:spPr>
          <a:xfrm>
            <a:off x="9763506" y="2217420"/>
            <a:ext cx="109728" cy="914"/>
          </a:xfrm>
          <a:prstGeom prst="line">
            <a:avLst/>
          </a:prstGeom>
          <a:ln w="19050" cap="rnd">
            <a:solidFill>
              <a:srgbClr val="1A1A1A"/>
            </a:solidFill>
            <a:headEnd type="none"/>
            <a:tailEnd type="triangle" w="med" len="med"/>
          </a:ln>
        </p:spPr>
      </p:cxnSp>
      <p:sp>
        <p:nvSpPr>
          <p:cNvPr id="26" name="Ch5"/>
          <p:cNvSpPr/>
          <p:nvPr/>
        </p:nvSpPr>
        <p:spPr>
          <a:xfrm>
            <a:off x="9891522" y="1691640"/>
            <a:ext cx="1714957" cy="1051560"/>
          </a:xfrm>
          <a:prstGeom prst="roundRect">
            <a:avLst>
              <a:gd name="adj" fmla="val 6000"/>
            </a:avLst>
          </a:prstGeom>
          <a:solidFill>
            <a:srgbClr val="8A2BE2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TextBox"/>
          <p:cNvSpPr txBox="1"/>
          <p:nvPr/>
        </p:nvSpPr>
        <p:spPr>
          <a:xfrm>
            <a:off x="9982962" y="1801368"/>
            <a:ext cx="1532077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/>
            <a:r>
              <a:rPr lang="ja-JP" sz="1350" b="1" spc="1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Goal</a:t>
            </a:r>
          </a:p>
        </p:txBody>
      </p:sp>
      <p:sp>
        <p:nvSpPr>
          <p:cNvPr id="28" name="TextBox"/>
          <p:cNvSpPr txBox="1"/>
          <p:nvPr/>
        </p:nvSpPr>
        <p:spPr>
          <a:xfrm>
            <a:off x="9982962" y="2148840"/>
            <a:ext cx="1532077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/>
            <a:r>
              <a:rPr lang="ja-JP" sz="1000" b="1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採用・進路選択</a:t>
            </a:r>
          </a:p>
        </p:txBody>
      </p:sp>
      <p:sp>
        <p:nvSpPr>
          <p:cNvPr id="29" name="TextBox"/>
          <p:cNvSpPr txBox="1"/>
          <p:nvPr/>
        </p:nvSpPr>
        <p:spPr>
          <a:xfrm>
            <a:off x="585216" y="2971800"/>
            <a:ext cx="11021263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1100" b="1" spc="30" dirty="0">
                <a:solidFill>
                  <a:srgbClr val="1A1A1A"/>
                </a:solidFill>
                <a:latin typeface="Montserrat"/>
                <a:ea typeface="Montserrat"/>
                <a:cs typeface="Montserrat"/>
              </a:rPr>
              <a:t>PSYCHOLOGICAL SHIFT ／ 心理変化</a:t>
            </a:r>
          </a:p>
        </p:txBody>
      </p:sp>
      <p:sp>
        <p:nvSpPr>
          <p:cNvPr id="30" name="Mind0"/>
          <p:cNvSpPr/>
          <p:nvPr/>
        </p:nvSpPr>
        <p:spPr>
          <a:xfrm>
            <a:off x="585216" y="3383280"/>
            <a:ext cx="1714957" cy="777240"/>
          </a:xfrm>
          <a:prstGeom prst="rect">
            <a:avLst/>
          </a:prstGeom>
          <a:solidFill>
            <a:srgbClr val="FFFFFF"/>
          </a:solidFill>
          <a:ln w="15875" cap="flat">
            <a:solidFill>
              <a:srgbClr val="FF6A00"/>
            </a:solidFill>
            <a:round/>
          </a:ln>
        </p:spPr>
        <p:txBody>
          <a:bodyPr/>
          <a:lstStyle/>
          <a:p/>
        </p:txBody>
      </p:sp>
      <p:sp>
        <p:nvSpPr>
          <p:cNvPr id="31" name="TextBox"/>
          <p:cNvSpPr txBox="1"/>
          <p:nvPr/>
        </p:nvSpPr>
        <p:spPr>
          <a:xfrm>
            <a:off x="676656" y="3383280"/>
            <a:ext cx="1532077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>
              <a:lnSpc>
                <a:spcPct val="128000"/>
              </a:lnSpc>
            </a:pPr>
            <a:r>
              <a:rPr lang="ja-JP" sz="105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なんとなく見る</a:t>
            </a:r>
          </a:p>
        </p:txBody>
      </p:sp>
      <p:cxnSp>
        <p:nvCxnSpPr>
          <p:cNvPr id="32" name="Line"/>
          <p:cNvCxnSpPr/>
          <p:nvPr/>
        </p:nvCxnSpPr>
        <p:spPr>
          <a:xfrm>
            <a:off x="2318461" y="3771900"/>
            <a:ext cx="109728" cy="914"/>
          </a:xfrm>
          <a:prstGeom prst="line">
            <a:avLst/>
          </a:prstGeom>
          <a:ln w="19050" cap="rnd">
            <a:solidFill>
              <a:srgbClr val="1A1A1A"/>
            </a:solidFill>
            <a:headEnd type="none"/>
            <a:tailEnd type="triangle" w="med" len="med"/>
          </a:ln>
        </p:spPr>
      </p:cxnSp>
      <p:sp>
        <p:nvSpPr>
          <p:cNvPr id="33" name="Mind1"/>
          <p:cNvSpPr/>
          <p:nvPr/>
        </p:nvSpPr>
        <p:spPr>
          <a:xfrm>
            <a:off x="2446477" y="3383280"/>
            <a:ext cx="1714957" cy="777240"/>
          </a:xfrm>
          <a:prstGeom prst="rect">
            <a:avLst/>
          </a:prstGeom>
          <a:solidFill>
            <a:srgbClr val="FFFFFF"/>
          </a:solidFill>
          <a:ln w="15875" cap="flat">
            <a:solidFill>
              <a:srgbClr val="FF3D8A"/>
            </a:solidFill>
            <a:round/>
          </a:ln>
        </p:spPr>
        <p:txBody>
          <a:bodyPr/>
          <a:lstStyle/>
          <a:p/>
        </p:txBody>
      </p:sp>
      <p:sp>
        <p:nvSpPr>
          <p:cNvPr id="34" name="TextBox"/>
          <p:cNvSpPr txBox="1"/>
          <p:nvPr/>
        </p:nvSpPr>
        <p:spPr>
          <a:xfrm>
            <a:off x="2537917" y="3383280"/>
            <a:ext cx="1532077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>
              <a:lnSpc>
                <a:spcPct val="128000"/>
              </a:lnSpc>
            </a:pPr>
            <a:r>
              <a:rPr lang="ja-JP" sz="105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自分も迷っている</a:t>
            </a:r>
          </a:p>
        </p:txBody>
      </p:sp>
      <p:cxnSp>
        <p:nvCxnSpPr>
          <p:cNvPr id="35" name="Line"/>
          <p:cNvCxnSpPr/>
          <p:nvPr/>
        </p:nvCxnSpPr>
        <p:spPr>
          <a:xfrm>
            <a:off x="4179722" y="3771900"/>
            <a:ext cx="109728" cy="914"/>
          </a:xfrm>
          <a:prstGeom prst="line">
            <a:avLst/>
          </a:prstGeom>
          <a:ln w="19050" cap="rnd">
            <a:solidFill>
              <a:srgbClr val="1A1A1A"/>
            </a:solidFill>
            <a:headEnd type="none"/>
            <a:tailEnd type="triangle" w="med" len="med"/>
          </a:ln>
        </p:spPr>
      </p:cxnSp>
      <p:sp>
        <p:nvSpPr>
          <p:cNvPr id="36" name="Mind2"/>
          <p:cNvSpPr/>
          <p:nvPr/>
        </p:nvSpPr>
        <p:spPr>
          <a:xfrm>
            <a:off x="4307738" y="3383280"/>
            <a:ext cx="1714957" cy="777240"/>
          </a:xfrm>
          <a:prstGeom prst="rect">
            <a:avLst/>
          </a:prstGeom>
          <a:solidFill>
            <a:srgbClr val="FFFFFF"/>
          </a:solidFill>
          <a:ln w="15875" cap="flat">
            <a:solidFill>
              <a:srgbClr val="2A5CFF"/>
            </a:solidFill>
            <a:round/>
          </a:ln>
        </p:spPr>
        <p:txBody>
          <a:bodyPr/>
          <a:lstStyle/>
          <a:p/>
        </p:txBody>
      </p:sp>
      <p:sp>
        <p:nvSpPr>
          <p:cNvPr id="37" name="TextBox"/>
          <p:cNvSpPr txBox="1"/>
          <p:nvPr/>
        </p:nvSpPr>
        <p:spPr>
          <a:xfrm>
            <a:off x="4399178" y="3383280"/>
            <a:ext cx="1532077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>
              <a:lnSpc>
                <a:spcPct val="128000"/>
              </a:lnSpc>
            </a:pPr>
            <a:r>
              <a:rPr lang="ja-JP" sz="105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こんな仕事があるんだ</a:t>
            </a:r>
          </a:p>
        </p:txBody>
      </p:sp>
      <p:cxnSp>
        <p:nvCxnSpPr>
          <p:cNvPr id="38" name="Line"/>
          <p:cNvCxnSpPr/>
          <p:nvPr/>
        </p:nvCxnSpPr>
        <p:spPr>
          <a:xfrm>
            <a:off x="6040984" y="3771900"/>
            <a:ext cx="109728" cy="914"/>
          </a:xfrm>
          <a:prstGeom prst="line">
            <a:avLst/>
          </a:prstGeom>
          <a:ln w="19050" cap="rnd">
            <a:solidFill>
              <a:srgbClr val="1A1A1A"/>
            </a:solidFill>
            <a:headEnd type="none"/>
            <a:tailEnd type="triangle" w="med" len="med"/>
          </a:ln>
        </p:spPr>
      </p:cxnSp>
      <p:sp>
        <p:nvSpPr>
          <p:cNvPr id="39" name="Mind3"/>
          <p:cNvSpPr/>
          <p:nvPr/>
        </p:nvSpPr>
        <p:spPr>
          <a:xfrm>
            <a:off x="6169000" y="3383280"/>
            <a:ext cx="1714957" cy="777240"/>
          </a:xfrm>
          <a:prstGeom prst="rect">
            <a:avLst/>
          </a:prstGeom>
          <a:solidFill>
            <a:srgbClr val="FFFFFF"/>
          </a:solidFill>
          <a:ln w="15875" cap="flat">
            <a:solidFill>
              <a:srgbClr val="00C2D1"/>
            </a:solidFill>
            <a:round/>
          </a:ln>
        </p:spPr>
        <p:txBody>
          <a:bodyPr/>
          <a:lstStyle/>
          <a:p/>
        </p:txBody>
      </p:sp>
      <p:sp>
        <p:nvSpPr>
          <p:cNvPr id="40" name="TextBox"/>
          <p:cNvSpPr txBox="1"/>
          <p:nvPr/>
        </p:nvSpPr>
        <p:spPr>
          <a:xfrm>
            <a:off x="6260440" y="3383280"/>
            <a:ext cx="1532077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>
              <a:lnSpc>
                <a:spcPct val="128000"/>
              </a:lnSpc>
            </a:pPr>
            <a:r>
              <a:rPr lang="ja-JP" sz="105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自分に合うかも</a:t>
            </a:r>
          </a:p>
        </p:txBody>
      </p:sp>
      <p:cxnSp>
        <p:nvCxnSpPr>
          <p:cNvPr id="41" name="Line"/>
          <p:cNvCxnSpPr/>
          <p:nvPr/>
        </p:nvCxnSpPr>
        <p:spPr>
          <a:xfrm>
            <a:off x="7902245" y="3771900"/>
            <a:ext cx="109728" cy="914"/>
          </a:xfrm>
          <a:prstGeom prst="line">
            <a:avLst/>
          </a:prstGeom>
          <a:ln w="19050" cap="rnd">
            <a:solidFill>
              <a:srgbClr val="1A1A1A"/>
            </a:solidFill>
            <a:headEnd type="none"/>
            <a:tailEnd type="triangle" w="med" len="med"/>
          </a:ln>
        </p:spPr>
      </p:cxnSp>
      <p:sp>
        <p:nvSpPr>
          <p:cNvPr id="42" name="Mind4"/>
          <p:cNvSpPr/>
          <p:nvPr/>
        </p:nvSpPr>
        <p:spPr>
          <a:xfrm>
            <a:off x="8030261" y="3383280"/>
            <a:ext cx="1714957" cy="777240"/>
          </a:xfrm>
          <a:prstGeom prst="rect">
            <a:avLst/>
          </a:prstGeom>
          <a:solidFill>
            <a:srgbClr val="FFFFFF"/>
          </a:solidFill>
          <a:ln w="15875" cap="flat">
            <a:solidFill>
              <a:srgbClr val="9ADB2A"/>
            </a:solidFill>
            <a:round/>
          </a:ln>
        </p:spPr>
        <p:txBody>
          <a:bodyPr/>
          <a:lstStyle/>
          <a:p/>
        </p:txBody>
      </p:sp>
      <p:sp>
        <p:nvSpPr>
          <p:cNvPr id="43" name="TextBox"/>
          <p:cNvSpPr txBox="1"/>
          <p:nvPr/>
        </p:nvSpPr>
        <p:spPr>
          <a:xfrm>
            <a:off x="8121701" y="3383280"/>
            <a:ext cx="1532077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>
              <a:lnSpc>
                <a:spcPct val="128000"/>
              </a:lnSpc>
            </a:pPr>
            <a:r>
              <a:rPr lang="ja-JP" sz="105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見てみたい</a:t>
            </a:r>
          </a:p>
        </p:txBody>
      </p:sp>
      <p:cxnSp>
        <p:nvCxnSpPr>
          <p:cNvPr id="44" name="Line"/>
          <p:cNvCxnSpPr/>
          <p:nvPr/>
        </p:nvCxnSpPr>
        <p:spPr>
          <a:xfrm>
            <a:off x="9763506" y="3771900"/>
            <a:ext cx="109728" cy="914"/>
          </a:xfrm>
          <a:prstGeom prst="line">
            <a:avLst/>
          </a:prstGeom>
          <a:ln w="19050" cap="rnd">
            <a:solidFill>
              <a:srgbClr val="1A1A1A"/>
            </a:solidFill>
            <a:headEnd type="none"/>
            <a:tailEnd type="triangle" w="med" len="med"/>
          </a:ln>
        </p:spPr>
      </p:cxnSp>
      <p:sp>
        <p:nvSpPr>
          <p:cNvPr id="45" name="Mind5"/>
          <p:cNvSpPr/>
          <p:nvPr/>
        </p:nvSpPr>
        <p:spPr>
          <a:xfrm>
            <a:off x="9891522" y="3383280"/>
            <a:ext cx="1714957" cy="777240"/>
          </a:xfrm>
          <a:prstGeom prst="rect">
            <a:avLst/>
          </a:prstGeom>
          <a:solidFill>
            <a:srgbClr val="FFFFFF"/>
          </a:solidFill>
          <a:ln w="15875" cap="flat">
            <a:solidFill>
              <a:srgbClr val="8A2BE2"/>
            </a:solidFill>
            <a:round/>
          </a:ln>
        </p:spPr>
        <p:txBody>
          <a:bodyPr/>
          <a:lstStyle/>
          <a:p/>
        </p:txBody>
      </p:sp>
      <p:sp>
        <p:nvSpPr>
          <p:cNvPr id="46" name="TextBox"/>
          <p:cNvSpPr txBox="1"/>
          <p:nvPr/>
        </p:nvSpPr>
        <p:spPr>
          <a:xfrm>
            <a:off x="9982962" y="3383280"/>
            <a:ext cx="1532077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>
              <a:lnSpc>
                <a:spcPct val="128000"/>
              </a:lnSpc>
            </a:pPr>
            <a:r>
              <a:rPr lang="ja-JP" sz="105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ここを選びたい</a:t>
            </a:r>
          </a:p>
        </p:txBody>
      </p:sp>
      <p:cxnSp>
        <p:nvCxnSpPr>
          <p:cNvPr id="47" name="Line"/>
          <p:cNvCxnSpPr/>
          <p:nvPr/>
        </p:nvCxnSpPr>
        <p:spPr>
          <a:xfrm>
            <a:off x="585216" y="4434840"/>
            <a:ext cx="11021263" cy="914"/>
          </a:xfrm>
          <a:prstGeom prst="line">
            <a:avLst/>
          </a:prstGeom>
          <a:ln w="12700" cap="rnd">
            <a:solidFill>
              <a:srgbClr val="EADFD2"/>
            </a:solidFill>
            <a:headEnd type="none"/>
            <a:tailEnd type="none"/>
          </a:ln>
        </p:spPr>
      </p:cxnSp>
      <p:sp>
        <p:nvSpPr>
          <p:cNvPr id="48" name="TextBox"/>
          <p:cNvSpPr txBox="1"/>
          <p:nvPr/>
        </p:nvSpPr>
        <p:spPr>
          <a:xfrm>
            <a:off x="585216" y="4617720"/>
            <a:ext cx="11021263" cy="128016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60000"/>
              </a:lnSpc>
            </a:pPr>
            <a:r>
              <a:rPr lang="ja-JP" sz="120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TikTok・Instagramで感情を動かし、YouTubeで理解を深め、Web／Realで実際の行動へつなぐ。</a:t>
            </a:r>
          </a:p>
          <a:p>
            <a:pPr algn="l">
              <a:lnSpc>
                <a:spcPct val="160000"/>
              </a:lnSpc>
            </a:pPr>
            <a:r>
              <a:rPr lang="ja-JP" sz="120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各フェーズの目的は「フォロワー数」ではなく、次の心理状態へ進んだ人の数で測る（詳細はP.21 KPI）。</a:t>
            </a:r>
          </a:p>
        </p:txBody>
      </p:sp>
      <p:cxnSp>
        <p:nvCxnSpPr>
          <p:cNvPr id="49" name="Line"/>
          <p:cNvCxnSpPr/>
          <p:nvPr/>
        </p:nvCxnSpPr>
        <p:spPr>
          <a:xfrm>
            <a:off x="585216" y="6455664"/>
            <a:ext cx="11021263" cy="914"/>
          </a:xfrm>
          <a:prstGeom prst="line">
            <a:avLst/>
          </a:prstGeom>
          <a:ln w="12700" cap="rnd">
            <a:solidFill>
              <a:srgbClr val="FF6A00"/>
            </a:solidFill>
            <a:headEnd type="none"/>
            <a:tailEnd type="none"/>
          </a:ln>
        </p:spPr>
      </p:cxnSp>
      <p:sp>
        <p:nvSpPr>
          <p:cNvPr id="50" name="TextBox"/>
          <p:cNvSpPr txBox="1"/>
          <p:nvPr/>
        </p:nvSpPr>
        <p:spPr>
          <a:xfrm>
            <a:off x="585216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850" spc="1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JINJIB ― 高卒採用・進路選択マーケティング戦略提案</a:t>
            </a:r>
          </a:p>
        </p:txBody>
      </p:sp>
      <p:sp>
        <p:nvSpPr>
          <p:cNvPr id="51" name="TextBox"/>
          <p:cNvSpPr txBox="1"/>
          <p:nvPr/>
        </p:nvSpPr>
        <p:spPr>
          <a:xfrm>
            <a:off x="10326319" y="6473952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r"/>
            <a:r>
              <a:rPr lang="ja-JP" sz="1300" b="1" spc="20" dirty="0">
                <a:solidFill>
                  <a:srgbClr val="FF6A00"/>
                </a:solidFill>
                <a:latin typeface="Montserrat"/>
                <a:ea typeface="Montserrat"/>
                <a:cs typeface="Montserrat"/>
              </a:rPr>
              <a:t>19</a:t>
            </a:r>
            <a:r>
              <a:rPr lang="ja-JP" sz="1000" dirty="0">
                <a:solidFill>
                  <a:srgbClr val="1A1A1A"/>
                </a:solidFill>
                <a:latin typeface="Montserrat"/>
                <a:ea typeface="Montserrat"/>
                <a:cs typeface="Montserrat"/>
              </a:rPr>
              <a:t> / 22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GrpSp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Kicker Tick"/>
          <p:cNvSpPr/>
          <p:nvPr/>
        </p:nvSpPr>
        <p:spPr>
          <a:xfrm>
            <a:off x="585216" y="457200"/>
            <a:ext cx="292608" cy="64008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"/>
          <p:cNvSpPr txBox="1"/>
          <p:nvPr/>
        </p:nvSpPr>
        <p:spPr>
          <a:xfrm>
            <a:off x="969264" y="365760"/>
            <a:ext cx="7315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1250" b="1" spc="60" dirty="0">
                <a:solidFill>
                  <a:srgbClr val="FF6A00"/>
                </a:solidFill>
                <a:latin typeface="Montserrat"/>
                <a:ea typeface="Montserrat"/>
                <a:cs typeface="Montserrat"/>
              </a:rPr>
              <a:t>12 MONTH ROADMAP  </a:t>
            </a:r>
            <a:r>
              <a:rPr lang="ja-JP" sz="1100" b="1" spc="2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12ヶ月スケジュール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585216" y="7772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</a:pPr>
            <a:r>
              <a:rPr lang="ja-JP" sz="190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まず TikTok で検証し、段階的に拡張する。</a:t>
            </a:r>
          </a:p>
        </p:txBody>
      </p:sp>
      <p:cxnSp>
        <p:nvCxnSpPr>
          <p:cNvPr id="6" name="Line"/>
          <p:cNvCxnSpPr/>
          <p:nvPr/>
        </p:nvCxnSpPr>
        <p:spPr>
          <a:xfrm>
            <a:off x="585216" y="1508760"/>
            <a:ext cx="11021263" cy="914"/>
          </a:xfrm>
          <a:prstGeom prst="line">
            <a:avLst/>
          </a:prstGeom>
          <a:ln w="12700" cap="rnd">
            <a:solidFill>
              <a:srgbClr val="EADFD2"/>
            </a:solidFill>
            <a:headEnd type="none"/>
            <a:tailEnd type="none"/>
          </a:ln>
        </p:spPr>
      </p:cxnSp>
      <p:sp>
        <p:nvSpPr>
          <p:cNvPr id="7" name="TextBox"/>
          <p:cNvSpPr txBox="1"/>
          <p:nvPr/>
        </p:nvSpPr>
        <p:spPr>
          <a:xfrm>
            <a:off x="585216" y="1536192"/>
            <a:ext cx="1730197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1050" b="1" dirty="0">
                <a:solidFill>
                  <a:srgbClr val="FF6A00"/>
                </a:solidFill>
                <a:latin typeface="Montserrat"/>
                <a:ea typeface="Montserrat"/>
                <a:cs typeface="Montserrat"/>
              </a:rPr>
              <a:t>1〜2ヶ月</a:t>
            </a:r>
          </a:p>
        </p:txBody>
      </p:sp>
      <p:sp>
        <p:nvSpPr>
          <p:cNvPr id="8" name="Sched0"/>
          <p:cNvSpPr/>
          <p:nvPr/>
        </p:nvSpPr>
        <p:spPr>
          <a:xfrm>
            <a:off x="585216" y="1828800"/>
            <a:ext cx="1730197" cy="2468880"/>
          </a:xfrm>
          <a:prstGeom prst="rect">
            <a:avLst/>
          </a:prstGeom>
          <a:solidFill>
            <a:srgbClr val="FFFFFF"/>
          </a:solidFill>
          <a:ln w="15875" cap="flat">
            <a:solidFill>
              <a:srgbClr val="FF6A00"/>
            </a:solidFill>
            <a:round/>
          </a:ln>
        </p:spPr>
        <p:txBody>
          <a:bodyPr/>
          <a:lstStyle/>
          <a:p/>
        </p:txBody>
      </p:sp>
      <p:sp>
        <p:nvSpPr>
          <p:cNvPr id="9" name="SchedTop0"/>
          <p:cNvSpPr/>
          <p:nvPr/>
        </p:nvSpPr>
        <p:spPr>
          <a:xfrm>
            <a:off x="585216" y="1828800"/>
            <a:ext cx="1730197" cy="82296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Box"/>
          <p:cNvSpPr txBox="1"/>
          <p:nvPr/>
        </p:nvSpPr>
        <p:spPr>
          <a:xfrm>
            <a:off x="713232" y="2103120"/>
            <a:ext cx="1474165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/>
            <a:r>
              <a:rPr lang="ja-JP" sz="1350" b="1" spc="10" dirty="0">
                <a:solidFill>
                  <a:srgbClr val="1A1A1A"/>
                </a:solidFill>
                <a:latin typeface="Montserrat"/>
                <a:ea typeface="Montserrat"/>
                <a:cs typeface="Montserrat"/>
              </a:rPr>
              <a:t>TikTok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713232" y="2697480"/>
            <a:ext cx="1474165" cy="13716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40000"/>
              </a:lnSpc>
            </a:pPr>
            <a:r>
              <a:rPr lang="ja-JP" sz="110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準備・制作</a:t>
            </a:r>
          </a:p>
        </p:txBody>
      </p:sp>
      <p:sp>
        <p:nvSpPr>
          <p:cNvPr id="12" name="Dot0"/>
          <p:cNvSpPr/>
          <p:nvPr/>
        </p:nvSpPr>
        <p:spPr>
          <a:xfrm>
            <a:off x="1358875" y="1362456"/>
            <a:ext cx="182880" cy="18288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Box"/>
          <p:cNvSpPr txBox="1"/>
          <p:nvPr/>
        </p:nvSpPr>
        <p:spPr>
          <a:xfrm>
            <a:off x="2443429" y="1536192"/>
            <a:ext cx="1730197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1050" b="1" dirty="0">
                <a:solidFill>
                  <a:srgbClr val="FF6A00"/>
                </a:solidFill>
                <a:latin typeface="Montserrat"/>
                <a:ea typeface="Montserrat"/>
                <a:cs typeface="Montserrat"/>
              </a:rPr>
              <a:t>2〜4ヶ月</a:t>
            </a:r>
          </a:p>
        </p:txBody>
      </p:sp>
      <p:sp>
        <p:nvSpPr>
          <p:cNvPr id="14" name="Sched1"/>
          <p:cNvSpPr/>
          <p:nvPr/>
        </p:nvSpPr>
        <p:spPr>
          <a:xfrm>
            <a:off x="2443429" y="1828800"/>
            <a:ext cx="1730197" cy="2468880"/>
          </a:xfrm>
          <a:prstGeom prst="rect">
            <a:avLst/>
          </a:prstGeom>
          <a:solidFill>
            <a:srgbClr val="FFFFFF"/>
          </a:solidFill>
          <a:ln w="15875" cap="flat">
            <a:solidFill>
              <a:srgbClr val="FF6A00"/>
            </a:solidFill>
            <a:round/>
          </a:ln>
        </p:spPr>
        <p:txBody>
          <a:bodyPr/>
          <a:lstStyle/>
          <a:p/>
        </p:txBody>
      </p:sp>
      <p:sp>
        <p:nvSpPr>
          <p:cNvPr id="15" name="SchedTop1"/>
          <p:cNvSpPr/>
          <p:nvPr/>
        </p:nvSpPr>
        <p:spPr>
          <a:xfrm>
            <a:off x="2443429" y="1828800"/>
            <a:ext cx="1730197" cy="82296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Box"/>
          <p:cNvSpPr txBox="1"/>
          <p:nvPr/>
        </p:nvSpPr>
        <p:spPr>
          <a:xfrm>
            <a:off x="2571445" y="2103120"/>
            <a:ext cx="1474165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/>
            <a:r>
              <a:rPr lang="ja-JP" sz="1350" b="1" spc="10" dirty="0">
                <a:solidFill>
                  <a:srgbClr val="1A1A1A"/>
                </a:solidFill>
                <a:latin typeface="Montserrat"/>
                <a:ea typeface="Montserrat"/>
                <a:cs typeface="Montserrat"/>
              </a:rPr>
              <a:t>TikTok</a:t>
            </a:r>
          </a:p>
        </p:txBody>
      </p:sp>
      <p:sp>
        <p:nvSpPr>
          <p:cNvPr id="17" name="TextBox"/>
          <p:cNvSpPr txBox="1"/>
          <p:nvPr/>
        </p:nvSpPr>
        <p:spPr>
          <a:xfrm>
            <a:off x="2571445" y="2697480"/>
            <a:ext cx="1474165" cy="13716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40000"/>
              </a:lnSpc>
            </a:pPr>
            <a:r>
              <a:rPr lang="ja-JP" sz="110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3方向検証</a:t>
            </a:r>
          </a:p>
        </p:txBody>
      </p:sp>
      <p:sp>
        <p:nvSpPr>
          <p:cNvPr id="18" name="Dot1"/>
          <p:cNvSpPr/>
          <p:nvPr/>
        </p:nvSpPr>
        <p:spPr>
          <a:xfrm>
            <a:off x="3217088" y="1362456"/>
            <a:ext cx="182880" cy="18288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TextBox"/>
          <p:cNvSpPr txBox="1"/>
          <p:nvPr/>
        </p:nvSpPr>
        <p:spPr>
          <a:xfrm>
            <a:off x="4301642" y="1536192"/>
            <a:ext cx="1730197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1050" b="1" dirty="0">
                <a:solidFill>
                  <a:srgbClr val="FF3D8A"/>
                </a:solidFill>
                <a:latin typeface="Montserrat"/>
                <a:ea typeface="Montserrat"/>
                <a:cs typeface="Montserrat"/>
              </a:rPr>
              <a:t>4〜6ヶ月</a:t>
            </a:r>
          </a:p>
        </p:txBody>
      </p:sp>
      <p:sp>
        <p:nvSpPr>
          <p:cNvPr id="20" name="Sched2"/>
          <p:cNvSpPr/>
          <p:nvPr/>
        </p:nvSpPr>
        <p:spPr>
          <a:xfrm>
            <a:off x="4301642" y="1828800"/>
            <a:ext cx="1730197" cy="2468880"/>
          </a:xfrm>
          <a:prstGeom prst="rect">
            <a:avLst/>
          </a:prstGeom>
          <a:solidFill>
            <a:srgbClr val="FFFFFF"/>
          </a:solidFill>
          <a:ln w="15875" cap="flat">
            <a:solidFill>
              <a:srgbClr val="FF3D8A"/>
            </a:solidFill>
            <a:round/>
          </a:ln>
        </p:spPr>
        <p:txBody>
          <a:bodyPr/>
          <a:lstStyle/>
          <a:p/>
        </p:txBody>
      </p:sp>
      <p:sp>
        <p:nvSpPr>
          <p:cNvPr id="21" name="SchedTop2"/>
          <p:cNvSpPr/>
          <p:nvPr/>
        </p:nvSpPr>
        <p:spPr>
          <a:xfrm>
            <a:off x="4301642" y="1828800"/>
            <a:ext cx="1730197" cy="82296"/>
          </a:xfrm>
          <a:prstGeom prst="rect">
            <a:avLst/>
          </a:prstGeom>
          <a:solidFill>
            <a:srgbClr val="FF3D8A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TextBox"/>
          <p:cNvSpPr txBox="1"/>
          <p:nvPr/>
        </p:nvSpPr>
        <p:spPr>
          <a:xfrm>
            <a:off x="4429658" y="2103120"/>
            <a:ext cx="1474165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/>
            <a:r>
              <a:rPr lang="ja-JP" sz="1350" b="1" spc="10" dirty="0">
                <a:solidFill>
                  <a:srgbClr val="1A1A1A"/>
                </a:solidFill>
                <a:latin typeface="Montserrat"/>
                <a:ea typeface="Montserrat"/>
                <a:cs typeface="Montserrat"/>
              </a:rPr>
              <a:t>Instagram</a:t>
            </a:r>
          </a:p>
        </p:txBody>
      </p:sp>
      <p:sp>
        <p:nvSpPr>
          <p:cNvPr id="23" name="TextBox"/>
          <p:cNvSpPr txBox="1"/>
          <p:nvPr/>
        </p:nvSpPr>
        <p:spPr>
          <a:xfrm>
            <a:off x="4429658" y="2697480"/>
            <a:ext cx="1474165" cy="13716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40000"/>
              </a:lnSpc>
            </a:pPr>
            <a:r>
              <a:rPr lang="ja-JP" sz="110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立ち上げ</a:t>
            </a:r>
          </a:p>
        </p:txBody>
      </p:sp>
      <p:sp>
        <p:nvSpPr>
          <p:cNvPr id="24" name="Dot2"/>
          <p:cNvSpPr/>
          <p:nvPr/>
        </p:nvSpPr>
        <p:spPr>
          <a:xfrm>
            <a:off x="5075301" y="1362456"/>
            <a:ext cx="182880" cy="182880"/>
          </a:xfrm>
          <a:prstGeom prst="ellipse">
            <a:avLst/>
          </a:prstGeom>
          <a:solidFill>
            <a:srgbClr val="FF3D8A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TextBox"/>
          <p:cNvSpPr txBox="1"/>
          <p:nvPr/>
        </p:nvSpPr>
        <p:spPr>
          <a:xfrm>
            <a:off x="6159856" y="1536192"/>
            <a:ext cx="1730197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1050" b="1" dirty="0">
                <a:solidFill>
                  <a:srgbClr val="2A5CFF"/>
                </a:solidFill>
                <a:latin typeface="Montserrat"/>
                <a:ea typeface="Montserrat"/>
                <a:cs typeface="Montserrat"/>
              </a:rPr>
              <a:t>6〜9ヶ月</a:t>
            </a:r>
          </a:p>
        </p:txBody>
      </p:sp>
      <p:sp>
        <p:nvSpPr>
          <p:cNvPr id="26" name="Sched3"/>
          <p:cNvSpPr/>
          <p:nvPr/>
        </p:nvSpPr>
        <p:spPr>
          <a:xfrm>
            <a:off x="6159856" y="1828800"/>
            <a:ext cx="1730197" cy="2468880"/>
          </a:xfrm>
          <a:prstGeom prst="rect">
            <a:avLst/>
          </a:prstGeom>
          <a:solidFill>
            <a:srgbClr val="FFFFFF"/>
          </a:solidFill>
          <a:ln w="15875" cap="flat">
            <a:solidFill>
              <a:srgbClr val="2A5CFF"/>
            </a:solidFill>
            <a:round/>
          </a:ln>
        </p:spPr>
        <p:txBody>
          <a:bodyPr/>
          <a:lstStyle/>
          <a:p/>
        </p:txBody>
      </p:sp>
      <p:sp>
        <p:nvSpPr>
          <p:cNvPr id="27" name="SchedTop3"/>
          <p:cNvSpPr/>
          <p:nvPr/>
        </p:nvSpPr>
        <p:spPr>
          <a:xfrm>
            <a:off x="6159856" y="1828800"/>
            <a:ext cx="1730197" cy="82296"/>
          </a:xfrm>
          <a:prstGeom prst="rect">
            <a:avLst/>
          </a:prstGeom>
          <a:solidFill>
            <a:srgbClr val="2A5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TextBox"/>
          <p:cNvSpPr txBox="1"/>
          <p:nvPr/>
        </p:nvSpPr>
        <p:spPr>
          <a:xfrm>
            <a:off x="6287872" y="2103120"/>
            <a:ext cx="1474165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/>
            <a:r>
              <a:rPr lang="ja-JP" sz="1350" b="1" spc="10" dirty="0">
                <a:solidFill>
                  <a:srgbClr val="1A1A1A"/>
                </a:solidFill>
                <a:latin typeface="Montserrat"/>
                <a:ea typeface="Montserrat"/>
                <a:cs typeface="Montserrat"/>
              </a:rPr>
              <a:t>YouTube</a:t>
            </a:r>
          </a:p>
        </p:txBody>
      </p:sp>
      <p:sp>
        <p:nvSpPr>
          <p:cNvPr id="29" name="TextBox"/>
          <p:cNvSpPr txBox="1"/>
          <p:nvPr/>
        </p:nvSpPr>
        <p:spPr>
          <a:xfrm>
            <a:off x="6287872" y="2697480"/>
            <a:ext cx="1474165" cy="13716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40000"/>
              </a:lnSpc>
            </a:pPr>
            <a:r>
              <a:rPr lang="ja-JP" sz="110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開始</a:t>
            </a:r>
          </a:p>
        </p:txBody>
      </p:sp>
      <p:sp>
        <p:nvSpPr>
          <p:cNvPr id="30" name="Dot3"/>
          <p:cNvSpPr/>
          <p:nvPr/>
        </p:nvSpPr>
        <p:spPr>
          <a:xfrm>
            <a:off x="6933514" y="1362456"/>
            <a:ext cx="182880" cy="182880"/>
          </a:xfrm>
          <a:prstGeom prst="ellipse">
            <a:avLst/>
          </a:prstGeom>
          <a:solidFill>
            <a:srgbClr val="2A5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TextBox"/>
          <p:cNvSpPr txBox="1"/>
          <p:nvPr/>
        </p:nvSpPr>
        <p:spPr>
          <a:xfrm>
            <a:off x="8018069" y="1536192"/>
            <a:ext cx="1730197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1050" b="1" dirty="0">
                <a:solidFill>
                  <a:srgbClr val="00C2D1"/>
                </a:solidFill>
                <a:latin typeface="Montserrat"/>
                <a:ea typeface="Montserrat"/>
                <a:cs typeface="Montserrat"/>
              </a:rPr>
              <a:t>9〜12ヶ月</a:t>
            </a:r>
          </a:p>
        </p:txBody>
      </p:sp>
      <p:sp>
        <p:nvSpPr>
          <p:cNvPr id="32" name="Sched4"/>
          <p:cNvSpPr/>
          <p:nvPr/>
        </p:nvSpPr>
        <p:spPr>
          <a:xfrm>
            <a:off x="8018069" y="1828800"/>
            <a:ext cx="1730197" cy="2468880"/>
          </a:xfrm>
          <a:prstGeom prst="rect">
            <a:avLst/>
          </a:prstGeom>
          <a:solidFill>
            <a:srgbClr val="FFFFFF"/>
          </a:solidFill>
          <a:ln w="15875" cap="flat">
            <a:solidFill>
              <a:srgbClr val="00C2D1"/>
            </a:solidFill>
            <a:round/>
          </a:ln>
        </p:spPr>
        <p:txBody>
          <a:bodyPr/>
          <a:lstStyle/>
          <a:p/>
        </p:txBody>
      </p:sp>
      <p:sp>
        <p:nvSpPr>
          <p:cNvPr id="33" name="SchedTop4"/>
          <p:cNvSpPr/>
          <p:nvPr/>
        </p:nvSpPr>
        <p:spPr>
          <a:xfrm>
            <a:off x="8018069" y="1828800"/>
            <a:ext cx="1730197" cy="82296"/>
          </a:xfrm>
          <a:prstGeom prst="rect">
            <a:avLst/>
          </a:prstGeom>
          <a:solidFill>
            <a:srgbClr val="00C2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TextBox"/>
          <p:cNvSpPr txBox="1"/>
          <p:nvPr/>
        </p:nvSpPr>
        <p:spPr>
          <a:xfrm>
            <a:off x="8146085" y="2103120"/>
            <a:ext cx="1474165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/>
            <a:r>
              <a:rPr lang="ja-JP" sz="1350" b="1" spc="10" dirty="0">
                <a:solidFill>
                  <a:srgbClr val="1A1A1A"/>
                </a:solidFill>
                <a:latin typeface="Montserrat"/>
                <a:ea typeface="Montserrat"/>
                <a:cs typeface="Montserrat"/>
              </a:rPr>
              <a:t>Web / Real</a:t>
            </a:r>
          </a:p>
        </p:txBody>
      </p:sp>
      <p:sp>
        <p:nvSpPr>
          <p:cNvPr id="35" name="TextBox"/>
          <p:cNvSpPr txBox="1"/>
          <p:nvPr/>
        </p:nvSpPr>
        <p:spPr>
          <a:xfrm>
            <a:off x="8146085" y="2697480"/>
            <a:ext cx="1474165" cy="13716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40000"/>
              </a:lnSpc>
            </a:pPr>
            <a:r>
              <a:rPr lang="ja-JP" sz="110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テスト</a:t>
            </a:r>
          </a:p>
        </p:txBody>
      </p:sp>
      <p:sp>
        <p:nvSpPr>
          <p:cNvPr id="36" name="Dot4"/>
          <p:cNvSpPr/>
          <p:nvPr/>
        </p:nvSpPr>
        <p:spPr>
          <a:xfrm>
            <a:off x="8791727" y="1362456"/>
            <a:ext cx="182880" cy="182880"/>
          </a:xfrm>
          <a:prstGeom prst="ellipse">
            <a:avLst/>
          </a:prstGeom>
          <a:solidFill>
            <a:srgbClr val="00C2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TextBox"/>
          <p:cNvSpPr txBox="1"/>
          <p:nvPr/>
        </p:nvSpPr>
        <p:spPr>
          <a:xfrm>
            <a:off x="9876282" y="1536192"/>
            <a:ext cx="1730197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1050" b="1" dirty="0">
                <a:solidFill>
                  <a:srgbClr val="1A1A1A"/>
                </a:solidFill>
                <a:latin typeface="Montserrat"/>
                <a:ea typeface="Montserrat"/>
                <a:cs typeface="Montserrat"/>
              </a:rPr>
              <a:t>12ヶ月〜</a:t>
            </a:r>
          </a:p>
        </p:txBody>
      </p:sp>
      <p:sp>
        <p:nvSpPr>
          <p:cNvPr id="38" name="Sched5"/>
          <p:cNvSpPr/>
          <p:nvPr/>
        </p:nvSpPr>
        <p:spPr>
          <a:xfrm>
            <a:off x="9876282" y="1828800"/>
            <a:ext cx="1730197" cy="2468880"/>
          </a:xfrm>
          <a:prstGeom prst="rect">
            <a:avLst/>
          </a:prstGeom>
          <a:solidFill>
            <a:srgbClr val="FFFFFF"/>
          </a:solidFill>
          <a:ln w="15875" cap="flat">
            <a:solidFill>
              <a:srgbClr val="1A1A1A"/>
            </a:solidFill>
            <a:round/>
          </a:ln>
        </p:spPr>
        <p:txBody>
          <a:bodyPr/>
          <a:lstStyle/>
          <a:p/>
        </p:txBody>
      </p:sp>
      <p:sp>
        <p:nvSpPr>
          <p:cNvPr id="39" name="SchedTop5"/>
          <p:cNvSpPr/>
          <p:nvPr/>
        </p:nvSpPr>
        <p:spPr>
          <a:xfrm>
            <a:off x="9876282" y="1828800"/>
            <a:ext cx="1730197" cy="8229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TextBox"/>
          <p:cNvSpPr txBox="1"/>
          <p:nvPr/>
        </p:nvSpPr>
        <p:spPr>
          <a:xfrm>
            <a:off x="10004298" y="2103120"/>
            <a:ext cx="1474165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/>
            <a:r>
              <a:rPr lang="ja-JP" sz="1350" b="1" spc="10" dirty="0">
                <a:solidFill>
                  <a:srgbClr val="1A1A1A"/>
                </a:solidFill>
                <a:latin typeface="Montserrat"/>
                <a:ea typeface="Montserrat"/>
                <a:cs typeface="Montserrat"/>
              </a:rPr>
              <a:t>Focus</a:t>
            </a:r>
          </a:p>
        </p:txBody>
      </p:sp>
      <p:sp>
        <p:nvSpPr>
          <p:cNvPr id="41" name="TextBox"/>
          <p:cNvSpPr txBox="1"/>
          <p:nvPr/>
        </p:nvSpPr>
        <p:spPr>
          <a:xfrm>
            <a:off x="10004298" y="2697480"/>
            <a:ext cx="1474165" cy="13716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40000"/>
              </a:lnSpc>
            </a:pPr>
            <a:r>
              <a:rPr lang="ja-JP" sz="110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成果施策へ集中</a:t>
            </a:r>
          </a:p>
        </p:txBody>
      </p:sp>
      <p:sp>
        <p:nvSpPr>
          <p:cNvPr id="42" name="Dot5"/>
          <p:cNvSpPr/>
          <p:nvPr/>
        </p:nvSpPr>
        <p:spPr>
          <a:xfrm>
            <a:off x="10649941" y="1362456"/>
            <a:ext cx="182880" cy="18288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43" name="Line"/>
          <p:cNvCxnSpPr/>
          <p:nvPr/>
        </p:nvCxnSpPr>
        <p:spPr>
          <a:xfrm>
            <a:off x="585216" y="4526280"/>
            <a:ext cx="11021263" cy="914"/>
          </a:xfrm>
          <a:prstGeom prst="line">
            <a:avLst/>
          </a:prstGeom>
          <a:ln w="12700" cap="rnd">
            <a:solidFill>
              <a:srgbClr val="EADFD2"/>
            </a:solidFill>
            <a:headEnd type="none"/>
            <a:tailEnd type="none"/>
          </a:ln>
        </p:spPr>
      </p:cxnSp>
      <p:sp>
        <p:nvSpPr>
          <p:cNvPr id="44" name="TextBox"/>
          <p:cNvSpPr txBox="1"/>
          <p:nvPr/>
        </p:nvSpPr>
        <p:spPr>
          <a:xfrm>
            <a:off x="585216" y="4709160"/>
            <a:ext cx="11021263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50000"/>
              </a:lnSpc>
            </a:pPr>
            <a:r>
              <a:rPr lang="ja-JP" sz="1150" b="1" dirty="0">
                <a:solidFill>
                  <a:srgbClr val="FF6A00"/>
                </a:solidFill>
                <a:latin typeface="Noto Sans JP"/>
                <a:ea typeface="Noto Sans JP"/>
                <a:cs typeface="Noto Sans JP"/>
              </a:rPr>
              <a:t>※ Phase1（TikTok）の結果をもとに、Phase2以降は柔軟に変更する。</a:t>
            </a:r>
          </a:p>
        </p:txBody>
      </p:sp>
      <p:sp>
        <p:nvSpPr>
          <p:cNvPr id="45" name="StepNote0"/>
          <p:cNvSpPr/>
          <p:nvPr/>
        </p:nvSpPr>
        <p:spPr>
          <a:xfrm>
            <a:off x="585216" y="5257800"/>
            <a:ext cx="3490874" cy="1005840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EADFD2"/>
            </a:solidFill>
            <a:round/>
          </a:ln>
        </p:spPr>
        <p:txBody>
          <a:bodyPr/>
          <a:lstStyle/>
          <a:p/>
        </p:txBody>
      </p:sp>
      <p:sp>
        <p:nvSpPr>
          <p:cNvPr id="46" name="TextBox"/>
          <p:cNvSpPr txBox="1"/>
          <p:nvPr/>
        </p:nvSpPr>
        <p:spPr>
          <a:xfrm>
            <a:off x="749808" y="5385816"/>
            <a:ext cx="316169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/>
            <a:r>
              <a:rPr lang="ja-JP" sz="1300" b="1" dirty="0">
                <a:solidFill>
                  <a:srgbClr val="FF6A00"/>
                </a:solidFill>
                <a:latin typeface="Montserrat"/>
                <a:ea typeface="Montserrat"/>
                <a:cs typeface="Montserrat"/>
              </a:rPr>
              <a:t>01  </a:t>
            </a:r>
            <a:r>
              <a:rPr lang="ja-JP" sz="130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検証</a:t>
            </a:r>
          </a:p>
        </p:txBody>
      </p:sp>
      <p:sp>
        <p:nvSpPr>
          <p:cNvPr id="47" name="TextBox"/>
          <p:cNvSpPr txBox="1"/>
          <p:nvPr/>
        </p:nvSpPr>
        <p:spPr>
          <a:xfrm>
            <a:off x="749808" y="5769864"/>
            <a:ext cx="316169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38000"/>
              </a:lnSpc>
            </a:pPr>
            <a:r>
              <a:rPr lang="ja-JP" sz="9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TikTokで3方向の反応を比較する</a:t>
            </a:r>
          </a:p>
        </p:txBody>
      </p:sp>
      <p:sp>
        <p:nvSpPr>
          <p:cNvPr id="48" name="StepNote1"/>
          <p:cNvSpPr/>
          <p:nvPr/>
        </p:nvSpPr>
        <p:spPr>
          <a:xfrm>
            <a:off x="4350410" y="5257800"/>
            <a:ext cx="3490874" cy="1005840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EADFD2"/>
            </a:solidFill>
            <a:round/>
          </a:ln>
        </p:spPr>
        <p:txBody>
          <a:bodyPr/>
          <a:lstStyle/>
          <a:p/>
        </p:txBody>
      </p:sp>
      <p:sp>
        <p:nvSpPr>
          <p:cNvPr id="49" name="TextBox"/>
          <p:cNvSpPr txBox="1"/>
          <p:nvPr/>
        </p:nvSpPr>
        <p:spPr>
          <a:xfrm>
            <a:off x="4515002" y="5385816"/>
            <a:ext cx="316169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/>
            <a:r>
              <a:rPr lang="ja-JP" sz="1300" b="1" dirty="0">
                <a:solidFill>
                  <a:srgbClr val="FF6A00"/>
                </a:solidFill>
                <a:latin typeface="Montserrat"/>
                <a:ea typeface="Montserrat"/>
                <a:cs typeface="Montserrat"/>
              </a:rPr>
              <a:t>02  </a:t>
            </a:r>
            <a:r>
              <a:rPr lang="ja-JP" sz="130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拡張</a:t>
            </a:r>
          </a:p>
        </p:txBody>
      </p:sp>
      <p:sp>
        <p:nvSpPr>
          <p:cNvPr id="50" name="TextBox"/>
          <p:cNvSpPr txBox="1"/>
          <p:nvPr/>
        </p:nvSpPr>
        <p:spPr>
          <a:xfrm>
            <a:off x="4515002" y="5769864"/>
            <a:ext cx="316169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38000"/>
              </a:lnSpc>
            </a:pPr>
            <a:r>
              <a:rPr lang="ja-JP" sz="9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反応の良い型をIG・YouTubeへ広げる</a:t>
            </a:r>
          </a:p>
        </p:txBody>
      </p:sp>
      <p:sp>
        <p:nvSpPr>
          <p:cNvPr id="51" name="StepNote2"/>
          <p:cNvSpPr/>
          <p:nvPr/>
        </p:nvSpPr>
        <p:spPr>
          <a:xfrm>
            <a:off x="8115605" y="5257800"/>
            <a:ext cx="3490874" cy="1005840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EADFD2"/>
            </a:solidFill>
            <a:round/>
          </a:ln>
        </p:spPr>
        <p:txBody>
          <a:bodyPr/>
          <a:lstStyle/>
          <a:p/>
        </p:txBody>
      </p:sp>
      <p:sp>
        <p:nvSpPr>
          <p:cNvPr id="52" name="TextBox"/>
          <p:cNvSpPr txBox="1"/>
          <p:nvPr/>
        </p:nvSpPr>
        <p:spPr>
          <a:xfrm>
            <a:off x="8280197" y="5385816"/>
            <a:ext cx="316169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/>
            <a:r>
              <a:rPr lang="ja-JP" sz="1300" b="1" dirty="0">
                <a:solidFill>
                  <a:srgbClr val="FF6A00"/>
                </a:solidFill>
                <a:latin typeface="Montserrat"/>
                <a:ea typeface="Montserrat"/>
                <a:cs typeface="Montserrat"/>
              </a:rPr>
              <a:t>03  </a:t>
            </a:r>
            <a:r>
              <a:rPr lang="ja-JP" sz="130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集中</a:t>
            </a:r>
          </a:p>
        </p:txBody>
      </p:sp>
      <p:sp>
        <p:nvSpPr>
          <p:cNvPr id="53" name="TextBox"/>
          <p:cNvSpPr txBox="1"/>
          <p:nvPr/>
        </p:nvSpPr>
        <p:spPr>
          <a:xfrm>
            <a:off x="8280197" y="5769864"/>
            <a:ext cx="316169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38000"/>
              </a:lnSpc>
            </a:pPr>
            <a:r>
              <a:rPr lang="ja-JP" sz="95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成果の出た施策にリソースを寄せる</a:t>
            </a:r>
          </a:p>
        </p:txBody>
      </p:sp>
      <p:cxnSp>
        <p:nvCxnSpPr>
          <p:cNvPr id="54" name="Line"/>
          <p:cNvCxnSpPr/>
          <p:nvPr/>
        </p:nvCxnSpPr>
        <p:spPr>
          <a:xfrm>
            <a:off x="585216" y="6455664"/>
            <a:ext cx="11021263" cy="914"/>
          </a:xfrm>
          <a:prstGeom prst="line">
            <a:avLst/>
          </a:prstGeom>
          <a:ln w="12700" cap="rnd">
            <a:solidFill>
              <a:srgbClr val="FF6A00"/>
            </a:solidFill>
            <a:headEnd type="none"/>
            <a:tailEnd type="none"/>
          </a:ln>
        </p:spPr>
      </p:cxnSp>
      <p:sp>
        <p:nvSpPr>
          <p:cNvPr id="55" name="TextBox"/>
          <p:cNvSpPr txBox="1"/>
          <p:nvPr/>
        </p:nvSpPr>
        <p:spPr>
          <a:xfrm>
            <a:off x="585216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850" spc="1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JINJIB ― 高卒採用・進路選択マーケティング戦略提案</a:t>
            </a:r>
          </a:p>
        </p:txBody>
      </p:sp>
      <p:sp>
        <p:nvSpPr>
          <p:cNvPr id="56" name="TextBox"/>
          <p:cNvSpPr txBox="1"/>
          <p:nvPr/>
        </p:nvSpPr>
        <p:spPr>
          <a:xfrm>
            <a:off x="10326319" y="6473952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r"/>
            <a:r>
              <a:rPr lang="ja-JP" sz="1300" b="1" spc="20" dirty="0">
                <a:solidFill>
                  <a:srgbClr val="FF6A00"/>
                </a:solidFill>
                <a:latin typeface="Montserrat"/>
                <a:ea typeface="Montserrat"/>
                <a:cs typeface="Montserrat"/>
              </a:rPr>
              <a:t>20</a:t>
            </a:r>
            <a:r>
              <a:rPr lang="ja-JP" sz="1000" dirty="0">
                <a:solidFill>
                  <a:srgbClr val="1A1A1A"/>
                </a:solidFill>
                <a:latin typeface="Montserrat"/>
                <a:ea typeface="Montserrat"/>
                <a:cs typeface="Montserrat"/>
              </a:rPr>
              <a:t> / 22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GrpSp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Kicker Tick"/>
          <p:cNvSpPr/>
          <p:nvPr/>
        </p:nvSpPr>
        <p:spPr>
          <a:xfrm>
            <a:off x="585216" y="457200"/>
            <a:ext cx="292608" cy="64008"/>
          </a:xfrm>
          <a:prstGeom prst="rect">
            <a:avLst/>
          </a:prstGeom>
          <a:solidFill>
            <a:srgbClr val="2A5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"/>
          <p:cNvSpPr txBox="1"/>
          <p:nvPr/>
        </p:nvSpPr>
        <p:spPr>
          <a:xfrm>
            <a:off x="969264" y="365760"/>
            <a:ext cx="7315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1250" b="1" spc="60" dirty="0">
                <a:solidFill>
                  <a:srgbClr val="2A5CFF"/>
                </a:solidFill>
                <a:latin typeface="Montserrat"/>
                <a:ea typeface="Montserrat"/>
                <a:cs typeface="Montserrat"/>
              </a:rPr>
              <a:t>KPI  </a:t>
            </a:r>
            <a:r>
              <a:rPr lang="ja-JP" sz="1100" b="1" spc="2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計測指標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585216" y="77724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12000"/>
              </a:lnSpc>
            </a:pPr>
            <a:r>
              <a:rPr lang="ja-JP" sz="180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フォロワーではなく、次の心理状態へ進んだかを見る。</a:t>
            </a:r>
          </a:p>
        </p:txBody>
      </p:sp>
      <p:graphicFrame>
        <p:nvGraphicFramePr>
          <p:cNvPr id="6" name="Table"/>
          <p:cNvGraphicFramePr>
            <a:graphicFrameLocks noGrp="1"/>
          </p:cNvGraphicFramePr>
          <p:nvPr/>
        </p:nvGraphicFramePr>
        <p:xfrm>
          <a:off x="585216" y="1691640"/>
          <a:ext cx="11021263" cy="4389120"/>
        </p:xfrm>
        <a:graphic>
          <a:graphicData uri="http://schemas.openxmlformats.org/drawingml/2006/table">
            <a:tbl>
              <a:tblPr firstRow="0" bandRow="0"/>
              <a:tblGrid>
                <a:gridCol w="2755316"/>
                <a:gridCol w="2755316"/>
                <a:gridCol w="2755316"/>
                <a:gridCol w="2755316"/>
              </a:tblGrid>
              <a:tr h="777240">
                <a:tc>
                  <a:txBody>
                    <a:bodyPr wrap="square" anchor="ctr" lIns="73152" rIns="73152" tIns="36576" bIns="36576"/>
                    <a:lstStyle/>
                    <a:p>
                      <a:pPr algn="ctr"/>
                      <a:r>
                        <a:rPr lang="ja-JP" sz="1300" b="1" dirty="0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TikTok
認知・感情</a:t>
                      </a:r>
                    </a:p>
                  </a:txBody>
                  <a:tcPr marL="0" marR="0" marT="0" marB="0" anchor="ctr">
                    <a:lnL>
                      <a:ln w="12700" cap="flat">
                        <a:solidFill>
                          <a:srgbClr val="EADFD2"/>
                        </a:solidFill>
                      </a:ln>
                    </a:lnL>
                    <a:lnR>
                      <a:ln w="12700" cap="flat">
                        <a:solidFill>
                          <a:srgbClr val="EADFD2"/>
                        </a:solidFill>
                      </a:ln>
                    </a:lnR>
                    <a:lnT>
                      <a:ln w="12700" cap="flat">
                        <a:solidFill>
                          <a:srgbClr val="EADFD2"/>
                        </a:solidFill>
                      </a:ln>
                    </a:lnT>
                    <a:lnB>
                      <a:ln w="12700" cap="flat">
                        <a:solidFill>
                          <a:srgbClr val="EADFD2"/>
                        </a:solidFill>
                      </a:ln>
                    </a:lnB>
                    <a:solidFill>
                      <a:srgbClr val="FF6A00"/>
                    </a:solidFill>
                  </a:tcPr>
                </a:tc>
                <a:tc>
                  <a:txBody>
                    <a:bodyPr wrap="square" anchor="ctr" lIns="73152" rIns="73152" tIns="36576" bIns="36576"/>
                    <a:lstStyle/>
                    <a:p>
                      <a:pPr algn="ctr"/>
                      <a:r>
                        <a:rPr lang="ja-JP" sz="1300" b="1" dirty="0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Instagram
共感・自分事化</a:t>
                      </a:r>
                    </a:p>
                  </a:txBody>
                  <a:tcPr marL="0" marR="0" marT="0" marB="0" anchor="ctr">
                    <a:lnL>
                      <a:ln w="12700" cap="flat">
                        <a:solidFill>
                          <a:srgbClr val="EADFD2"/>
                        </a:solidFill>
                      </a:ln>
                    </a:lnL>
                    <a:lnR>
                      <a:ln w="12700" cap="flat">
                        <a:solidFill>
                          <a:srgbClr val="EADFD2"/>
                        </a:solidFill>
                      </a:ln>
                    </a:lnR>
                    <a:lnT>
                      <a:ln w="12700" cap="flat">
                        <a:solidFill>
                          <a:srgbClr val="EADFD2"/>
                        </a:solidFill>
                      </a:ln>
                    </a:lnT>
                    <a:lnB>
                      <a:ln w="12700" cap="flat">
                        <a:solidFill>
                          <a:srgbClr val="EADFD2"/>
                        </a:solidFill>
                      </a:ln>
                    </a:lnB>
                    <a:solidFill>
                      <a:srgbClr val="FF3D8A"/>
                    </a:solidFill>
                  </a:tcPr>
                </a:tc>
                <a:tc>
                  <a:txBody>
                    <a:bodyPr wrap="square" anchor="ctr" lIns="73152" rIns="73152" tIns="36576" bIns="36576"/>
                    <a:lstStyle/>
                    <a:p>
                      <a:pPr algn="ctr"/>
                      <a:r>
                        <a:rPr lang="ja-JP" sz="1300" b="1" dirty="0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YouTube
理解</a:t>
                      </a:r>
                    </a:p>
                  </a:txBody>
                  <a:tcPr marL="0" marR="0" marT="0" marB="0" anchor="ctr">
                    <a:lnL>
                      <a:ln w="12700" cap="flat">
                        <a:solidFill>
                          <a:srgbClr val="EADFD2"/>
                        </a:solidFill>
                      </a:ln>
                    </a:lnL>
                    <a:lnR>
                      <a:ln w="12700" cap="flat">
                        <a:solidFill>
                          <a:srgbClr val="EADFD2"/>
                        </a:solidFill>
                      </a:ln>
                    </a:lnR>
                    <a:lnT>
                      <a:ln w="12700" cap="flat">
                        <a:solidFill>
                          <a:srgbClr val="EADFD2"/>
                        </a:solidFill>
                      </a:ln>
                    </a:lnT>
                    <a:lnB>
                      <a:ln w="12700" cap="flat">
                        <a:solidFill>
                          <a:srgbClr val="EADFD2"/>
                        </a:solidFill>
                      </a:ln>
                    </a:lnB>
                    <a:solidFill>
                      <a:srgbClr val="2A5CFF"/>
                    </a:solidFill>
                  </a:tcPr>
                </a:tc>
                <a:tc>
                  <a:txBody>
                    <a:bodyPr wrap="square" anchor="ctr" lIns="73152" rIns="73152" tIns="36576" bIns="36576"/>
                    <a:lstStyle/>
                    <a:p>
                      <a:pPr algn="ctr"/>
                      <a:r>
                        <a:rPr lang="ja-JP" sz="1300" b="1" dirty="0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Web / Real
行動</a:t>
                      </a:r>
                    </a:p>
                  </a:txBody>
                  <a:tcPr marL="0" marR="0" marT="0" marB="0" anchor="ctr">
                    <a:lnL>
                      <a:ln w="12700" cap="flat">
                        <a:solidFill>
                          <a:srgbClr val="EADFD2"/>
                        </a:solidFill>
                      </a:ln>
                    </a:lnL>
                    <a:lnR>
                      <a:ln w="12700" cap="flat">
                        <a:solidFill>
                          <a:srgbClr val="EADFD2"/>
                        </a:solidFill>
                      </a:ln>
                    </a:lnR>
                    <a:lnT>
                      <a:ln w="12700" cap="flat">
                        <a:solidFill>
                          <a:srgbClr val="EADFD2"/>
                        </a:solidFill>
                      </a:ln>
                    </a:lnT>
                    <a:lnB>
                      <a:ln w="12700" cap="flat">
                        <a:solidFill>
                          <a:srgbClr val="EADFD2"/>
                        </a:solidFill>
                      </a:ln>
                    </a:lnB>
                    <a:solidFill>
                      <a:srgbClr val="00C2D1"/>
                    </a:solidFill>
                  </a:tcPr>
                </a:tc>
              </a:tr>
              <a:tr h="722376">
                <a:tc>
                  <a:txBody>
                    <a:bodyPr wrap="square" anchor="ctr" lIns="73152" rIns="73152" tIns="36576" bIns="36576"/>
                    <a:lstStyle/>
                    <a:p>
                      <a:pPr algn="ctr"/>
                      <a:r>
                        <a:rPr lang="ja-JP" sz="1200" dirty="0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再生数</a:t>
                      </a:r>
                    </a:p>
                  </a:txBody>
                  <a:tcPr marL="0" marR="0" marT="0" marB="0" anchor="ctr">
                    <a:lnL>
                      <a:ln w="12700" cap="flat">
                        <a:solidFill>
                          <a:srgbClr val="EADFD2"/>
                        </a:solidFill>
                      </a:ln>
                    </a:lnL>
                    <a:lnR>
                      <a:ln w="12700" cap="flat">
                        <a:solidFill>
                          <a:srgbClr val="EADFD2"/>
                        </a:solidFill>
                      </a:ln>
                    </a:lnR>
                    <a:lnT>
                      <a:ln w="12700" cap="flat">
                        <a:solidFill>
                          <a:srgbClr val="EADFD2"/>
                        </a:solidFill>
                      </a:ln>
                    </a:lnT>
                    <a:lnB>
                      <a:ln w="12700" cap="flat">
                        <a:solidFill>
                          <a:srgbClr val="EADFD2"/>
                        </a:solidFill>
                      </a:ln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36576" bIns="36576"/>
                    <a:lstStyle/>
                    <a:p>
                      <a:pPr algn="ctr"/>
                      <a:r>
                        <a:rPr lang="ja-JP" sz="1200" dirty="0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保存</a:t>
                      </a:r>
                    </a:p>
                  </a:txBody>
                  <a:tcPr marL="0" marR="0" marT="0" marB="0" anchor="ctr">
                    <a:lnL>
                      <a:ln w="12700" cap="flat">
                        <a:solidFill>
                          <a:srgbClr val="EADFD2"/>
                        </a:solidFill>
                      </a:ln>
                    </a:lnL>
                    <a:lnR>
                      <a:ln w="12700" cap="flat">
                        <a:solidFill>
                          <a:srgbClr val="EADFD2"/>
                        </a:solidFill>
                      </a:ln>
                    </a:lnR>
                    <a:lnT>
                      <a:ln w="12700" cap="flat">
                        <a:solidFill>
                          <a:srgbClr val="EADFD2"/>
                        </a:solidFill>
                      </a:ln>
                    </a:lnT>
                    <a:lnB>
                      <a:ln w="12700" cap="flat">
                        <a:solidFill>
                          <a:srgbClr val="EADFD2"/>
                        </a:solidFill>
                      </a:ln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36576" bIns="36576"/>
                    <a:lstStyle/>
                    <a:p>
                      <a:pPr algn="ctr"/>
                      <a:r>
                        <a:rPr lang="ja-JP" sz="1200" dirty="0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CTR</a:t>
                      </a:r>
                    </a:p>
                  </a:txBody>
                  <a:tcPr marL="0" marR="0" marT="0" marB="0" anchor="ctr">
                    <a:lnL>
                      <a:ln w="12700" cap="flat">
                        <a:solidFill>
                          <a:srgbClr val="EADFD2"/>
                        </a:solidFill>
                      </a:ln>
                    </a:lnL>
                    <a:lnR>
                      <a:ln w="12700" cap="flat">
                        <a:solidFill>
                          <a:srgbClr val="EADFD2"/>
                        </a:solidFill>
                      </a:ln>
                    </a:lnR>
                    <a:lnT>
                      <a:ln w="12700" cap="flat">
                        <a:solidFill>
                          <a:srgbClr val="EADFD2"/>
                        </a:solidFill>
                      </a:ln>
                    </a:lnT>
                    <a:lnB>
                      <a:ln w="12700" cap="flat">
                        <a:solidFill>
                          <a:srgbClr val="EADFD2"/>
                        </a:solidFill>
                      </a:ln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36576" bIns="36576"/>
                    <a:lstStyle/>
                    <a:p>
                      <a:pPr algn="ctr"/>
                      <a:r>
                        <a:rPr lang="ja-JP" sz="1200" dirty="0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企業ページ閲覧</a:t>
                      </a:r>
                    </a:p>
                  </a:txBody>
                  <a:tcPr marL="0" marR="0" marT="0" marB="0" anchor="ctr">
                    <a:lnL>
                      <a:ln w="12700" cap="flat">
                        <a:solidFill>
                          <a:srgbClr val="EADFD2"/>
                        </a:solidFill>
                      </a:ln>
                    </a:lnL>
                    <a:lnR>
                      <a:ln w="12700" cap="flat">
                        <a:solidFill>
                          <a:srgbClr val="EADFD2"/>
                        </a:solidFill>
                      </a:ln>
                    </a:lnR>
                    <a:lnT>
                      <a:ln w="12700" cap="flat">
                        <a:solidFill>
                          <a:srgbClr val="EADFD2"/>
                        </a:solidFill>
                      </a:ln>
                    </a:lnT>
                    <a:lnB>
                      <a:ln w="12700" cap="flat">
                        <a:solidFill>
                          <a:srgbClr val="EADFD2"/>
                        </a:solidFill>
                      </a:ln>
                    </a:lnB>
                    <a:solidFill>
                      <a:srgbClr val="FFFFFF"/>
                    </a:solidFill>
                  </a:tcPr>
                </a:tc>
              </a:tr>
              <a:tr h="722376">
                <a:tc>
                  <a:txBody>
                    <a:bodyPr wrap="square" anchor="ctr" lIns="73152" rIns="73152" tIns="36576" bIns="36576"/>
                    <a:lstStyle/>
                    <a:p>
                      <a:pPr algn="ctr"/>
                      <a:r>
                        <a:rPr lang="ja-JP" sz="1200" dirty="0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完視聴率</a:t>
                      </a:r>
                    </a:p>
                  </a:txBody>
                  <a:tcPr marL="0" marR="0" marT="0" marB="0" anchor="ctr">
                    <a:lnL>
                      <a:ln w="12700" cap="flat">
                        <a:solidFill>
                          <a:srgbClr val="EADFD2"/>
                        </a:solidFill>
                      </a:ln>
                    </a:lnL>
                    <a:lnR>
                      <a:ln w="12700" cap="flat">
                        <a:solidFill>
                          <a:srgbClr val="EADFD2"/>
                        </a:solidFill>
                      </a:ln>
                    </a:lnR>
                    <a:lnT>
                      <a:ln w="12700" cap="flat">
                        <a:solidFill>
                          <a:srgbClr val="EADFD2"/>
                        </a:solidFill>
                      </a:ln>
                    </a:lnT>
                    <a:lnB>
                      <a:ln w="12700" cap="flat">
                        <a:solidFill>
                          <a:srgbClr val="EADFD2"/>
                        </a:solidFill>
                      </a:ln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36576" bIns="36576"/>
                    <a:lstStyle/>
                    <a:p>
                      <a:pPr algn="ctr"/>
                      <a:r>
                        <a:rPr lang="ja-JP" sz="1200" dirty="0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シェア</a:t>
                      </a:r>
                    </a:p>
                  </a:txBody>
                  <a:tcPr marL="0" marR="0" marT="0" marB="0" anchor="ctr">
                    <a:lnL>
                      <a:ln w="12700" cap="flat">
                        <a:solidFill>
                          <a:srgbClr val="EADFD2"/>
                        </a:solidFill>
                      </a:ln>
                    </a:lnL>
                    <a:lnR>
                      <a:ln w="12700" cap="flat">
                        <a:solidFill>
                          <a:srgbClr val="EADFD2"/>
                        </a:solidFill>
                      </a:ln>
                    </a:lnR>
                    <a:lnT>
                      <a:ln w="12700" cap="flat">
                        <a:solidFill>
                          <a:srgbClr val="EADFD2"/>
                        </a:solidFill>
                      </a:ln>
                    </a:lnT>
                    <a:lnB>
                      <a:ln w="12700" cap="flat">
                        <a:solidFill>
                          <a:srgbClr val="EADFD2"/>
                        </a:solidFill>
                      </a:ln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36576" bIns="36576"/>
                    <a:lstStyle/>
                    <a:p>
                      <a:pPr algn="ctr"/>
                      <a:r>
                        <a:rPr lang="ja-JP" sz="1200" dirty="0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視聴維持率</a:t>
                      </a:r>
                    </a:p>
                  </a:txBody>
                  <a:tcPr marL="0" marR="0" marT="0" marB="0" anchor="ctr">
                    <a:lnL>
                      <a:ln w="12700" cap="flat">
                        <a:solidFill>
                          <a:srgbClr val="EADFD2"/>
                        </a:solidFill>
                      </a:ln>
                    </a:lnL>
                    <a:lnR>
                      <a:ln w="12700" cap="flat">
                        <a:solidFill>
                          <a:srgbClr val="EADFD2"/>
                        </a:solidFill>
                      </a:ln>
                    </a:lnR>
                    <a:lnT>
                      <a:ln w="12700" cap="flat">
                        <a:solidFill>
                          <a:srgbClr val="EADFD2"/>
                        </a:solidFill>
                      </a:ln>
                    </a:lnT>
                    <a:lnB>
                      <a:ln w="12700" cap="flat">
                        <a:solidFill>
                          <a:srgbClr val="EADFD2"/>
                        </a:solidFill>
                      </a:ln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36576" bIns="36576"/>
                    <a:lstStyle/>
                    <a:p>
                      <a:pPr algn="ctr"/>
                      <a:r>
                        <a:rPr lang="ja-JP" sz="1200" dirty="0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診断利用</a:t>
                      </a:r>
                    </a:p>
                  </a:txBody>
                  <a:tcPr marL="0" marR="0" marT="0" marB="0" anchor="ctr">
                    <a:lnL>
                      <a:ln w="12700" cap="flat">
                        <a:solidFill>
                          <a:srgbClr val="EADFD2"/>
                        </a:solidFill>
                      </a:ln>
                    </a:lnL>
                    <a:lnR>
                      <a:ln w="12700" cap="flat">
                        <a:solidFill>
                          <a:srgbClr val="EADFD2"/>
                        </a:solidFill>
                      </a:ln>
                    </a:lnR>
                    <a:lnT>
                      <a:ln w="12700" cap="flat">
                        <a:solidFill>
                          <a:srgbClr val="EADFD2"/>
                        </a:solidFill>
                      </a:ln>
                    </a:lnT>
                    <a:lnB>
                      <a:ln w="12700" cap="flat">
                        <a:solidFill>
                          <a:srgbClr val="EADFD2"/>
                        </a:solidFill>
                      </a:ln>
                    </a:lnB>
                    <a:solidFill>
                      <a:srgbClr val="FFFFFF"/>
                    </a:solidFill>
                  </a:tcPr>
                </a:tc>
              </a:tr>
              <a:tr h="722376">
                <a:tc>
                  <a:txBody>
                    <a:bodyPr wrap="square" anchor="ctr" lIns="73152" rIns="73152" tIns="36576" bIns="36576"/>
                    <a:lstStyle/>
                    <a:p>
                      <a:pPr algn="ctr"/>
                      <a:r>
                        <a:rPr lang="ja-JP" sz="1200" dirty="0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平均視聴時間</a:t>
                      </a:r>
                    </a:p>
                  </a:txBody>
                  <a:tcPr marL="0" marR="0" marT="0" marB="0" anchor="ctr">
                    <a:lnL>
                      <a:ln w="12700" cap="flat">
                        <a:solidFill>
                          <a:srgbClr val="EADFD2"/>
                        </a:solidFill>
                      </a:ln>
                    </a:lnL>
                    <a:lnR>
                      <a:ln w="12700" cap="flat">
                        <a:solidFill>
                          <a:srgbClr val="EADFD2"/>
                        </a:solidFill>
                      </a:ln>
                    </a:lnR>
                    <a:lnT>
                      <a:ln w="12700" cap="flat">
                        <a:solidFill>
                          <a:srgbClr val="EADFD2"/>
                        </a:solidFill>
                      </a:ln>
                    </a:lnT>
                    <a:lnB>
                      <a:ln w="12700" cap="flat">
                        <a:solidFill>
                          <a:srgbClr val="EADFD2"/>
                        </a:solidFill>
                      </a:ln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36576" bIns="36576"/>
                    <a:lstStyle/>
                    <a:p>
                      <a:pPr algn="ctr"/>
                      <a:r>
                        <a:rPr lang="ja-JP" sz="1200" dirty="0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プロフィール遷移</a:t>
                      </a:r>
                    </a:p>
                  </a:txBody>
                  <a:tcPr marL="0" marR="0" marT="0" marB="0" anchor="ctr">
                    <a:lnL>
                      <a:ln w="12700" cap="flat">
                        <a:solidFill>
                          <a:srgbClr val="EADFD2"/>
                        </a:solidFill>
                      </a:ln>
                    </a:lnL>
                    <a:lnR>
                      <a:ln w="12700" cap="flat">
                        <a:solidFill>
                          <a:srgbClr val="EADFD2"/>
                        </a:solidFill>
                      </a:ln>
                    </a:lnR>
                    <a:lnT>
                      <a:ln w="12700" cap="flat">
                        <a:solidFill>
                          <a:srgbClr val="EADFD2"/>
                        </a:solidFill>
                      </a:ln>
                    </a:lnT>
                    <a:lnB>
                      <a:ln w="12700" cap="flat">
                        <a:solidFill>
                          <a:srgbClr val="EADFD2"/>
                        </a:solidFill>
                      </a:ln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36576" bIns="36576"/>
                    <a:lstStyle/>
                    <a:p>
                      <a:pPr algn="ctr"/>
                      <a:r>
                        <a:rPr lang="ja-JP" sz="1200" dirty="0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平均視聴時間</a:t>
                      </a:r>
                    </a:p>
                  </a:txBody>
                  <a:tcPr marL="0" marR="0" marT="0" marB="0" anchor="ctr">
                    <a:lnL>
                      <a:ln w="12700" cap="flat">
                        <a:solidFill>
                          <a:srgbClr val="EADFD2"/>
                        </a:solidFill>
                      </a:ln>
                    </a:lnL>
                    <a:lnR>
                      <a:ln w="12700" cap="flat">
                        <a:solidFill>
                          <a:srgbClr val="EADFD2"/>
                        </a:solidFill>
                      </a:ln>
                    </a:lnR>
                    <a:lnT>
                      <a:ln w="12700" cap="flat">
                        <a:solidFill>
                          <a:srgbClr val="EADFD2"/>
                        </a:solidFill>
                      </a:ln>
                    </a:lnT>
                    <a:lnB>
                      <a:ln w="12700" cap="flat">
                        <a:solidFill>
                          <a:srgbClr val="EADFD2"/>
                        </a:solidFill>
                      </a:ln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36576" bIns="36576"/>
                    <a:lstStyle/>
                    <a:p>
                      <a:pPr algn="ctr"/>
                      <a:r>
                        <a:rPr lang="ja-JP" sz="1200" dirty="0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会社見学申込</a:t>
                      </a:r>
                    </a:p>
                  </a:txBody>
                  <a:tcPr marL="0" marR="0" marT="0" marB="0" anchor="ctr">
                    <a:lnL>
                      <a:ln w="12700" cap="flat">
                        <a:solidFill>
                          <a:srgbClr val="EADFD2"/>
                        </a:solidFill>
                      </a:ln>
                    </a:lnL>
                    <a:lnR>
                      <a:ln w="12700" cap="flat">
                        <a:solidFill>
                          <a:srgbClr val="EADFD2"/>
                        </a:solidFill>
                      </a:ln>
                    </a:lnR>
                    <a:lnT>
                      <a:ln w="12700" cap="flat">
                        <a:solidFill>
                          <a:srgbClr val="EADFD2"/>
                        </a:solidFill>
                      </a:ln>
                    </a:lnT>
                    <a:lnB>
                      <a:ln w="12700" cap="flat">
                        <a:solidFill>
                          <a:srgbClr val="EADFD2"/>
                        </a:solidFill>
                      </a:ln>
                    </a:lnB>
                    <a:solidFill>
                      <a:srgbClr val="FFFFFF"/>
                    </a:solidFill>
                  </a:tcPr>
                </a:tc>
              </a:tr>
              <a:tr h="722376">
                <a:tc>
                  <a:txBody>
                    <a:bodyPr wrap="square" anchor="ctr" lIns="73152" rIns="73152" tIns="36576" bIns="36576"/>
                    <a:lstStyle/>
                    <a:p>
                      <a:pPr algn="ctr"/>
                      <a:r>
                        <a:rPr lang="ja-JP" sz="1200" dirty="0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シェア</a:t>
                      </a:r>
                    </a:p>
                  </a:txBody>
                  <a:tcPr marL="0" marR="0" marT="0" marB="0" anchor="ctr">
                    <a:lnL>
                      <a:ln w="12700" cap="flat">
                        <a:solidFill>
                          <a:srgbClr val="EADFD2"/>
                        </a:solidFill>
                      </a:ln>
                    </a:lnL>
                    <a:lnR>
                      <a:ln w="12700" cap="flat">
                        <a:solidFill>
                          <a:srgbClr val="EADFD2"/>
                        </a:solidFill>
                      </a:ln>
                    </a:lnR>
                    <a:lnT>
                      <a:ln w="12700" cap="flat">
                        <a:solidFill>
                          <a:srgbClr val="EADFD2"/>
                        </a:solidFill>
                      </a:ln>
                    </a:lnT>
                    <a:lnB>
                      <a:ln w="12700" cap="flat">
                        <a:solidFill>
                          <a:srgbClr val="EADFD2"/>
                        </a:solidFill>
                      </a:ln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36576" bIns="36576"/>
                    <a:lstStyle/>
                    <a:p>
                      <a:pPr algn="ctr"/>
                      <a:r>
                        <a:rPr lang="ja-JP" sz="1200" dirty="0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Stories反応</a:t>
                      </a:r>
                    </a:p>
                  </a:txBody>
                  <a:tcPr marL="0" marR="0" marT="0" marB="0" anchor="ctr">
                    <a:lnL>
                      <a:ln w="12700" cap="flat">
                        <a:solidFill>
                          <a:srgbClr val="EADFD2"/>
                        </a:solidFill>
                      </a:ln>
                    </a:lnL>
                    <a:lnR>
                      <a:ln w="12700" cap="flat">
                        <a:solidFill>
                          <a:srgbClr val="EADFD2"/>
                        </a:solidFill>
                      </a:ln>
                    </a:lnR>
                    <a:lnT>
                      <a:ln w="12700" cap="flat">
                        <a:solidFill>
                          <a:srgbClr val="EADFD2"/>
                        </a:solidFill>
                      </a:ln>
                    </a:lnT>
                    <a:lnB>
                      <a:ln w="12700" cap="flat">
                        <a:solidFill>
                          <a:srgbClr val="EADFD2"/>
                        </a:solidFill>
                      </a:ln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36576" bIns="36576"/>
                    <a:lstStyle/>
                    <a:p>
                      <a:pPr algn="ctr"/>
                      <a:r>
                        <a:rPr lang="ja-JP" sz="1200" dirty="0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Web流入</a:t>
                      </a:r>
                    </a:p>
                  </a:txBody>
                  <a:tcPr marL="0" marR="0" marT="0" marB="0" anchor="ctr">
                    <a:lnL>
                      <a:ln w="12700" cap="flat">
                        <a:solidFill>
                          <a:srgbClr val="EADFD2"/>
                        </a:solidFill>
                      </a:ln>
                    </a:lnL>
                    <a:lnR>
                      <a:ln w="12700" cap="flat">
                        <a:solidFill>
                          <a:srgbClr val="EADFD2"/>
                        </a:solidFill>
                      </a:ln>
                    </a:lnR>
                    <a:lnT>
                      <a:ln w="12700" cap="flat">
                        <a:solidFill>
                          <a:srgbClr val="EADFD2"/>
                        </a:solidFill>
                      </a:ln>
                    </a:lnT>
                    <a:lnB>
                      <a:ln w="12700" cap="flat">
                        <a:solidFill>
                          <a:srgbClr val="EADFD2"/>
                        </a:solidFill>
                      </a:ln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36576" bIns="36576"/>
                    <a:lstStyle/>
                    <a:p>
                      <a:pPr algn="ctr"/>
                      <a:r>
                        <a:rPr lang="ja-JP" sz="1200" dirty="0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イベント参加</a:t>
                      </a:r>
                    </a:p>
                  </a:txBody>
                  <a:tcPr marL="0" marR="0" marT="0" marB="0" anchor="ctr">
                    <a:lnL>
                      <a:ln w="12700" cap="flat">
                        <a:solidFill>
                          <a:srgbClr val="EADFD2"/>
                        </a:solidFill>
                      </a:ln>
                    </a:lnL>
                    <a:lnR>
                      <a:ln w="12700" cap="flat">
                        <a:solidFill>
                          <a:srgbClr val="EADFD2"/>
                        </a:solidFill>
                      </a:ln>
                    </a:lnR>
                    <a:lnT>
                      <a:ln w="12700" cap="flat">
                        <a:solidFill>
                          <a:srgbClr val="EADFD2"/>
                        </a:solidFill>
                      </a:ln>
                    </a:lnT>
                    <a:lnB>
                      <a:ln w="12700" cap="flat">
                        <a:solidFill>
                          <a:srgbClr val="EADFD2"/>
                        </a:solidFill>
                      </a:ln>
                    </a:lnB>
                    <a:solidFill>
                      <a:srgbClr val="FFFFFF"/>
                    </a:solidFill>
                  </a:tcPr>
                </a:tc>
              </a:tr>
              <a:tr h="722376">
                <a:tc>
                  <a:txBody>
                    <a:bodyPr wrap="square" anchor="ctr" lIns="73152" rIns="73152" tIns="36576" bIns="36576"/>
                    <a:lstStyle/>
                    <a:p>
                      <a:pPr algn="ctr"/>
                      <a:r>
                        <a:rPr lang="ja-JP" sz="1200" dirty="0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コメント</a:t>
                      </a:r>
                    </a:p>
                  </a:txBody>
                  <a:tcPr marL="0" marR="0" marT="0" marB="0" anchor="ctr">
                    <a:lnL>
                      <a:ln w="12700" cap="flat">
                        <a:solidFill>
                          <a:srgbClr val="EADFD2"/>
                        </a:solidFill>
                      </a:ln>
                    </a:lnL>
                    <a:lnR>
                      <a:ln w="12700" cap="flat">
                        <a:solidFill>
                          <a:srgbClr val="EADFD2"/>
                        </a:solidFill>
                      </a:ln>
                    </a:lnR>
                    <a:lnT>
                      <a:ln w="12700" cap="flat">
                        <a:solidFill>
                          <a:srgbClr val="EADFD2"/>
                        </a:solidFill>
                      </a:ln>
                    </a:lnT>
                    <a:lnB>
                      <a:ln w="12700" cap="flat">
                        <a:solidFill>
                          <a:srgbClr val="EADFD2"/>
                        </a:solidFill>
                      </a:ln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36576" bIns="36576"/>
                    <a:lstStyle/>
                    <a:p>
                      <a:pPr algn="ctr"/>
                      <a:r>
                        <a:rPr lang="ja-JP" sz="1200" dirty="0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/>
                      </a:r>
                    </a:p>
                  </a:txBody>
                  <a:tcPr marL="0" marR="0" marT="0" marB="0" anchor="ctr">
                    <a:lnL>
                      <a:ln w="12700" cap="flat">
                        <a:solidFill>
                          <a:srgbClr val="EADFD2"/>
                        </a:solidFill>
                      </a:ln>
                    </a:lnL>
                    <a:lnR>
                      <a:ln w="12700" cap="flat">
                        <a:solidFill>
                          <a:srgbClr val="EADFD2"/>
                        </a:solidFill>
                      </a:ln>
                    </a:lnR>
                    <a:lnT>
                      <a:ln w="12700" cap="flat">
                        <a:solidFill>
                          <a:srgbClr val="EADFD2"/>
                        </a:solidFill>
                      </a:ln>
                    </a:lnT>
                    <a:lnB>
                      <a:ln w="12700" cap="flat">
                        <a:solidFill>
                          <a:srgbClr val="EADFD2"/>
                        </a:solidFill>
                      </a:ln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36576" bIns="36576"/>
                    <a:lstStyle/>
                    <a:p>
                      <a:pPr algn="ctr"/>
                      <a:r>
                        <a:rPr lang="ja-JP" sz="1200" dirty="0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/>
                      </a:r>
                    </a:p>
                  </a:txBody>
                  <a:tcPr marL="0" marR="0" marT="0" marB="0" anchor="ctr">
                    <a:lnL>
                      <a:ln w="12700" cap="flat">
                        <a:solidFill>
                          <a:srgbClr val="EADFD2"/>
                        </a:solidFill>
                      </a:ln>
                    </a:lnL>
                    <a:lnR>
                      <a:ln w="12700" cap="flat">
                        <a:solidFill>
                          <a:srgbClr val="EADFD2"/>
                        </a:solidFill>
                      </a:ln>
                    </a:lnR>
                    <a:lnT>
                      <a:ln w="12700" cap="flat">
                        <a:solidFill>
                          <a:srgbClr val="EADFD2"/>
                        </a:solidFill>
                      </a:ln>
                    </a:lnT>
                    <a:lnB>
                      <a:ln w="12700" cap="flat">
                        <a:solidFill>
                          <a:srgbClr val="EADFD2"/>
                        </a:solidFill>
                      </a:ln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36576" bIns="36576"/>
                    <a:lstStyle/>
                    <a:p>
                      <a:pPr algn="ctr"/>
                      <a:r>
                        <a:rPr lang="ja-JP" sz="1200" dirty="0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応募</a:t>
                      </a:r>
                    </a:p>
                  </a:txBody>
                  <a:tcPr marL="0" marR="0" marT="0" marB="0" anchor="ctr">
                    <a:lnL>
                      <a:ln w="12700" cap="flat">
                        <a:solidFill>
                          <a:srgbClr val="EADFD2"/>
                        </a:solidFill>
                      </a:ln>
                    </a:lnL>
                    <a:lnR>
                      <a:ln w="12700" cap="flat">
                        <a:solidFill>
                          <a:srgbClr val="EADFD2"/>
                        </a:solidFill>
                      </a:ln>
                    </a:lnR>
                    <a:lnT>
                      <a:ln w="12700" cap="flat">
                        <a:solidFill>
                          <a:srgbClr val="EADFD2"/>
                        </a:solidFill>
                      </a:ln>
                    </a:lnT>
                    <a:lnB>
                      <a:ln w="12700" cap="flat">
                        <a:solidFill>
                          <a:srgbClr val="EADFD2"/>
                        </a:solidFill>
                      </a:ln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7" name="Line"/>
          <p:cNvCxnSpPr/>
          <p:nvPr/>
        </p:nvCxnSpPr>
        <p:spPr>
          <a:xfrm>
            <a:off x="585216" y="6455664"/>
            <a:ext cx="11021263" cy="914"/>
          </a:xfrm>
          <a:prstGeom prst="line">
            <a:avLst/>
          </a:prstGeom>
          <a:ln w="12700" cap="rnd">
            <a:solidFill>
              <a:srgbClr val="2A5CFF"/>
            </a:solidFill>
            <a:headEnd type="none"/>
            <a:tailEnd type="none"/>
          </a:ln>
        </p:spPr>
      </p:cxnSp>
      <p:sp>
        <p:nvSpPr>
          <p:cNvPr id="8" name="TextBox"/>
          <p:cNvSpPr txBox="1"/>
          <p:nvPr/>
        </p:nvSpPr>
        <p:spPr>
          <a:xfrm>
            <a:off x="585216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850" spc="1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JINJIB ― 高卒採用・進路選択マーケティング戦略提案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10326319" y="6473952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r"/>
            <a:r>
              <a:rPr lang="ja-JP" sz="1300" b="1" spc="20" dirty="0">
                <a:solidFill>
                  <a:srgbClr val="2A5CFF"/>
                </a:solidFill>
                <a:latin typeface="Montserrat"/>
                <a:ea typeface="Montserrat"/>
                <a:cs typeface="Montserrat"/>
              </a:rPr>
              <a:t>21</a:t>
            </a:r>
            <a:r>
              <a:rPr lang="ja-JP" sz="1000" dirty="0">
                <a:solidFill>
                  <a:srgbClr val="1A1A1A"/>
                </a:solidFill>
                <a:latin typeface="Montserrat"/>
                <a:ea typeface="Montserrat"/>
                <a:cs typeface="Montserrat"/>
              </a:rPr>
              <a:t> / 22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GrpSp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Panel"/>
          <p:cNvSpPr/>
          <p:nvPr/>
        </p:nvSpPr>
        <p:spPr>
          <a:xfrm>
            <a:off x="0" y="0"/>
            <a:ext cx="12191695" cy="2331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Kicker Tick"/>
          <p:cNvSpPr/>
          <p:nvPr/>
        </p:nvSpPr>
        <p:spPr>
          <a:xfrm>
            <a:off x="585216" y="457200"/>
            <a:ext cx="292608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Box"/>
          <p:cNvSpPr txBox="1"/>
          <p:nvPr/>
        </p:nvSpPr>
        <p:spPr>
          <a:xfrm>
            <a:off x="969264" y="365760"/>
            <a:ext cx="7315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1250" b="1" spc="6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FUTURE VISION  </a:t>
            </a:r>
            <a:r>
              <a:rPr lang="ja-JP" sz="1100" b="1" spc="2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未来像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585216" y="777240"/>
            <a:ext cx="11021263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18000"/>
              </a:lnSpc>
            </a:pPr>
            <a:r>
              <a:rPr lang="ja-JP" sz="3000" b="1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高卒求人媒体から、</a:t>
            </a:r>
          </a:p>
          <a:p>
            <a:pPr algn="l">
              <a:lnSpc>
                <a:spcPct val="118000"/>
              </a:lnSpc>
            </a:pPr>
            <a:r>
              <a:rPr lang="ja-JP" sz="3000" b="1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18歳の進路メディアへ。</a:t>
            </a:r>
          </a:p>
        </p:txBody>
      </p:sp>
      <p:sp>
        <p:nvSpPr>
          <p:cNvPr id="7" name="Student"/>
          <p:cNvSpPr/>
          <p:nvPr/>
        </p:nvSpPr>
        <p:spPr>
          <a:xfrm>
            <a:off x="585216" y="2697480"/>
            <a:ext cx="5327752" cy="1417320"/>
          </a:xfrm>
          <a:prstGeom prst="rect">
            <a:avLst/>
          </a:prstGeom>
          <a:solidFill>
            <a:srgbClr val="FFFFFF"/>
          </a:solidFill>
          <a:ln w="15875" cap="flat">
            <a:solidFill>
              <a:srgbClr val="FF6A00"/>
            </a:solidFill>
            <a:round/>
          </a:ln>
        </p:spPr>
        <p:txBody>
          <a:bodyPr/>
          <a:lstStyle/>
          <a:p/>
        </p:txBody>
      </p:sp>
      <p:sp>
        <p:nvSpPr>
          <p:cNvPr id="8" name="TextBox"/>
          <p:cNvSpPr txBox="1"/>
          <p:nvPr/>
        </p:nvSpPr>
        <p:spPr>
          <a:xfrm>
            <a:off x="768096" y="2825496"/>
            <a:ext cx="4961992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1300" b="1" spc="30" dirty="0">
                <a:solidFill>
                  <a:srgbClr val="FF6A00"/>
                </a:solidFill>
                <a:latin typeface="Montserrat"/>
                <a:ea typeface="Montserrat"/>
                <a:cs typeface="Montserrat"/>
              </a:rPr>
              <a:t>STUDENT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768096" y="3200400"/>
            <a:ext cx="4961992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50000"/>
              </a:lnSpc>
            </a:pPr>
            <a:r>
              <a:rPr lang="ja-JP" sz="130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進路に迷った時、知らない選択肢に出会える場所。</a:t>
            </a:r>
          </a:p>
        </p:txBody>
      </p:sp>
      <p:sp>
        <p:nvSpPr>
          <p:cNvPr id="10" name="Company"/>
          <p:cNvSpPr/>
          <p:nvPr/>
        </p:nvSpPr>
        <p:spPr>
          <a:xfrm>
            <a:off x="6278728" y="2697480"/>
            <a:ext cx="5327752" cy="1417320"/>
          </a:xfrm>
          <a:prstGeom prst="rect">
            <a:avLst/>
          </a:prstGeom>
          <a:solidFill>
            <a:srgbClr val="FFFFFF"/>
          </a:solidFill>
          <a:ln w="15875" cap="flat">
            <a:solidFill>
              <a:srgbClr val="FF6A00"/>
            </a:solidFill>
            <a:round/>
          </a:ln>
        </p:spPr>
        <p:txBody>
          <a:bodyPr/>
          <a:lstStyle/>
          <a:p/>
        </p:txBody>
      </p:sp>
      <p:sp>
        <p:nvSpPr>
          <p:cNvPr id="11" name="TextBox"/>
          <p:cNvSpPr txBox="1"/>
          <p:nvPr/>
        </p:nvSpPr>
        <p:spPr>
          <a:xfrm>
            <a:off x="6461608" y="2825496"/>
            <a:ext cx="4961992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1300" b="1" spc="30" dirty="0">
                <a:solidFill>
                  <a:srgbClr val="FF6A00"/>
                </a:solidFill>
                <a:latin typeface="Montserrat"/>
                <a:ea typeface="Montserrat"/>
                <a:cs typeface="Montserrat"/>
              </a:rPr>
              <a:t>COMPANY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6461608" y="3200400"/>
            <a:ext cx="4961992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7432" bIns="27432"/>
          <a:lstStyle/>
          <a:p>
            <a:pPr algn="l">
              <a:lnSpc>
                <a:spcPct val="150000"/>
              </a:lnSpc>
            </a:pPr>
            <a:r>
              <a:rPr lang="ja-JP" sz="130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求人を出す場所ではなく、若者から選ばれる会社になる場所。</a:t>
            </a:r>
          </a:p>
        </p:txBody>
      </p:sp>
      <p:sp>
        <p:nvSpPr>
          <p:cNvPr id="13" name="Subhead Mark"/>
          <p:cNvSpPr/>
          <p:nvPr/>
        </p:nvSpPr>
        <p:spPr>
          <a:xfrm>
            <a:off x="585216" y="4343400"/>
            <a:ext cx="146304" cy="146304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Box"/>
          <p:cNvSpPr txBox="1"/>
          <p:nvPr/>
        </p:nvSpPr>
        <p:spPr>
          <a:xfrm>
            <a:off x="804672" y="4297680"/>
            <a:ext cx="10801807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1100" b="1" spc="30" dirty="0">
                <a:solidFill>
                  <a:srgbClr val="FF6A00"/>
                </a:solidFill>
                <a:latin typeface="Montserrat"/>
                <a:ea typeface="Montserrat"/>
                <a:cs typeface="Montserrat"/>
              </a:rPr>
              <a:t>NEXT  </a:t>
            </a:r>
            <a:r>
              <a:rPr lang="ja-JP" sz="130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将来施策</a:t>
            </a:r>
          </a:p>
        </p:txBody>
      </p:sp>
      <p:sp>
        <p:nvSpPr>
          <p:cNvPr id="15" name="Chip"/>
          <p:cNvSpPr/>
          <p:nvPr/>
        </p:nvSpPr>
        <p:spPr>
          <a:xfrm>
            <a:off x="585216" y="4663440"/>
            <a:ext cx="1464738" cy="7772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 cap="flat">
            <a:solidFill>
              <a:srgbClr val="FF6A00"/>
            </a:solidFill>
            <a:round/>
          </a:ln>
        </p:spPr>
        <p:txBody>
          <a:bodyPr/>
          <a:lstStyle/>
          <a:p/>
        </p:txBody>
      </p:sp>
      <p:sp>
        <p:nvSpPr>
          <p:cNvPr id="16" name="TextBox"/>
          <p:cNvSpPr txBox="1"/>
          <p:nvPr/>
        </p:nvSpPr>
        <p:spPr>
          <a:xfrm>
            <a:off x="585216" y="4663440"/>
            <a:ext cx="1464738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00" b="1" spc="0" dirty="0">
                <a:solidFill>
                  <a:srgbClr val="FF6A00"/>
                </a:solidFill>
                <a:latin typeface="Noto Sans JP"/>
                <a:ea typeface="Noto Sans JP"/>
                <a:cs typeface="Noto Sans JP"/>
              </a:rPr>
              <a:t>企業版ショートドラマ</a:t>
            </a:r>
          </a:p>
        </p:txBody>
      </p:sp>
      <p:sp>
        <p:nvSpPr>
          <p:cNvPr id="17" name="Chip"/>
          <p:cNvSpPr/>
          <p:nvPr/>
        </p:nvSpPr>
        <p:spPr>
          <a:xfrm>
            <a:off x="2177970" y="4663440"/>
            <a:ext cx="1464738" cy="7772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 cap="flat">
            <a:solidFill>
              <a:srgbClr val="FF6A00"/>
            </a:solidFill>
            <a:round/>
          </a:ln>
        </p:spPr>
        <p:txBody>
          <a:bodyPr/>
          <a:lstStyle/>
          <a:p/>
        </p:txBody>
      </p:sp>
      <p:sp>
        <p:nvSpPr>
          <p:cNvPr id="18" name="TextBox"/>
          <p:cNvSpPr txBox="1"/>
          <p:nvPr/>
        </p:nvSpPr>
        <p:spPr>
          <a:xfrm>
            <a:off x="2177970" y="4663440"/>
            <a:ext cx="1464738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00" b="1" spc="0" dirty="0">
                <a:solidFill>
                  <a:srgbClr val="FF6A00"/>
                </a:solidFill>
                <a:latin typeface="Noto Sans JP"/>
                <a:ea typeface="Noto Sans JP"/>
                <a:cs typeface="Noto Sans JP"/>
              </a:rPr>
              <a:t>若手社員ドキュメンタリー</a:t>
            </a:r>
          </a:p>
        </p:txBody>
      </p:sp>
      <p:sp>
        <p:nvSpPr>
          <p:cNvPr id="19" name="Chip"/>
          <p:cNvSpPr/>
          <p:nvPr/>
        </p:nvSpPr>
        <p:spPr>
          <a:xfrm>
            <a:off x="3770724" y="4663440"/>
            <a:ext cx="1464738" cy="7772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 cap="flat">
            <a:solidFill>
              <a:srgbClr val="FF6A00"/>
            </a:solidFill>
            <a:round/>
          </a:ln>
        </p:spPr>
        <p:txBody>
          <a:bodyPr/>
          <a:lstStyle/>
          <a:p/>
        </p:txBody>
      </p:sp>
      <p:sp>
        <p:nvSpPr>
          <p:cNvPr id="20" name="TextBox"/>
          <p:cNvSpPr txBox="1"/>
          <p:nvPr/>
        </p:nvSpPr>
        <p:spPr>
          <a:xfrm>
            <a:off x="3770724" y="4663440"/>
            <a:ext cx="1464738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00" b="1" spc="0" dirty="0">
                <a:solidFill>
                  <a:srgbClr val="FF6A00"/>
                </a:solidFill>
                <a:latin typeface="Noto Sans JP"/>
                <a:ea typeface="Noto Sans JP"/>
                <a:cs typeface="Noto Sans JP"/>
              </a:rPr>
              <a:t>高卒採用ブランディング</a:t>
            </a:r>
          </a:p>
        </p:txBody>
      </p:sp>
      <p:sp>
        <p:nvSpPr>
          <p:cNvPr id="21" name="Chip"/>
          <p:cNvSpPr/>
          <p:nvPr/>
        </p:nvSpPr>
        <p:spPr>
          <a:xfrm>
            <a:off x="5363479" y="4663440"/>
            <a:ext cx="1464738" cy="7772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 cap="flat">
            <a:solidFill>
              <a:srgbClr val="FF6A00"/>
            </a:solidFill>
            <a:round/>
          </a:ln>
        </p:spPr>
        <p:txBody>
          <a:bodyPr/>
          <a:lstStyle/>
          <a:p/>
        </p:txBody>
      </p:sp>
      <p:sp>
        <p:nvSpPr>
          <p:cNvPr id="22" name="TextBox"/>
          <p:cNvSpPr txBox="1"/>
          <p:nvPr/>
        </p:nvSpPr>
        <p:spPr>
          <a:xfrm>
            <a:off x="5363479" y="4663440"/>
            <a:ext cx="1464738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00" b="1" spc="0" dirty="0">
                <a:solidFill>
                  <a:srgbClr val="FF6A00"/>
                </a:solidFill>
                <a:latin typeface="Noto Sans JP"/>
                <a:ea typeface="Noto Sans JP"/>
                <a:cs typeface="Noto Sans JP"/>
              </a:rPr>
              <a:t>学校向けキャリアコンテンツ</a:t>
            </a:r>
          </a:p>
        </p:txBody>
      </p:sp>
      <p:sp>
        <p:nvSpPr>
          <p:cNvPr id="23" name="Chip"/>
          <p:cNvSpPr/>
          <p:nvPr/>
        </p:nvSpPr>
        <p:spPr>
          <a:xfrm>
            <a:off x="6956233" y="4663440"/>
            <a:ext cx="1464738" cy="7772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 cap="flat">
            <a:solidFill>
              <a:srgbClr val="FF6A00"/>
            </a:solidFill>
            <a:round/>
          </a:ln>
        </p:spPr>
        <p:txBody>
          <a:bodyPr/>
          <a:lstStyle/>
          <a:p/>
        </p:txBody>
      </p:sp>
      <p:sp>
        <p:nvSpPr>
          <p:cNvPr id="24" name="TextBox"/>
          <p:cNvSpPr txBox="1"/>
          <p:nvPr/>
        </p:nvSpPr>
        <p:spPr>
          <a:xfrm>
            <a:off x="6956233" y="4663440"/>
            <a:ext cx="1464738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00" b="1" spc="0" dirty="0">
                <a:solidFill>
                  <a:srgbClr val="FF6A00"/>
                </a:solidFill>
                <a:latin typeface="Noto Sans JP"/>
                <a:ea typeface="Noto Sans JP"/>
                <a:cs typeface="Noto Sans JP"/>
              </a:rPr>
              <a:t>職場体験</a:t>
            </a:r>
          </a:p>
        </p:txBody>
      </p:sp>
      <p:sp>
        <p:nvSpPr>
          <p:cNvPr id="25" name="Chip"/>
          <p:cNvSpPr/>
          <p:nvPr/>
        </p:nvSpPr>
        <p:spPr>
          <a:xfrm>
            <a:off x="8548987" y="4663440"/>
            <a:ext cx="1464738" cy="7772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 cap="flat">
            <a:solidFill>
              <a:srgbClr val="FF6A00"/>
            </a:solidFill>
            <a:round/>
          </a:ln>
        </p:spPr>
        <p:txBody>
          <a:bodyPr/>
          <a:lstStyle/>
          <a:p/>
        </p:txBody>
      </p:sp>
      <p:sp>
        <p:nvSpPr>
          <p:cNvPr id="26" name="TextBox"/>
          <p:cNvSpPr txBox="1"/>
          <p:nvPr/>
        </p:nvSpPr>
        <p:spPr>
          <a:xfrm>
            <a:off x="8548987" y="4663440"/>
            <a:ext cx="1464738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00" b="1" spc="0" dirty="0">
                <a:solidFill>
                  <a:srgbClr val="FF6A00"/>
                </a:solidFill>
                <a:latin typeface="Noto Sans JP"/>
                <a:ea typeface="Noto Sans JP"/>
                <a:cs typeface="Noto Sans JP"/>
              </a:rPr>
              <a:t>市場調査</a:t>
            </a:r>
          </a:p>
        </p:txBody>
      </p:sp>
      <p:sp>
        <p:nvSpPr>
          <p:cNvPr id="27" name="Chip"/>
          <p:cNvSpPr/>
          <p:nvPr/>
        </p:nvSpPr>
        <p:spPr>
          <a:xfrm>
            <a:off x="10141741" y="4663440"/>
            <a:ext cx="1464738" cy="7772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 cap="flat">
            <a:solidFill>
              <a:srgbClr val="FF6A00"/>
            </a:solidFill>
            <a:round/>
          </a:ln>
        </p:spPr>
        <p:txBody>
          <a:bodyPr/>
          <a:lstStyle/>
          <a:p/>
        </p:txBody>
      </p:sp>
      <p:sp>
        <p:nvSpPr>
          <p:cNvPr id="28" name="TextBox"/>
          <p:cNvSpPr txBox="1"/>
          <p:nvPr/>
        </p:nvSpPr>
        <p:spPr>
          <a:xfrm>
            <a:off x="10141741" y="4663440"/>
            <a:ext cx="1464738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900" b="1" spc="0" dirty="0">
                <a:solidFill>
                  <a:srgbClr val="FF6A00"/>
                </a:solidFill>
                <a:latin typeface="Noto Sans JP"/>
                <a:ea typeface="Noto Sans JP"/>
                <a:cs typeface="Noto Sans JP"/>
              </a:rPr>
              <a:t>高卒採用ラボ</a:t>
            </a:r>
          </a:p>
        </p:txBody>
      </p:sp>
      <p:cxnSp>
        <p:nvCxnSpPr>
          <p:cNvPr id="29" name="Line"/>
          <p:cNvCxnSpPr/>
          <p:nvPr/>
        </p:nvCxnSpPr>
        <p:spPr>
          <a:xfrm>
            <a:off x="585216" y="5806440"/>
            <a:ext cx="11021263" cy="914"/>
          </a:xfrm>
          <a:prstGeom prst="line">
            <a:avLst/>
          </a:prstGeom>
          <a:ln w="12700" cap="rnd">
            <a:solidFill>
              <a:srgbClr val="EADFD2"/>
            </a:solidFill>
            <a:headEnd type="none"/>
            <a:tailEnd type="none"/>
          </a:ln>
        </p:spPr>
      </p:cxnSp>
      <p:sp>
        <p:nvSpPr>
          <p:cNvPr id="30" name="TextBox"/>
          <p:cNvSpPr txBox="1"/>
          <p:nvPr/>
        </p:nvSpPr>
        <p:spPr>
          <a:xfrm>
            <a:off x="585216" y="5943600"/>
            <a:ext cx="11021263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ctr"/>
            <a:r>
              <a:rPr lang="ja-JP" sz="1500" b="1" dirty="0">
                <a:solidFill>
                  <a:srgbClr val="FF6A00"/>
                </a:solidFill>
                <a:latin typeface="Noto Sans JP"/>
                <a:ea typeface="Noto Sans JP"/>
                <a:cs typeface="Noto Sans JP"/>
              </a:rPr>
              <a:t>高卒採用を広めるのではなく、18歳の選択肢を広げる。</a:t>
            </a:r>
          </a:p>
        </p:txBody>
      </p:sp>
      <p:cxnSp>
        <p:nvCxnSpPr>
          <p:cNvPr id="31" name="Line"/>
          <p:cNvCxnSpPr/>
          <p:nvPr/>
        </p:nvCxnSpPr>
        <p:spPr>
          <a:xfrm>
            <a:off x="585216" y="6455664"/>
            <a:ext cx="11021263" cy="914"/>
          </a:xfrm>
          <a:prstGeom prst="line">
            <a:avLst/>
          </a:prstGeom>
          <a:ln w="12700" cap="rnd">
            <a:solidFill>
              <a:srgbClr val="FF6A00"/>
            </a:solidFill>
            <a:headEnd type="none"/>
            <a:tailEnd type="none"/>
          </a:ln>
        </p:spPr>
      </p:cxnSp>
      <p:sp>
        <p:nvSpPr>
          <p:cNvPr id="32" name="TextBox"/>
          <p:cNvSpPr txBox="1"/>
          <p:nvPr/>
        </p:nvSpPr>
        <p:spPr>
          <a:xfrm>
            <a:off x="585216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l"/>
            <a:r>
              <a:rPr lang="ja-JP" sz="850" spc="1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JINJIB ― 高卒採用・進路選択マーケティング戦略提案</a:t>
            </a:r>
          </a:p>
        </p:txBody>
      </p:sp>
      <p:sp>
        <p:nvSpPr>
          <p:cNvPr id="33" name="TextBox"/>
          <p:cNvSpPr txBox="1"/>
          <p:nvPr/>
        </p:nvSpPr>
        <p:spPr>
          <a:xfrm>
            <a:off x="10326319" y="6473952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27432" bIns="27432"/>
          <a:lstStyle/>
          <a:p>
            <a:pPr algn="r"/>
            <a:r>
              <a:rPr lang="ja-JP" sz="1300" b="1" spc="20" dirty="0">
                <a:solidFill>
                  <a:srgbClr val="FF6A00"/>
                </a:solidFill>
                <a:latin typeface="Montserrat"/>
                <a:ea typeface="Montserrat"/>
                <a:cs typeface="Montserrat"/>
              </a:rPr>
              <a:t>22</a:t>
            </a:r>
            <a:r>
              <a:rPr lang="ja-JP" sz="1000" dirty="0">
                <a:solidFill>
                  <a:srgbClr val="1A1A1A"/>
                </a:solidFill>
                <a:latin typeface="Montserrat"/>
                <a:ea typeface="Montserrat"/>
                <a:cs typeface="Montserrat"/>
              </a:rPr>
              <a:t> / 22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Jinjib Z-Gen">
  <a:themeElements>
    <a:clrScheme name="Jinjib">
      <a:dk1>
        <a:srgbClr val="1A1A1A"/>
      </a:dk1>
      <a:lt1>
        <a:srgbClr val="FFFFFF"/>
      </a:lt1>
      <a:dk2>
        <a:srgbClr val="1A1A1A"/>
      </a:dk2>
      <a:lt2>
        <a:srgbClr val="FFF7F0"/>
      </a:lt2>
      <a:accent1>
        <a:srgbClr val="FF6A00"/>
      </a:accent1>
      <a:accent2>
        <a:srgbClr val="00C2D1"/>
      </a:accent2>
      <a:accent3>
        <a:srgbClr val="FFCD00"/>
      </a:accent3>
      <a:accent4>
        <a:srgbClr val="FF3D8A"/>
      </a:accent4>
      <a:accent5>
        <a:srgbClr val="8A2BE2"/>
      </a:accent5>
      <a:accent6>
        <a:srgbClr val="9CD32A"/>
      </a:accent6>
      <a:hlink>
        <a:srgbClr val="FF6A00"/>
      </a:hlink>
      <a:folHlink>
        <a:srgbClr val="8A2BE2"/>
      </a:folHlink>
    </a:clrScheme>
    <a:fontScheme name="Jinjib">
      <a:majorFont>
        <a:latin typeface="Montserrat"/>
        <a:ea typeface="Noto Sans JP"/>
        <a:cs typeface="Noto Sans JP"/>
      </a:majorFont>
      <a:minorFont>
        <a:latin typeface="Noto Sans JP"/>
        <a:ea typeface="Noto Sans JP"/>
        <a:cs typeface="Noto Sans JP"/>
      </a:minorFont>
    </a:fontScheme>
    <a:fmtScheme name="Jinji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</a:ln>
        <a:ln w="19050">
          <a:solidFill>
            <a:schemeClr val="phClr"/>
          </a:solidFill>
        </a:ln>
        <a:ln w="254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Custom OOXML Builder</Application>
  <PresentationFormat>Widescreen</PresentationFormat>
  <Slides>22</Slides>
  <Company>Strategy Team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ジンジブ 高卒採用・進路選択マーケティング戦略提案</dc:title>
  <dc:creator>Strategy Team</dc:creator>
  <cp:lastModifiedBy>Strategy Team</cp:lastModifiedBy>
  <dcterms:created xsi:type="dcterms:W3CDTF">2026-08-24T00:00:00Z</dcterms:created>
  <dcterms:modified xsi:type="dcterms:W3CDTF">2026-08-24T00:00:00Z</dcterms:modified>
</cp:coreProperties>
</file>